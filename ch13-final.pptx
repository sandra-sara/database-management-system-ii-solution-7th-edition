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53"/>
  </p:notesMasterIdLst>
  <p:handoutMasterIdLst>
    <p:handoutMasterId r:id="rId54"/>
  </p:handoutMasterIdLst>
  <p:sldIdLst>
    <p:sldId id="335" r:id="rId2"/>
    <p:sldId id="282" r:id="rId3"/>
    <p:sldId id="436" r:id="rId4"/>
    <p:sldId id="434" r:id="rId5"/>
    <p:sldId id="437" r:id="rId6"/>
    <p:sldId id="438" r:id="rId7"/>
    <p:sldId id="422" r:id="rId8"/>
    <p:sldId id="439" r:id="rId9"/>
    <p:sldId id="440" r:id="rId10"/>
    <p:sldId id="283" r:id="rId11"/>
    <p:sldId id="441" r:id="rId12"/>
    <p:sldId id="423" r:id="rId13"/>
    <p:sldId id="442" r:id="rId14"/>
    <p:sldId id="424" r:id="rId15"/>
    <p:sldId id="443" r:id="rId16"/>
    <p:sldId id="290" r:id="rId17"/>
    <p:sldId id="435" r:id="rId18"/>
    <p:sldId id="444" r:id="rId19"/>
    <p:sldId id="291" r:id="rId20"/>
    <p:sldId id="445" r:id="rId21"/>
    <p:sldId id="425" r:id="rId22"/>
    <p:sldId id="295" r:id="rId23"/>
    <p:sldId id="426" r:id="rId24"/>
    <p:sldId id="446" r:id="rId25"/>
    <p:sldId id="447" r:id="rId26"/>
    <p:sldId id="297" r:id="rId27"/>
    <p:sldId id="296" r:id="rId28"/>
    <p:sldId id="448" r:id="rId29"/>
    <p:sldId id="449" r:id="rId30"/>
    <p:sldId id="396" r:id="rId31"/>
    <p:sldId id="407" r:id="rId32"/>
    <p:sldId id="450" r:id="rId33"/>
    <p:sldId id="427" r:id="rId34"/>
    <p:sldId id="300" r:id="rId35"/>
    <p:sldId id="408" r:id="rId36"/>
    <p:sldId id="432" r:id="rId37"/>
    <p:sldId id="400" r:id="rId38"/>
    <p:sldId id="428" r:id="rId39"/>
    <p:sldId id="401" r:id="rId40"/>
    <p:sldId id="451" r:id="rId41"/>
    <p:sldId id="452" r:id="rId42"/>
    <p:sldId id="402" r:id="rId43"/>
    <p:sldId id="453" r:id="rId44"/>
    <p:sldId id="411" r:id="rId45"/>
    <p:sldId id="454" r:id="rId46"/>
    <p:sldId id="455" r:id="rId47"/>
    <p:sldId id="433" r:id="rId48"/>
    <p:sldId id="420" r:id="rId49"/>
    <p:sldId id="417" r:id="rId50"/>
    <p:sldId id="429" r:id="rId51"/>
    <p:sldId id="430" r:id="rId52"/>
  </p:sldIdLst>
  <p:sldSz cx="9144000" cy="6858000" type="screen4x3"/>
  <p:notesSz cx="7077075" cy="9363075"/>
  <p:custShowLst>
    <p:custShow name="Custom Show 1" id="0">
      <p:sldLst>
        <p:sld r:id="rId2"/>
        <p:sld r:id="rId3"/>
        <p:sld r:id="rId11"/>
        <p:sld r:id="rId17"/>
        <p:sld r:id="rId20"/>
        <p:sld r:id="rId23"/>
        <p:sld r:id="rId27"/>
        <p:sld r:id="rId28"/>
        <p:sld r:id="rId31"/>
        <p:sld r:id="rId32"/>
        <p:sld r:id="rId35"/>
        <p:sld r:id="rId36"/>
        <p:sld r:id="rId38"/>
        <p:sld r:id="rId40"/>
        <p:sld r:id="rId43"/>
      </p:sldLst>
    </p:custShow>
  </p:custShowLst>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07">
          <p15:clr>
            <a:srgbClr val="A4A3A4"/>
          </p15:clr>
        </p15:guide>
        <p15:guide id="2" pos="5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3" autoAdjust="0"/>
    <p:restoredTop sz="94660"/>
  </p:normalViewPr>
  <p:slideViewPr>
    <p:cSldViewPr snapToGrid="0">
      <p:cViewPr varScale="1">
        <p:scale>
          <a:sx n="87" d="100"/>
          <a:sy n="87" d="100"/>
        </p:scale>
        <p:origin x="1224" y="53"/>
      </p:cViewPr>
      <p:guideLst>
        <p:guide orient="horz" pos="707"/>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05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id="{C6EF5354-BFFB-44DF-8FA7-1A088153BD87}"/>
              </a:ext>
            </a:extLst>
          </p:cNvPr>
          <p:cNvSpPr>
            <a:spLocks noGrp="1" noChangeArrowheads="1"/>
          </p:cNvSpPr>
          <p:nvPr>
            <p:ph type="hdr" sz="quarter"/>
          </p:nvPr>
        </p:nvSpPr>
        <p:spPr bwMode="auto">
          <a:xfrm>
            <a:off x="1" y="0"/>
            <a:ext cx="3066518" cy="467513"/>
          </a:xfrm>
          <a:prstGeom prst="rect">
            <a:avLst/>
          </a:prstGeom>
          <a:noFill/>
          <a:ln w="9525">
            <a:noFill/>
            <a:miter lim="800000"/>
            <a:headEnd/>
            <a:tailEnd/>
          </a:ln>
          <a:effectLst/>
        </p:spPr>
        <p:txBody>
          <a:bodyPr vert="horz" wrap="square" lIns="93929" tIns="46965" rIns="93929" bIns="46965" numCol="1" anchor="t" anchorCtr="0" compatLnSpc="1">
            <a:prstTxWarp prst="textNoShape">
              <a:avLst/>
            </a:prstTxWarp>
          </a:bodyPr>
          <a:lstStyle>
            <a:lvl1pPr defTabSz="939299">
              <a:defRPr sz="1300">
                <a:latin typeface="Helvetica" charset="0"/>
                <a:ea typeface="+mn-ea"/>
                <a:cs typeface="+mn-cs"/>
              </a:defRPr>
            </a:lvl1pPr>
          </a:lstStyle>
          <a:p>
            <a:pPr>
              <a:defRPr/>
            </a:pPr>
            <a:endParaRPr lang="en-US"/>
          </a:p>
        </p:txBody>
      </p:sp>
      <p:sp>
        <p:nvSpPr>
          <p:cNvPr id="267267" name="Rectangle 3">
            <a:extLst>
              <a:ext uri="{FF2B5EF4-FFF2-40B4-BE49-F238E27FC236}">
                <a16:creationId xmlns:a16="http://schemas.microsoft.com/office/drawing/2014/main" id="{5BBF6CF9-ADFE-4F6E-89A0-8CB582D8FFC5}"/>
              </a:ext>
            </a:extLst>
          </p:cNvPr>
          <p:cNvSpPr>
            <a:spLocks noGrp="1" noChangeArrowheads="1"/>
          </p:cNvSpPr>
          <p:nvPr>
            <p:ph type="dt" sz="quarter" idx="1"/>
          </p:nvPr>
        </p:nvSpPr>
        <p:spPr bwMode="auto">
          <a:xfrm>
            <a:off x="4010557" y="0"/>
            <a:ext cx="3066518" cy="467513"/>
          </a:xfrm>
          <a:prstGeom prst="rect">
            <a:avLst/>
          </a:prstGeom>
          <a:noFill/>
          <a:ln w="9525">
            <a:noFill/>
            <a:miter lim="800000"/>
            <a:headEnd/>
            <a:tailEnd/>
          </a:ln>
          <a:effectLst/>
        </p:spPr>
        <p:txBody>
          <a:bodyPr vert="horz" wrap="square" lIns="93929" tIns="46965" rIns="93929" bIns="46965" numCol="1" anchor="t" anchorCtr="0" compatLnSpc="1">
            <a:prstTxWarp prst="textNoShape">
              <a:avLst/>
            </a:prstTxWarp>
          </a:bodyPr>
          <a:lstStyle>
            <a:lvl1pPr algn="r" defTabSz="939299">
              <a:defRPr sz="1300">
                <a:latin typeface="Helvetica" charset="0"/>
                <a:ea typeface="+mn-ea"/>
                <a:cs typeface="+mn-cs"/>
              </a:defRPr>
            </a:lvl1pPr>
          </a:lstStyle>
          <a:p>
            <a:pPr>
              <a:defRPr/>
            </a:pPr>
            <a:endParaRPr lang="en-US"/>
          </a:p>
        </p:txBody>
      </p:sp>
      <p:sp>
        <p:nvSpPr>
          <p:cNvPr id="267268" name="Rectangle 4">
            <a:extLst>
              <a:ext uri="{FF2B5EF4-FFF2-40B4-BE49-F238E27FC236}">
                <a16:creationId xmlns:a16="http://schemas.microsoft.com/office/drawing/2014/main" id="{8C120FC7-7BCE-4696-BB5D-C087861E4B4E}"/>
              </a:ext>
            </a:extLst>
          </p:cNvPr>
          <p:cNvSpPr>
            <a:spLocks noGrp="1" noChangeArrowheads="1"/>
          </p:cNvSpPr>
          <p:nvPr>
            <p:ph type="ftr" sz="quarter" idx="2"/>
          </p:nvPr>
        </p:nvSpPr>
        <p:spPr bwMode="auto">
          <a:xfrm>
            <a:off x="1" y="8895562"/>
            <a:ext cx="3066518" cy="467513"/>
          </a:xfrm>
          <a:prstGeom prst="rect">
            <a:avLst/>
          </a:prstGeom>
          <a:noFill/>
          <a:ln w="9525">
            <a:noFill/>
            <a:miter lim="800000"/>
            <a:headEnd/>
            <a:tailEnd/>
          </a:ln>
          <a:effectLst/>
        </p:spPr>
        <p:txBody>
          <a:bodyPr vert="horz" wrap="square" lIns="93929" tIns="46965" rIns="93929" bIns="46965" numCol="1" anchor="b" anchorCtr="0" compatLnSpc="1">
            <a:prstTxWarp prst="textNoShape">
              <a:avLst/>
            </a:prstTxWarp>
          </a:bodyPr>
          <a:lstStyle>
            <a:lvl1pPr defTabSz="939299">
              <a:defRPr sz="1300">
                <a:latin typeface="Helvetica" charset="0"/>
                <a:ea typeface="+mn-ea"/>
                <a:cs typeface="+mn-cs"/>
              </a:defRPr>
            </a:lvl1pPr>
          </a:lstStyle>
          <a:p>
            <a:pPr>
              <a:defRPr/>
            </a:pPr>
            <a:endParaRPr lang="en-US"/>
          </a:p>
        </p:txBody>
      </p:sp>
      <p:sp>
        <p:nvSpPr>
          <p:cNvPr id="267269" name="Rectangle 5">
            <a:extLst>
              <a:ext uri="{FF2B5EF4-FFF2-40B4-BE49-F238E27FC236}">
                <a16:creationId xmlns:a16="http://schemas.microsoft.com/office/drawing/2014/main" id="{6735A123-7D3E-455E-AB82-1C3749BB052A}"/>
              </a:ext>
            </a:extLst>
          </p:cNvPr>
          <p:cNvSpPr>
            <a:spLocks noGrp="1" noChangeArrowheads="1"/>
          </p:cNvSpPr>
          <p:nvPr>
            <p:ph type="sldNum" sz="quarter" idx="3"/>
          </p:nvPr>
        </p:nvSpPr>
        <p:spPr bwMode="auto">
          <a:xfrm>
            <a:off x="4010557" y="8895562"/>
            <a:ext cx="3066518" cy="467513"/>
          </a:xfrm>
          <a:prstGeom prst="rect">
            <a:avLst/>
          </a:prstGeom>
          <a:noFill/>
          <a:ln w="9525">
            <a:noFill/>
            <a:miter lim="800000"/>
            <a:headEnd/>
            <a:tailEnd/>
          </a:ln>
          <a:effectLst/>
        </p:spPr>
        <p:txBody>
          <a:bodyPr vert="horz" wrap="square" lIns="93929" tIns="46965" rIns="93929" bIns="46965" numCol="1" anchor="b" anchorCtr="0" compatLnSpc="1">
            <a:prstTxWarp prst="textNoShape">
              <a:avLst/>
            </a:prstTxWarp>
          </a:bodyPr>
          <a:lstStyle>
            <a:lvl1pPr algn="r" defTabSz="939299">
              <a:defRPr sz="1300"/>
            </a:lvl1pPr>
          </a:lstStyle>
          <a:p>
            <a:pPr>
              <a:defRPr/>
            </a:pPr>
            <a:fld id="{2DD85D57-D072-497C-B6E5-F4EE62B9FB39}"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2E8AF117-EF14-4BF3-AB7D-D75C4F934CCD}"/>
              </a:ext>
            </a:extLst>
          </p:cNvPr>
          <p:cNvSpPr>
            <a:spLocks noGrp="1" noChangeArrowheads="1"/>
          </p:cNvSpPr>
          <p:nvPr>
            <p:ph type="hdr" sz="quarter"/>
          </p:nvPr>
        </p:nvSpPr>
        <p:spPr bwMode="auto">
          <a:xfrm>
            <a:off x="1" y="0"/>
            <a:ext cx="3066518" cy="467513"/>
          </a:xfrm>
          <a:prstGeom prst="rect">
            <a:avLst/>
          </a:prstGeom>
          <a:noFill/>
          <a:ln w="9525">
            <a:noFill/>
            <a:miter lim="800000"/>
            <a:headEnd/>
            <a:tailEnd/>
          </a:ln>
          <a:effectLst/>
        </p:spPr>
        <p:txBody>
          <a:bodyPr vert="horz" wrap="none" lIns="93929" tIns="46965" rIns="93929" bIns="46965" numCol="1" anchor="t" anchorCtr="0" compatLnSpc="1">
            <a:prstTxWarp prst="textNoShape">
              <a:avLst/>
            </a:prstTxWarp>
          </a:bodyPr>
          <a:lstStyle>
            <a:lvl1pPr defTabSz="939299">
              <a:defRPr sz="1300">
                <a:latin typeface="Helvetica" charset="0"/>
                <a:ea typeface="+mn-ea"/>
                <a:cs typeface="+mn-cs"/>
              </a:defRPr>
            </a:lvl1pPr>
          </a:lstStyle>
          <a:p>
            <a:pPr>
              <a:defRPr/>
            </a:pPr>
            <a:endParaRPr lang="en-US"/>
          </a:p>
        </p:txBody>
      </p:sp>
      <p:sp>
        <p:nvSpPr>
          <p:cNvPr id="240643" name="Rectangle 3">
            <a:extLst>
              <a:ext uri="{FF2B5EF4-FFF2-40B4-BE49-F238E27FC236}">
                <a16:creationId xmlns:a16="http://schemas.microsoft.com/office/drawing/2014/main" id="{D7D2DA5C-BED3-45D1-AFD2-94AF29863ABC}"/>
              </a:ext>
            </a:extLst>
          </p:cNvPr>
          <p:cNvSpPr>
            <a:spLocks noGrp="1" noChangeArrowheads="1"/>
          </p:cNvSpPr>
          <p:nvPr>
            <p:ph type="dt" idx="1"/>
          </p:nvPr>
        </p:nvSpPr>
        <p:spPr bwMode="auto">
          <a:xfrm>
            <a:off x="4010557" y="0"/>
            <a:ext cx="3066518" cy="467513"/>
          </a:xfrm>
          <a:prstGeom prst="rect">
            <a:avLst/>
          </a:prstGeom>
          <a:noFill/>
          <a:ln w="9525">
            <a:noFill/>
            <a:miter lim="800000"/>
            <a:headEnd/>
            <a:tailEnd/>
          </a:ln>
          <a:effectLst/>
        </p:spPr>
        <p:txBody>
          <a:bodyPr vert="horz" wrap="none" lIns="93929" tIns="46965" rIns="93929" bIns="46965" numCol="1" anchor="t" anchorCtr="0" compatLnSpc="1">
            <a:prstTxWarp prst="textNoShape">
              <a:avLst/>
            </a:prstTxWarp>
          </a:bodyPr>
          <a:lstStyle>
            <a:lvl1pPr algn="r" defTabSz="939299">
              <a:defRPr sz="1300">
                <a:latin typeface="Helvetica" charset="0"/>
                <a:ea typeface="+mn-ea"/>
                <a:cs typeface="+mn-cs"/>
              </a:defRPr>
            </a:lvl1pPr>
          </a:lstStyle>
          <a:p>
            <a:pPr>
              <a:defRPr/>
            </a:pPr>
            <a:endParaRPr lang="en-US"/>
          </a:p>
        </p:txBody>
      </p:sp>
      <p:sp>
        <p:nvSpPr>
          <p:cNvPr id="3076" name="Rectangle 4">
            <a:extLst>
              <a:ext uri="{FF2B5EF4-FFF2-40B4-BE49-F238E27FC236}">
                <a16:creationId xmlns:a16="http://schemas.microsoft.com/office/drawing/2014/main" id="{A3A29B64-D91B-4C81-9763-F804CDF4A87F}"/>
              </a:ext>
            </a:extLst>
          </p:cNvPr>
          <p:cNvSpPr>
            <a:spLocks noGrp="1" noRot="1" noChangeAspect="1" noChangeArrowheads="1" noTextEdit="1"/>
          </p:cNvSpPr>
          <p:nvPr>
            <p:ph type="sldImg" idx="2"/>
          </p:nvPr>
        </p:nvSpPr>
        <p:spPr bwMode="auto">
          <a:xfrm>
            <a:off x="1196975" y="703263"/>
            <a:ext cx="4683125" cy="35115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0645" name="Rectangle 5">
            <a:extLst>
              <a:ext uri="{FF2B5EF4-FFF2-40B4-BE49-F238E27FC236}">
                <a16:creationId xmlns:a16="http://schemas.microsoft.com/office/drawing/2014/main" id="{D73F14C5-05F8-4300-9D01-F3633C854740}"/>
              </a:ext>
            </a:extLst>
          </p:cNvPr>
          <p:cNvSpPr>
            <a:spLocks noGrp="1" noChangeArrowheads="1"/>
          </p:cNvSpPr>
          <p:nvPr>
            <p:ph type="body" sz="quarter" idx="3"/>
          </p:nvPr>
        </p:nvSpPr>
        <p:spPr bwMode="auto">
          <a:xfrm>
            <a:off x="942434" y="4447781"/>
            <a:ext cx="5192210" cy="4212424"/>
          </a:xfrm>
          <a:prstGeom prst="rect">
            <a:avLst/>
          </a:prstGeom>
          <a:noFill/>
          <a:ln w="9525">
            <a:noFill/>
            <a:miter lim="800000"/>
            <a:headEnd/>
            <a:tailEnd/>
          </a:ln>
          <a:effectLst/>
        </p:spPr>
        <p:txBody>
          <a:bodyPr vert="horz" wrap="none" lIns="93929" tIns="46965" rIns="93929" bIns="4696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0646" name="Rectangle 6">
            <a:extLst>
              <a:ext uri="{FF2B5EF4-FFF2-40B4-BE49-F238E27FC236}">
                <a16:creationId xmlns:a16="http://schemas.microsoft.com/office/drawing/2014/main" id="{BCB6CAD9-A006-4455-8054-9CACB290288C}"/>
              </a:ext>
            </a:extLst>
          </p:cNvPr>
          <p:cNvSpPr>
            <a:spLocks noGrp="1" noChangeArrowheads="1"/>
          </p:cNvSpPr>
          <p:nvPr>
            <p:ph type="ftr" sz="quarter" idx="4"/>
          </p:nvPr>
        </p:nvSpPr>
        <p:spPr bwMode="auto">
          <a:xfrm>
            <a:off x="1" y="8895562"/>
            <a:ext cx="3066518" cy="467513"/>
          </a:xfrm>
          <a:prstGeom prst="rect">
            <a:avLst/>
          </a:prstGeom>
          <a:noFill/>
          <a:ln w="9525">
            <a:noFill/>
            <a:miter lim="800000"/>
            <a:headEnd/>
            <a:tailEnd/>
          </a:ln>
          <a:effectLst/>
        </p:spPr>
        <p:txBody>
          <a:bodyPr vert="horz" wrap="none" lIns="93929" tIns="46965" rIns="93929" bIns="46965" numCol="1" anchor="b" anchorCtr="0" compatLnSpc="1">
            <a:prstTxWarp prst="textNoShape">
              <a:avLst/>
            </a:prstTxWarp>
          </a:bodyPr>
          <a:lstStyle>
            <a:lvl1pPr defTabSz="939299">
              <a:defRPr sz="1300">
                <a:latin typeface="Helvetica" charset="0"/>
                <a:ea typeface="+mn-ea"/>
                <a:cs typeface="+mn-cs"/>
              </a:defRPr>
            </a:lvl1pPr>
          </a:lstStyle>
          <a:p>
            <a:pPr>
              <a:defRPr/>
            </a:pPr>
            <a:endParaRPr lang="en-US"/>
          </a:p>
        </p:txBody>
      </p:sp>
      <p:sp>
        <p:nvSpPr>
          <p:cNvPr id="240647" name="Rectangle 7">
            <a:extLst>
              <a:ext uri="{FF2B5EF4-FFF2-40B4-BE49-F238E27FC236}">
                <a16:creationId xmlns:a16="http://schemas.microsoft.com/office/drawing/2014/main" id="{63060AD7-0C3D-477B-BD60-55C8EBDB9451}"/>
              </a:ext>
            </a:extLst>
          </p:cNvPr>
          <p:cNvSpPr>
            <a:spLocks noGrp="1" noChangeArrowheads="1"/>
          </p:cNvSpPr>
          <p:nvPr>
            <p:ph type="sldNum" sz="quarter" idx="5"/>
          </p:nvPr>
        </p:nvSpPr>
        <p:spPr bwMode="auto">
          <a:xfrm>
            <a:off x="4010557" y="8895562"/>
            <a:ext cx="3066518" cy="467513"/>
          </a:xfrm>
          <a:prstGeom prst="rect">
            <a:avLst/>
          </a:prstGeom>
          <a:noFill/>
          <a:ln w="9525">
            <a:noFill/>
            <a:miter lim="800000"/>
            <a:headEnd/>
            <a:tailEnd/>
          </a:ln>
          <a:effectLst/>
        </p:spPr>
        <p:txBody>
          <a:bodyPr vert="horz" wrap="none" lIns="93929" tIns="46965" rIns="93929" bIns="46965" numCol="1" anchor="b" anchorCtr="0" compatLnSpc="1">
            <a:prstTxWarp prst="textNoShape">
              <a:avLst/>
            </a:prstTxWarp>
          </a:bodyPr>
          <a:lstStyle>
            <a:lvl1pPr algn="r" defTabSz="939299">
              <a:defRPr sz="1300"/>
            </a:lvl1pPr>
          </a:lstStyle>
          <a:p>
            <a:pPr>
              <a:defRPr/>
            </a:pPr>
            <a:fld id="{2142A56F-3E85-4E7D-B4E7-9E6403CDE2F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5F24E86D-6723-44FE-8711-F8670374FF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8FE9A57-6A9E-40FA-9838-E464D38B3A34}" type="slidenum">
              <a:rPr lang="en-US" altLang="en-US" sz="1300"/>
              <a:pPr/>
              <a:t>1</a:t>
            </a:fld>
            <a:endParaRPr lang="en-US" altLang="en-US" sz="1300"/>
          </a:p>
        </p:txBody>
      </p:sp>
      <p:sp>
        <p:nvSpPr>
          <p:cNvPr id="6147" name="Rectangle 2">
            <a:extLst>
              <a:ext uri="{FF2B5EF4-FFF2-40B4-BE49-F238E27FC236}">
                <a16:creationId xmlns:a16="http://schemas.microsoft.com/office/drawing/2014/main" id="{E8700275-52A8-4345-9228-079FD65CB8FD}"/>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5152C2E6-B2E3-4412-80F6-E82683846F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72614CE6-FFF4-4034-B168-49EFB3E04C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BD8D42BA-40E3-4895-A9C8-A200B308F539}" type="slidenum">
              <a:rPr lang="en-US" altLang="en-US" sz="1300"/>
              <a:pPr/>
              <a:t>2</a:t>
            </a:fld>
            <a:endParaRPr lang="en-US" altLang="en-US" sz="1300"/>
          </a:p>
        </p:txBody>
      </p:sp>
      <p:sp>
        <p:nvSpPr>
          <p:cNvPr id="78851" name="Rectangle 2">
            <a:extLst>
              <a:ext uri="{FF2B5EF4-FFF2-40B4-BE49-F238E27FC236}">
                <a16:creationId xmlns:a16="http://schemas.microsoft.com/office/drawing/2014/main" id="{0B5CF2B0-262A-45F7-9707-BE0E50722C71}"/>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4BDF3390-60A6-438E-A19E-B7A48E1FE2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72614CE6-FFF4-4034-B168-49EFB3E04C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BD8D42BA-40E3-4895-A9C8-A200B308F539}" type="slidenum">
              <a:rPr lang="en-US" altLang="en-US" sz="1300"/>
              <a:pPr/>
              <a:t>4</a:t>
            </a:fld>
            <a:endParaRPr lang="en-US" altLang="en-US" sz="1300"/>
          </a:p>
        </p:txBody>
      </p:sp>
      <p:sp>
        <p:nvSpPr>
          <p:cNvPr id="78851" name="Rectangle 2">
            <a:extLst>
              <a:ext uri="{FF2B5EF4-FFF2-40B4-BE49-F238E27FC236}">
                <a16:creationId xmlns:a16="http://schemas.microsoft.com/office/drawing/2014/main" id="{0B5CF2B0-262A-45F7-9707-BE0E50722C71}"/>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4BDF3390-60A6-438E-A19E-B7A48E1FE2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059548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545CFAD2-86CA-43EA-9649-01FE1818A7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A9637EE-2530-47A3-867C-4DFDF031D601}" type="slidenum">
              <a:rPr lang="en-US" altLang="en-US" sz="1300"/>
              <a:pPr/>
              <a:t>7</a:t>
            </a:fld>
            <a:endParaRPr lang="en-US" altLang="en-US" sz="1300"/>
          </a:p>
        </p:txBody>
      </p:sp>
      <p:sp>
        <p:nvSpPr>
          <p:cNvPr id="80899" name="Rectangle 2">
            <a:extLst>
              <a:ext uri="{FF2B5EF4-FFF2-40B4-BE49-F238E27FC236}">
                <a16:creationId xmlns:a16="http://schemas.microsoft.com/office/drawing/2014/main" id="{B81DCE19-5052-4EC6-B3BE-E0CF314AD151}"/>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6D5BE292-0595-4EAC-A7BB-D24D85864F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64132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545CFAD2-86CA-43EA-9649-01FE1818A7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A9637EE-2530-47A3-867C-4DFDF031D601}" type="slidenum">
              <a:rPr lang="en-US" altLang="en-US" sz="1300"/>
              <a:pPr/>
              <a:t>10</a:t>
            </a:fld>
            <a:endParaRPr lang="en-US" altLang="en-US" sz="1300"/>
          </a:p>
        </p:txBody>
      </p:sp>
      <p:sp>
        <p:nvSpPr>
          <p:cNvPr id="80899" name="Rectangle 2">
            <a:extLst>
              <a:ext uri="{FF2B5EF4-FFF2-40B4-BE49-F238E27FC236}">
                <a16:creationId xmlns:a16="http://schemas.microsoft.com/office/drawing/2014/main" id="{B81DCE19-5052-4EC6-B3BE-E0CF314AD151}"/>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6D5BE292-0595-4EAC-A7BB-D24D85864F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545CFAD2-86CA-43EA-9649-01FE1818A7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A9637EE-2530-47A3-867C-4DFDF031D601}" type="slidenum">
              <a:rPr lang="en-US" altLang="en-US" sz="1300"/>
              <a:pPr/>
              <a:t>12</a:t>
            </a:fld>
            <a:endParaRPr lang="en-US" altLang="en-US" sz="1300"/>
          </a:p>
        </p:txBody>
      </p:sp>
      <p:sp>
        <p:nvSpPr>
          <p:cNvPr id="80899" name="Rectangle 2">
            <a:extLst>
              <a:ext uri="{FF2B5EF4-FFF2-40B4-BE49-F238E27FC236}">
                <a16:creationId xmlns:a16="http://schemas.microsoft.com/office/drawing/2014/main" id="{B81DCE19-5052-4EC6-B3BE-E0CF314AD151}"/>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6D5BE292-0595-4EAC-A7BB-D24D85864F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503533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545CFAD2-86CA-43EA-9649-01FE1818A7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A9637EE-2530-47A3-867C-4DFDF031D601}" type="slidenum">
              <a:rPr lang="en-US" altLang="en-US" sz="1300"/>
              <a:pPr/>
              <a:t>14</a:t>
            </a:fld>
            <a:endParaRPr lang="en-US" altLang="en-US" sz="1300"/>
          </a:p>
        </p:txBody>
      </p:sp>
      <p:sp>
        <p:nvSpPr>
          <p:cNvPr id="80899" name="Rectangle 2">
            <a:extLst>
              <a:ext uri="{FF2B5EF4-FFF2-40B4-BE49-F238E27FC236}">
                <a16:creationId xmlns:a16="http://schemas.microsoft.com/office/drawing/2014/main" id="{B81DCE19-5052-4EC6-B3BE-E0CF314AD151}"/>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6D5BE292-0595-4EAC-A7BB-D24D85864F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87410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C7CAB5FB-4499-4A78-B8E0-70F018F3D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69DE5A9-540A-4836-B1A6-064DE652E547}" type="slidenum">
              <a:rPr lang="en-US" altLang="en-US" sz="1300"/>
              <a:pPr/>
              <a:t>16</a:t>
            </a:fld>
            <a:endParaRPr lang="en-US" altLang="en-US" sz="1300"/>
          </a:p>
        </p:txBody>
      </p:sp>
      <p:sp>
        <p:nvSpPr>
          <p:cNvPr id="89091" name="Rectangle 2">
            <a:extLst>
              <a:ext uri="{FF2B5EF4-FFF2-40B4-BE49-F238E27FC236}">
                <a16:creationId xmlns:a16="http://schemas.microsoft.com/office/drawing/2014/main" id="{D710D072-F1C5-49CD-9CD9-EB9F3EED2616}"/>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E0910396-3535-4141-AC82-8ED6F6632F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C7CAB5FB-4499-4A78-B8E0-70F018F3D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69DE5A9-540A-4836-B1A6-064DE652E547}" type="slidenum">
              <a:rPr lang="en-US" altLang="en-US" sz="1300"/>
              <a:pPr/>
              <a:t>17</a:t>
            </a:fld>
            <a:endParaRPr lang="en-US" altLang="en-US" sz="1300"/>
          </a:p>
        </p:txBody>
      </p:sp>
      <p:sp>
        <p:nvSpPr>
          <p:cNvPr id="89091" name="Rectangle 2">
            <a:extLst>
              <a:ext uri="{FF2B5EF4-FFF2-40B4-BE49-F238E27FC236}">
                <a16:creationId xmlns:a16="http://schemas.microsoft.com/office/drawing/2014/main" id="{D710D072-F1C5-49CD-9CD9-EB9F3EED2616}"/>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E0910396-3535-4141-AC82-8ED6F6632F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107310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271D2120-9A2B-47C4-A534-B51D7FD3C7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74197C76-8DA6-4441-8418-E1CA93B2A4A8}" type="slidenum">
              <a:rPr lang="en-US" altLang="en-US" sz="1300"/>
              <a:pPr/>
              <a:t>19</a:t>
            </a:fld>
            <a:endParaRPr lang="en-US" altLang="en-US" sz="1300"/>
          </a:p>
        </p:txBody>
      </p:sp>
      <p:sp>
        <p:nvSpPr>
          <p:cNvPr id="91139" name="Rectangle 2">
            <a:extLst>
              <a:ext uri="{FF2B5EF4-FFF2-40B4-BE49-F238E27FC236}">
                <a16:creationId xmlns:a16="http://schemas.microsoft.com/office/drawing/2014/main" id="{76320175-7BF1-4C28-8118-24744CF33C22}"/>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518E7B96-3BC0-4BA0-8F4B-53B5173025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8E40BEF0-9415-412D-AF21-72BA2D18C4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2E65637-2214-4FA6-A9CC-A7014009F3D6}" type="slidenum">
              <a:rPr lang="en-US" altLang="en-US" sz="1300"/>
              <a:pPr/>
              <a:t>22</a:t>
            </a:fld>
            <a:endParaRPr lang="en-US" altLang="en-US" sz="1300"/>
          </a:p>
        </p:txBody>
      </p:sp>
      <p:sp>
        <p:nvSpPr>
          <p:cNvPr id="93187" name="Rectangle 2">
            <a:extLst>
              <a:ext uri="{FF2B5EF4-FFF2-40B4-BE49-F238E27FC236}">
                <a16:creationId xmlns:a16="http://schemas.microsoft.com/office/drawing/2014/main" id="{F6ACB707-CCC2-4339-8586-9C49A2CAC899}"/>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EC05376F-F9AC-467D-82F5-2A937A23D1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6ACC2129-DD10-4195-B4E4-0A37464BFA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3C8B530-0DB8-4B80-A8A3-17843A477A25}" type="slidenum">
              <a:rPr lang="en-US" altLang="en-US" sz="1300"/>
              <a:pPr/>
              <a:t>26</a:t>
            </a:fld>
            <a:endParaRPr lang="en-US" altLang="en-US" sz="1300"/>
          </a:p>
        </p:txBody>
      </p:sp>
      <p:sp>
        <p:nvSpPr>
          <p:cNvPr id="95235" name="Rectangle 2">
            <a:extLst>
              <a:ext uri="{FF2B5EF4-FFF2-40B4-BE49-F238E27FC236}">
                <a16:creationId xmlns:a16="http://schemas.microsoft.com/office/drawing/2014/main" id="{2367443C-DFF5-4AA5-ABA6-C096F07FD944}"/>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B6E1774C-63FE-4622-BF4D-AC0EB01CDB7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6DFF9C4C-A6C6-47DE-9162-4673F14421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2E7717C-BB95-4A69-B6C6-F696DFD972A3}" type="slidenum">
              <a:rPr lang="en-US" altLang="en-US" sz="1300"/>
              <a:pPr/>
              <a:t>27</a:t>
            </a:fld>
            <a:endParaRPr lang="en-US" altLang="en-US" sz="1300"/>
          </a:p>
        </p:txBody>
      </p:sp>
      <p:sp>
        <p:nvSpPr>
          <p:cNvPr id="97283" name="Rectangle 2">
            <a:extLst>
              <a:ext uri="{FF2B5EF4-FFF2-40B4-BE49-F238E27FC236}">
                <a16:creationId xmlns:a16="http://schemas.microsoft.com/office/drawing/2014/main" id="{E7126C29-652A-47EB-9D6F-1C2E666C8B08}"/>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E0AF697C-E8F3-4DF3-AC35-E7C8929E55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38BC8F74-5338-4D8C-9492-03A34375EF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91F6D00-35F2-4B2B-8113-369B74D92DAB}" type="slidenum">
              <a:rPr lang="en-US" altLang="en-US" sz="1300"/>
              <a:pPr/>
              <a:t>30</a:t>
            </a:fld>
            <a:endParaRPr lang="en-US" altLang="en-US" sz="1300"/>
          </a:p>
        </p:txBody>
      </p:sp>
      <p:sp>
        <p:nvSpPr>
          <p:cNvPr id="99331" name="Rectangle 2">
            <a:extLst>
              <a:ext uri="{FF2B5EF4-FFF2-40B4-BE49-F238E27FC236}">
                <a16:creationId xmlns:a16="http://schemas.microsoft.com/office/drawing/2014/main" id="{60F81C1A-4945-4A61-BFAE-5BB6BAE73D4A}"/>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A55348B0-634F-4915-A069-EA540582EB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A16E65DD-EF4C-40F9-B8A2-FC5391BB5F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5B977A4-0CF7-49CC-8CC4-1EEE95D117D8}" type="slidenum">
              <a:rPr lang="en-US" altLang="en-US" sz="1300"/>
              <a:pPr/>
              <a:t>34</a:t>
            </a:fld>
            <a:endParaRPr lang="en-US" altLang="en-US" sz="1300"/>
          </a:p>
        </p:txBody>
      </p:sp>
      <p:sp>
        <p:nvSpPr>
          <p:cNvPr id="103427" name="Rectangle 2">
            <a:extLst>
              <a:ext uri="{FF2B5EF4-FFF2-40B4-BE49-F238E27FC236}">
                <a16:creationId xmlns:a16="http://schemas.microsoft.com/office/drawing/2014/main" id="{E386D52D-B7F3-486C-8A04-B930DD0986D4}"/>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EE369836-416C-4229-8A8C-48ECA010C7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526946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06609786-4631-484F-B41E-4FBBBE454EAD}"/>
              </a:ext>
            </a:extLst>
          </p:cNvPr>
          <p:cNvSpPr txBox="1">
            <a:spLocks noGrp="1" noChangeArrowheads="1"/>
          </p:cNvSpPr>
          <p:nvPr/>
        </p:nvSpPr>
        <p:spPr bwMode="auto">
          <a:xfrm>
            <a:off x="3965575"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27" tIns="46514" rIns="93027" bIns="46514"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907461DE-88B5-448F-84B2-31DC1AD889C9}" type="slidenum">
              <a:rPr lang="en-US" altLang="en-US" sz="1300"/>
              <a:pPr algn="r"/>
              <a:t>36</a:t>
            </a:fld>
            <a:endParaRPr lang="en-US" altLang="en-US" sz="1300"/>
          </a:p>
        </p:txBody>
      </p:sp>
      <p:sp>
        <p:nvSpPr>
          <p:cNvPr id="106499" name="Rectangle 2">
            <a:extLst>
              <a:ext uri="{FF2B5EF4-FFF2-40B4-BE49-F238E27FC236}">
                <a16:creationId xmlns:a16="http://schemas.microsoft.com/office/drawing/2014/main" id="{B2CC0589-974B-4075-B164-7ADE6596B07F}"/>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96CBABBB-8336-4D27-980A-03D513BD31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64655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099523C9-0457-4031-80C4-C9A05720E723}"/>
              </a:ext>
            </a:extLst>
          </p:cNvPr>
          <p:cNvSpPr txBox="1">
            <a:spLocks noGrp="1" noChangeArrowheads="1"/>
          </p:cNvSpPr>
          <p:nvPr/>
        </p:nvSpPr>
        <p:spPr bwMode="auto">
          <a:xfrm>
            <a:off x="4010557" y="8895562"/>
            <a:ext cx="3066518" cy="46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29" tIns="46965" rIns="93929" bIns="46965"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EBFA416D-C28E-4FCE-97EE-7864C178A395}" type="slidenum">
              <a:rPr lang="en-US" altLang="en-US" sz="1300"/>
              <a:pPr algn="r"/>
              <a:t>37</a:t>
            </a:fld>
            <a:endParaRPr lang="en-US" altLang="en-US" sz="1300"/>
          </a:p>
        </p:txBody>
      </p:sp>
      <p:sp>
        <p:nvSpPr>
          <p:cNvPr id="108547" name="Rectangle 2">
            <a:extLst>
              <a:ext uri="{FF2B5EF4-FFF2-40B4-BE49-F238E27FC236}">
                <a16:creationId xmlns:a16="http://schemas.microsoft.com/office/drawing/2014/main" id="{03489940-9407-4388-A6DE-D74272B16A81}"/>
              </a:ext>
            </a:extLst>
          </p:cNvPr>
          <p:cNvSpPr>
            <a:spLocks noGrp="1" noRot="1" noChangeAspect="1" noChangeArrowheads="1" noTextEdit="1"/>
          </p:cNvSpPr>
          <p:nvPr>
            <p:ph type="sldImg"/>
          </p:nvPr>
        </p:nvSpPr>
        <p:spPr>
          <a:ln/>
        </p:spPr>
      </p:sp>
      <p:sp>
        <p:nvSpPr>
          <p:cNvPr id="108548" name="Rectangle 3">
            <a:extLst>
              <a:ext uri="{FF2B5EF4-FFF2-40B4-BE49-F238E27FC236}">
                <a16:creationId xmlns:a16="http://schemas.microsoft.com/office/drawing/2014/main" id="{4A0819F5-F1E4-4949-B4E9-E51FFF0CA4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602230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B5CD0299-F442-47CA-A434-6D0D60693AF3}"/>
              </a:ext>
            </a:extLst>
          </p:cNvPr>
          <p:cNvSpPr txBox="1">
            <a:spLocks noGrp="1" noChangeArrowheads="1"/>
          </p:cNvSpPr>
          <p:nvPr/>
        </p:nvSpPr>
        <p:spPr bwMode="auto">
          <a:xfrm>
            <a:off x="4010557" y="8895562"/>
            <a:ext cx="3066518" cy="46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29" tIns="46965" rIns="93929" bIns="46965"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00E68546-92EE-416A-A549-DCB1F4341B12}" type="slidenum">
              <a:rPr lang="en-US" altLang="en-US" sz="1300"/>
              <a:pPr algn="r"/>
              <a:t>39</a:t>
            </a:fld>
            <a:endParaRPr lang="en-US" altLang="en-US" sz="1300"/>
          </a:p>
        </p:txBody>
      </p:sp>
      <p:sp>
        <p:nvSpPr>
          <p:cNvPr id="110595" name="Rectangle 2">
            <a:extLst>
              <a:ext uri="{FF2B5EF4-FFF2-40B4-BE49-F238E27FC236}">
                <a16:creationId xmlns:a16="http://schemas.microsoft.com/office/drawing/2014/main" id="{0A7570E3-CF10-4817-B461-870B09A124BC}"/>
              </a:ext>
            </a:extLst>
          </p:cNvPr>
          <p:cNvSpPr>
            <a:spLocks noGrp="1" noRot="1" noChangeAspect="1" noChangeArrowheads="1" noTextEdit="1"/>
          </p:cNvSpPr>
          <p:nvPr>
            <p:ph type="sldImg"/>
          </p:nvPr>
        </p:nvSpPr>
        <p:spPr>
          <a:ln/>
        </p:spPr>
      </p:sp>
      <p:sp>
        <p:nvSpPr>
          <p:cNvPr id="110596" name="Rectangle 3">
            <a:extLst>
              <a:ext uri="{FF2B5EF4-FFF2-40B4-BE49-F238E27FC236}">
                <a16:creationId xmlns:a16="http://schemas.microsoft.com/office/drawing/2014/main" id="{9CB02ACD-22FD-4456-B575-1D70144016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094896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E9F4B7C5-0009-44A3-9C34-F89E21314BB6}"/>
              </a:ext>
            </a:extLst>
          </p:cNvPr>
          <p:cNvSpPr txBox="1">
            <a:spLocks noGrp="1" noChangeArrowheads="1"/>
          </p:cNvSpPr>
          <p:nvPr/>
        </p:nvSpPr>
        <p:spPr bwMode="auto">
          <a:xfrm>
            <a:off x="4010557" y="8895562"/>
            <a:ext cx="3066518" cy="46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29" tIns="46965" rIns="93929" bIns="46965"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59C761C1-0603-43F2-817B-856A5D261367}" type="slidenum">
              <a:rPr lang="en-US" altLang="en-US" sz="1300"/>
              <a:pPr algn="r"/>
              <a:t>42</a:t>
            </a:fld>
            <a:endParaRPr lang="en-US" altLang="en-US" sz="1300"/>
          </a:p>
        </p:txBody>
      </p:sp>
      <p:sp>
        <p:nvSpPr>
          <p:cNvPr id="112643" name="Rectangle 2">
            <a:extLst>
              <a:ext uri="{FF2B5EF4-FFF2-40B4-BE49-F238E27FC236}">
                <a16:creationId xmlns:a16="http://schemas.microsoft.com/office/drawing/2014/main" id="{2C2A62F5-6C8A-43F9-966E-0FC939915BF0}"/>
              </a:ext>
            </a:extLst>
          </p:cNvPr>
          <p:cNvSpPr>
            <a:spLocks noGrp="1" noRot="1" noChangeAspect="1" noChangeArrowheads="1" noTextEdit="1"/>
          </p:cNvSpPr>
          <p:nvPr>
            <p:ph type="sldImg"/>
          </p:nvPr>
        </p:nvSpPr>
        <p:spPr>
          <a:ln/>
        </p:spPr>
      </p:sp>
      <p:sp>
        <p:nvSpPr>
          <p:cNvPr id="112644" name="Rectangle 3">
            <a:extLst>
              <a:ext uri="{FF2B5EF4-FFF2-40B4-BE49-F238E27FC236}">
                <a16:creationId xmlns:a16="http://schemas.microsoft.com/office/drawing/2014/main" id="{72A04179-B34A-4DAE-91D1-2A13149B8A9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768075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C1476C29-A15C-45ED-A95C-0D080628A31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B240400B-AB3D-41AE-9838-68E1A79D3FE7}" type="slidenum">
              <a:rPr lang="en-US" altLang="en-US" sz="1300"/>
              <a:pPr/>
              <a:t>44</a:t>
            </a:fld>
            <a:endParaRPr lang="en-US" altLang="en-US" sz="1300"/>
          </a:p>
        </p:txBody>
      </p:sp>
      <p:sp>
        <p:nvSpPr>
          <p:cNvPr id="114691" name="Rectangle 2">
            <a:extLst>
              <a:ext uri="{FF2B5EF4-FFF2-40B4-BE49-F238E27FC236}">
                <a16:creationId xmlns:a16="http://schemas.microsoft.com/office/drawing/2014/main" id="{BBA479FF-3AC6-4444-A4A9-094F2A5D5DF1}"/>
              </a:ext>
            </a:extLst>
          </p:cNvPr>
          <p:cNvSpPr>
            <a:spLocks noGrp="1" noRot="1" noChangeAspect="1" noChangeArrowheads="1" noTextEdit="1"/>
          </p:cNvSpPr>
          <p:nvPr>
            <p:ph type="sldImg"/>
          </p:nvPr>
        </p:nvSpPr>
        <p:spPr>
          <a:ln/>
        </p:spPr>
      </p:sp>
      <p:sp>
        <p:nvSpPr>
          <p:cNvPr id="114692" name="Rectangle 3">
            <a:extLst>
              <a:ext uri="{FF2B5EF4-FFF2-40B4-BE49-F238E27FC236}">
                <a16:creationId xmlns:a16="http://schemas.microsoft.com/office/drawing/2014/main" id="{5D612050-7FD2-4429-9725-90CF647625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20743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FE4AA2B4-1FA6-4C6A-BBB5-ECD85F1DBCB4}"/>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5130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p>
        </p:txBody>
      </p:sp>
      <p:sp>
        <p:nvSpPr>
          <p:cNvPr id="8" name="Rectangle 5">
            <a:extLst>
              <a:ext uri="{FF2B5EF4-FFF2-40B4-BE49-F238E27FC236}">
                <a16:creationId xmlns:a16="http://schemas.microsoft.com/office/drawing/2014/main" id="{DD1855DD-42F7-4673-8C8A-FABC1C3C1B43}"/>
              </a:ext>
            </a:extLst>
          </p:cNvPr>
          <p:cNvSpPr>
            <a:spLocks noGrp="1" noChangeArrowheads="1"/>
          </p:cNvSpPr>
          <p:nvPr>
            <p:ph type="sldNum" sz="quarter" idx="11"/>
          </p:nvPr>
        </p:nvSpPr>
        <p:spPr>
          <a:xfrm>
            <a:off x="6596063" y="6218238"/>
            <a:ext cx="1905000" cy="457200"/>
          </a:xfrm>
        </p:spPr>
        <p:txBody>
          <a:bodyPr/>
          <a:lstStyle>
            <a:lvl1pPr>
              <a:defRPr>
                <a:solidFill>
                  <a:srgbClr val="578963"/>
                </a:solidFill>
              </a:defRPr>
            </a:lvl1pPr>
          </a:lstStyle>
          <a:p>
            <a:pPr>
              <a:defRPr/>
            </a:pPr>
            <a:fld id="{AC49C3D8-E326-414D-BA9C-243E694C0111}" type="slidenum">
              <a:rPr lang="en-US" altLang="en-US"/>
              <a:pPr>
                <a:defRPr/>
              </a:pPr>
              <a:t>‹#›</a:t>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4156" y="0"/>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0875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marL="342900" indent="-342900">
              <a:buSzPct val="120000"/>
              <a:buFont typeface="Wingdings" panose="05000000000000000000" pitchFamily="2" charset="2"/>
              <a:buChar char="§"/>
              <a:defRPr/>
            </a:lvl1pPr>
            <a:lvl2pPr marL="800100" indent="-342900">
              <a:buSzPct val="110000"/>
              <a:buFont typeface="Arial" panose="020B0604020202020204" pitchFamily="34" charset="0"/>
              <a:buChar char="•"/>
              <a:defRPr/>
            </a:lvl2pPr>
            <a:lvl3pPr marL="1085850" indent="-228600">
              <a:buFont typeface="Wingdings" panose="05000000000000000000" pitchFamily="2" charset="2"/>
              <a:buChar char="§"/>
              <a:defRPr/>
            </a:lvl3pPr>
            <a:lvl4pPr marL="1428750" indent="-228600">
              <a:buFont typeface="Arial" panose="020B0604020202020204" pitchFamily="34" charset="0"/>
              <a:buChar char="•"/>
              <a:defRPr/>
            </a:lvl4pPr>
            <a:lvl5pPr marL="177165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0FE2AF77-2F8F-413B-811B-93BB032E7234}"/>
              </a:ext>
            </a:extLst>
          </p:cNvPr>
          <p:cNvSpPr>
            <a:spLocks noGrp="1" noChangeArrowheads="1"/>
          </p:cNvSpPr>
          <p:nvPr>
            <p:ph type="sldNum" sz="quarter" idx="10"/>
          </p:nvPr>
        </p:nvSpPr>
        <p:spPr>
          <a:xfrm>
            <a:off x="6570663" y="6257199"/>
            <a:ext cx="1905000" cy="457200"/>
          </a:xfrm>
          <a:ln/>
        </p:spPr>
        <p:txBody>
          <a:bodyPr/>
          <a:lstStyle>
            <a:lvl1pPr>
              <a:defRPr/>
            </a:lvl1pPr>
          </a:lstStyle>
          <a:p>
            <a:pPr>
              <a:defRPr/>
            </a:pPr>
            <a:fld id="{CED84508-4F00-4F0B-AACD-78A429CB4E5F}" type="slidenum">
              <a:rPr lang="en-US" altLang="en-US"/>
              <a:pPr>
                <a:defRPr/>
              </a:pPr>
              <a:t>‹#›</a:t>
            </a:fld>
            <a:endParaRPr lang="en-US" altLang="en-US"/>
          </a:p>
        </p:txBody>
      </p:sp>
    </p:spTree>
    <p:extLst>
      <p:ext uri="{BB962C8B-B14F-4D97-AF65-F5344CB8AC3E}">
        <p14:creationId xmlns:p14="http://schemas.microsoft.com/office/powerpoint/2010/main" val="969230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a:extLst>
              <a:ext uri="{FF2B5EF4-FFF2-40B4-BE49-F238E27FC236}">
                <a16:creationId xmlns:a16="http://schemas.microsoft.com/office/drawing/2014/main" id="{A5E12E5A-52A0-49A3-90D9-67F6A8904EB6}"/>
              </a:ext>
            </a:extLst>
          </p:cNvPr>
          <p:cNvSpPr>
            <a:spLocks noGrp="1" noChangeArrowheads="1"/>
          </p:cNvSpPr>
          <p:nvPr>
            <p:ph type="sldNum" sz="quarter" idx="10"/>
          </p:nvPr>
        </p:nvSpPr>
        <p:spPr>
          <a:ln/>
        </p:spPr>
        <p:txBody>
          <a:bodyPr/>
          <a:lstStyle>
            <a:lvl1pPr>
              <a:defRPr/>
            </a:lvl1pPr>
          </a:lstStyle>
          <a:p>
            <a:pPr>
              <a:defRPr/>
            </a:pPr>
            <a:fld id="{0E9D96D1-8274-4B5D-8DFC-F883A6F14658}" type="slidenum">
              <a:rPr lang="en-US" altLang="en-US"/>
              <a:pPr>
                <a:defRPr/>
              </a:pPr>
              <a:t>‹#›</a:t>
            </a:fld>
            <a:endParaRPr lang="en-US" altLang="en-US"/>
          </a:p>
        </p:txBody>
      </p:sp>
    </p:spTree>
    <p:extLst>
      <p:ext uri="{BB962C8B-B14F-4D97-AF65-F5344CB8AC3E}">
        <p14:creationId xmlns:p14="http://schemas.microsoft.com/office/powerpoint/2010/main" val="1360973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14388" y="1093788"/>
            <a:ext cx="3754437"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1093788"/>
            <a:ext cx="3754438"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59F38EDD-F66A-45D6-8FD3-616B47D50948}"/>
              </a:ext>
            </a:extLst>
          </p:cNvPr>
          <p:cNvSpPr>
            <a:spLocks noGrp="1" noChangeArrowheads="1"/>
          </p:cNvSpPr>
          <p:nvPr>
            <p:ph type="sldNum" sz="quarter" idx="10"/>
          </p:nvPr>
        </p:nvSpPr>
        <p:spPr>
          <a:ln/>
        </p:spPr>
        <p:txBody>
          <a:bodyPr/>
          <a:lstStyle>
            <a:lvl1pPr>
              <a:defRPr/>
            </a:lvl1pPr>
          </a:lstStyle>
          <a:p>
            <a:pPr>
              <a:defRPr/>
            </a:pPr>
            <a:fld id="{11AFD2D0-2B20-464D-B9A5-A4F8EFBB301A}" type="slidenum">
              <a:rPr lang="en-US" altLang="en-US"/>
              <a:pPr>
                <a:defRPr/>
              </a:pPr>
              <a:t>‹#›</a:t>
            </a:fld>
            <a:endParaRPr lang="en-US" altLang="en-US"/>
          </a:p>
        </p:txBody>
      </p:sp>
    </p:spTree>
    <p:extLst>
      <p:ext uri="{BB962C8B-B14F-4D97-AF65-F5344CB8AC3E}">
        <p14:creationId xmlns:p14="http://schemas.microsoft.com/office/powerpoint/2010/main" val="1802618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C9AEAD15-CC4E-4DDB-BCB4-BFD6B09414E4}"/>
              </a:ext>
            </a:extLst>
          </p:cNvPr>
          <p:cNvSpPr>
            <a:spLocks noGrp="1" noChangeArrowheads="1"/>
          </p:cNvSpPr>
          <p:nvPr>
            <p:ph type="sldNum" sz="quarter" idx="10"/>
          </p:nvPr>
        </p:nvSpPr>
        <p:spPr>
          <a:ln/>
        </p:spPr>
        <p:txBody>
          <a:bodyPr/>
          <a:lstStyle>
            <a:lvl1pPr>
              <a:defRPr/>
            </a:lvl1pPr>
          </a:lstStyle>
          <a:p>
            <a:pPr>
              <a:defRPr/>
            </a:pPr>
            <a:fld id="{CC32850B-7953-43C3-84E7-6C4CDDE3446E}" type="slidenum">
              <a:rPr lang="en-US" altLang="en-US"/>
              <a:pPr>
                <a:defRPr/>
              </a:pPr>
              <a:t>‹#›</a:t>
            </a:fld>
            <a:endParaRPr lang="en-US" altLang="en-US"/>
          </a:p>
        </p:txBody>
      </p:sp>
    </p:spTree>
    <p:extLst>
      <p:ext uri="{BB962C8B-B14F-4D97-AF65-F5344CB8AC3E}">
        <p14:creationId xmlns:p14="http://schemas.microsoft.com/office/powerpoint/2010/main" val="1965051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B6290DBB-0BCD-459F-8E4F-FA120878EA0D}"/>
              </a:ext>
            </a:extLst>
          </p:cNvPr>
          <p:cNvSpPr>
            <a:spLocks noGrp="1" noChangeArrowheads="1"/>
          </p:cNvSpPr>
          <p:nvPr>
            <p:ph type="sldNum" sz="quarter" idx="10"/>
          </p:nvPr>
        </p:nvSpPr>
        <p:spPr>
          <a:ln/>
        </p:spPr>
        <p:txBody>
          <a:bodyPr/>
          <a:lstStyle>
            <a:lvl1pPr>
              <a:defRPr/>
            </a:lvl1pPr>
          </a:lstStyle>
          <a:p>
            <a:pPr>
              <a:defRPr/>
            </a:pPr>
            <a:fld id="{B6589094-62D5-4D43-96BD-D3CB3B0121DA}" type="slidenum">
              <a:rPr lang="en-US" altLang="en-US"/>
              <a:pPr>
                <a:defRPr/>
              </a:pPr>
              <a:t>‹#›</a:t>
            </a:fld>
            <a:endParaRPr lang="en-US" altLang="en-US"/>
          </a:p>
        </p:txBody>
      </p:sp>
    </p:spTree>
    <p:extLst>
      <p:ext uri="{BB962C8B-B14F-4D97-AF65-F5344CB8AC3E}">
        <p14:creationId xmlns:p14="http://schemas.microsoft.com/office/powerpoint/2010/main" val="868146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FEF0AAB0-38F5-434C-B2C0-AABEF56E6D3C}"/>
              </a:ext>
            </a:extLst>
          </p:cNvPr>
          <p:cNvSpPr>
            <a:spLocks noGrp="1" noChangeArrowheads="1"/>
          </p:cNvSpPr>
          <p:nvPr>
            <p:ph type="sldNum" sz="quarter" idx="10"/>
          </p:nvPr>
        </p:nvSpPr>
        <p:spPr>
          <a:ln/>
        </p:spPr>
        <p:txBody>
          <a:bodyPr/>
          <a:lstStyle>
            <a:lvl1pPr>
              <a:defRPr/>
            </a:lvl1pPr>
          </a:lstStyle>
          <a:p>
            <a:pPr>
              <a:defRPr/>
            </a:pPr>
            <a:fld id="{B580F6F2-DE47-4EBC-8416-864F9C93A553}" type="slidenum">
              <a:rPr lang="en-US" altLang="en-US"/>
              <a:pPr>
                <a:defRPr/>
              </a:pPr>
              <a:t>‹#›</a:t>
            </a:fld>
            <a:endParaRPr lang="en-US" altLang="en-US"/>
          </a:p>
        </p:txBody>
      </p:sp>
    </p:spTree>
    <p:extLst>
      <p:ext uri="{BB962C8B-B14F-4D97-AF65-F5344CB8AC3E}">
        <p14:creationId xmlns:p14="http://schemas.microsoft.com/office/powerpoint/2010/main" val="4230370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C219F498-DC72-46C9-809D-A3E9B9733C90}"/>
              </a:ext>
            </a:extLst>
          </p:cNvPr>
          <p:cNvSpPr>
            <a:spLocks noGrp="1" noChangeArrowheads="1"/>
          </p:cNvSpPr>
          <p:nvPr>
            <p:ph type="sldNum" sz="quarter" idx="10"/>
          </p:nvPr>
        </p:nvSpPr>
        <p:spPr>
          <a:ln/>
        </p:spPr>
        <p:txBody>
          <a:bodyPr/>
          <a:lstStyle>
            <a:lvl1pPr>
              <a:defRPr/>
            </a:lvl1pPr>
          </a:lstStyle>
          <a:p>
            <a:pPr>
              <a:defRPr/>
            </a:pPr>
            <a:fld id="{B0BC50A1-0700-4943-9F0D-0C1C7AD36C56}" type="slidenum">
              <a:rPr lang="en-US" altLang="en-US"/>
              <a:pPr>
                <a:defRPr/>
              </a:pPr>
              <a:t>‹#›</a:t>
            </a:fld>
            <a:endParaRPr lang="en-US" altLang="en-US"/>
          </a:p>
        </p:txBody>
      </p:sp>
    </p:spTree>
    <p:extLst>
      <p:ext uri="{BB962C8B-B14F-4D97-AF65-F5344CB8AC3E}">
        <p14:creationId xmlns:p14="http://schemas.microsoft.com/office/powerpoint/2010/main" val="163123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14A3BEA6-AB75-48BD-9865-B5CCFF6E4725}"/>
              </a:ext>
            </a:extLst>
          </p:cNvPr>
          <p:cNvSpPr>
            <a:spLocks noGrp="1" noChangeArrowheads="1"/>
          </p:cNvSpPr>
          <p:nvPr>
            <p:ph type="sldNum" sz="quarter" idx="10"/>
          </p:nvPr>
        </p:nvSpPr>
        <p:spPr>
          <a:ln/>
        </p:spPr>
        <p:txBody>
          <a:bodyPr/>
          <a:lstStyle>
            <a:lvl1pPr>
              <a:defRPr/>
            </a:lvl1pPr>
          </a:lstStyle>
          <a:p>
            <a:pPr>
              <a:defRPr/>
            </a:pPr>
            <a:fld id="{72C02FA7-47FF-4F4C-9EE7-33C697A225AB}" type="slidenum">
              <a:rPr lang="en-US" altLang="en-US"/>
              <a:pPr>
                <a:defRPr/>
              </a:pPr>
              <a:t>‹#›</a:t>
            </a:fld>
            <a:endParaRPr lang="en-US" altLang="en-US"/>
          </a:p>
        </p:txBody>
      </p:sp>
    </p:spTree>
    <p:extLst>
      <p:ext uri="{BB962C8B-B14F-4D97-AF65-F5344CB8AC3E}">
        <p14:creationId xmlns:p14="http://schemas.microsoft.com/office/powerpoint/2010/main" val="36808469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5D59350B-1AE9-4A98-9789-0A3801BD2D02}"/>
              </a:ext>
            </a:extLst>
          </p:cNvPr>
          <p:cNvSpPr>
            <a:spLocks noGrp="1" noChangeArrowheads="1"/>
          </p:cNvSpPr>
          <p:nvPr>
            <p:ph type="sldNum" sz="quarter" idx="10"/>
          </p:nvPr>
        </p:nvSpPr>
        <p:spPr>
          <a:ln/>
        </p:spPr>
        <p:txBody>
          <a:bodyPr/>
          <a:lstStyle>
            <a:lvl1pPr>
              <a:defRPr/>
            </a:lvl1pPr>
          </a:lstStyle>
          <a:p>
            <a:pPr>
              <a:defRPr/>
            </a:pPr>
            <a:fld id="{3B8A592D-06D1-4335-9885-C76101E98296}" type="slidenum">
              <a:rPr lang="en-US" altLang="en-US"/>
              <a:pPr>
                <a:defRPr/>
              </a:pPr>
              <a:t>‹#›</a:t>
            </a:fld>
            <a:endParaRPr lang="en-US" altLang="en-US"/>
          </a:p>
        </p:txBody>
      </p:sp>
    </p:spTree>
    <p:extLst>
      <p:ext uri="{BB962C8B-B14F-4D97-AF65-F5344CB8AC3E}">
        <p14:creationId xmlns:p14="http://schemas.microsoft.com/office/powerpoint/2010/main" val="452090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04B28524-8AC4-4458-AAD1-C4223972BCE3}"/>
              </a:ext>
            </a:extLst>
          </p:cNvPr>
          <p:cNvSpPr>
            <a:spLocks noGrp="1" noChangeArrowheads="1"/>
          </p:cNvSpPr>
          <p:nvPr>
            <p:ph type="sldNum" sz="quarter" idx="10"/>
          </p:nvPr>
        </p:nvSpPr>
        <p:spPr>
          <a:ln/>
        </p:spPr>
        <p:txBody>
          <a:bodyPr/>
          <a:lstStyle>
            <a:lvl1pPr>
              <a:defRPr/>
            </a:lvl1pPr>
          </a:lstStyle>
          <a:p>
            <a:pPr>
              <a:defRPr/>
            </a:pPr>
            <a:fld id="{A7C5E8B3-FD31-41B6-9315-34F8ECD716C8}" type="slidenum">
              <a:rPr lang="en-US" altLang="en-US"/>
              <a:pPr>
                <a:defRPr/>
              </a:pPr>
              <a:t>‹#›</a:t>
            </a:fld>
            <a:endParaRPr lang="en-US" altLang="en-US"/>
          </a:p>
        </p:txBody>
      </p:sp>
    </p:spTree>
    <p:extLst>
      <p:ext uri="{BB962C8B-B14F-4D97-AF65-F5344CB8AC3E}">
        <p14:creationId xmlns:p14="http://schemas.microsoft.com/office/powerpoint/2010/main" val="37431593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3">
            <a:extLst>
              <a:ext uri="{FF2B5EF4-FFF2-40B4-BE49-F238E27FC236}">
                <a16:creationId xmlns:a16="http://schemas.microsoft.com/office/drawing/2014/main" id="{12F6940A-5EB3-4E43-837D-85F46C6F6DE5}"/>
              </a:ext>
            </a:extLst>
          </p:cNvPr>
          <p:cNvSpPr>
            <a:spLocks noGrp="1" noChangeArrowheads="1"/>
          </p:cNvSpPr>
          <p:nvPr>
            <p:ph type="sldNum" sz="quarter" idx="10"/>
          </p:nvPr>
        </p:nvSpPr>
        <p:spPr>
          <a:ln/>
        </p:spPr>
        <p:txBody>
          <a:bodyPr/>
          <a:lstStyle>
            <a:lvl1pPr>
              <a:defRPr/>
            </a:lvl1pPr>
          </a:lstStyle>
          <a:p>
            <a:pPr>
              <a:defRPr/>
            </a:pPr>
            <a:fld id="{9204979C-6AB0-44D1-9772-4F19E45F1086}" type="slidenum">
              <a:rPr lang="en-US" altLang="en-US"/>
              <a:pPr>
                <a:defRPr/>
              </a:pPr>
              <a:t>‹#›</a:t>
            </a:fld>
            <a:endParaRPr lang="en-US" altLang="en-US"/>
          </a:p>
        </p:txBody>
      </p:sp>
    </p:spTree>
    <p:extLst>
      <p:ext uri="{BB962C8B-B14F-4D97-AF65-F5344CB8AC3E}">
        <p14:creationId xmlns:p14="http://schemas.microsoft.com/office/powerpoint/2010/main" val="1073060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48A0A33-DAF4-4E01-9EFC-4F1B17F7A3F0}"/>
              </a:ext>
            </a:extLst>
          </p:cNvPr>
          <p:cNvSpPr>
            <a:spLocks noGrp="1" noChangeArrowheads="1"/>
          </p:cNvSpPr>
          <p:nvPr>
            <p:ph type="body" idx="1"/>
          </p:nvPr>
        </p:nvSpPr>
        <p:spPr bwMode="auto">
          <a:xfrm>
            <a:off x="814388" y="1093788"/>
            <a:ext cx="7661275"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512003" name="Rectangle 3">
            <a:extLst>
              <a:ext uri="{FF2B5EF4-FFF2-40B4-BE49-F238E27FC236}">
                <a16:creationId xmlns:a16="http://schemas.microsoft.com/office/drawing/2014/main" id="{D2EB5033-CF44-472B-B77D-FAA18581E631}"/>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a:solidFill>
                  <a:schemeClr val="bg2"/>
                </a:solidFill>
                <a:latin typeface="Times New Roman" panose="02020603050405020304" pitchFamily="18" charset="0"/>
              </a:defRPr>
            </a:lvl1pPr>
          </a:lstStyle>
          <a:p>
            <a:pPr>
              <a:defRPr/>
            </a:pPr>
            <a:fld id="{059FFB63-CDCC-491F-AF2C-DD10F7602377}" type="slidenum">
              <a:rPr lang="en-US" altLang="en-US"/>
              <a:pPr>
                <a:defRPr/>
              </a:pPr>
              <a:t>‹#›</a:t>
            </a:fld>
            <a:endParaRPr lang="en-US" altLang="en-US"/>
          </a:p>
        </p:txBody>
      </p:sp>
      <p:sp>
        <p:nvSpPr>
          <p:cNvPr id="1028" name="Text Box 4">
            <a:extLst>
              <a:ext uri="{FF2B5EF4-FFF2-40B4-BE49-F238E27FC236}">
                <a16:creationId xmlns:a16="http://schemas.microsoft.com/office/drawing/2014/main" id="{D0CFC8B2-2C6C-4CA4-9AFC-14298F0DD4EC}"/>
              </a:ext>
            </a:extLst>
          </p:cNvPr>
          <p:cNvSpPr txBox="1">
            <a:spLocks noChangeArrowheads="1"/>
          </p:cNvSpPr>
          <p:nvPr/>
        </p:nvSpPr>
        <p:spPr bwMode="auto">
          <a:xfrm>
            <a:off x="6762750" y="6613525"/>
            <a:ext cx="23812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p>
        </p:txBody>
      </p:sp>
      <p:sp>
        <p:nvSpPr>
          <p:cNvPr id="512005" name="Text Box 5">
            <a:extLst>
              <a:ext uri="{FF2B5EF4-FFF2-40B4-BE49-F238E27FC236}">
                <a16:creationId xmlns:a16="http://schemas.microsoft.com/office/drawing/2014/main" id="{ED25C836-0663-424A-84A7-5AB803422860}"/>
              </a:ext>
            </a:extLst>
          </p:cNvPr>
          <p:cNvSpPr txBox="1">
            <a:spLocks noChangeArrowheads="1"/>
          </p:cNvSpPr>
          <p:nvPr/>
        </p:nvSpPr>
        <p:spPr bwMode="auto">
          <a:xfrm>
            <a:off x="4444717" y="6613525"/>
            <a:ext cx="518092"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13.</a:t>
            </a:r>
            <a:fld id="{465E19B2-DA7E-4A4D-A955-3117C9F14C62}"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
        <p:nvSpPr>
          <p:cNvPr id="512006" name="Rectangle 6">
            <a:extLst>
              <a:ext uri="{FF2B5EF4-FFF2-40B4-BE49-F238E27FC236}">
                <a16:creationId xmlns:a16="http://schemas.microsoft.com/office/drawing/2014/main" id="{BFAC4B4C-D3C2-4A14-871E-CC7D45F0769E}"/>
              </a:ext>
            </a:extLst>
          </p:cNvPr>
          <p:cNvSpPr>
            <a:spLocks noGrp="1" noChangeArrowheads="1"/>
          </p:cNvSpPr>
          <p:nvPr>
            <p:ph type="title"/>
          </p:nvPr>
        </p:nvSpPr>
        <p:spPr bwMode="auto">
          <a:xfrm>
            <a:off x="768350" y="11747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1" name="Text Box 7">
            <a:extLst>
              <a:ext uri="{FF2B5EF4-FFF2-40B4-BE49-F238E27FC236}">
                <a16:creationId xmlns:a16="http://schemas.microsoft.com/office/drawing/2014/main" id="{5472E9A1-C06F-4393-872E-7F8100F91627}"/>
              </a:ext>
            </a:extLst>
          </p:cNvPr>
          <p:cNvSpPr txBox="1">
            <a:spLocks noChangeArrowheads="1"/>
          </p:cNvSpPr>
          <p:nvPr/>
        </p:nvSpPr>
        <p:spPr bwMode="auto">
          <a:xfrm>
            <a:off x="0" y="6613525"/>
            <a:ext cx="2666114" cy="246221"/>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ＭＳ Ｐゴシック" charset="0"/>
                <a:cs typeface="ＭＳ Ｐゴシック" charset="0"/>
              </a:defRPr>
            </a:lvl1pPr>
            <a:lvl2pPr marL="742950" indent="-285750">
              <a:defRPr sz="1600">
                <a:solidFill>
                  <a:schemeClr val="tx1"/>
                </a:solidFill>
                <a:latin typeface="Helvetica" charset="0"/>
                <a:ea typeface="ＭＳ Ｐゴシック" charset="0"/>
              </a:defRPr>
            </a:lvl2pPr>
            <a:lvl3pPr marL="1143000" indent="-228600">
              <a:defRPr sz="1600">
                <a:solidFill>
                  <a:schemeClr val="tx1"/>
                </a:solidFill>
                <a:latin typeface="Helvetica" charset="0"/>
                <a:ea typeface="ＭＳ Ｐゴシック" charset="0"/>
              </a:defRPr>
            </a:lvl3pPr>
            <a:lvl4pPr marL="1600200" indent="-228600">
              <a:defRPr sz="1600">
                <a:solidFill>
                  <a:schemeClr val="tx1"/>
                </a:solidFill>
                <a:latin typeface="Helvetica" charset="0"/>
                <a:ea typeface="ＭＳ Ｐゴシック" charset="0"/>
              </a:defRPr>
            </a:lvl4pPr>
            <a:lvl5pPr marL="2057400" indent="-228600">
              <a:defRPr sz="1600">
                <a:solidFill>
                  <a:schemeClr val="tx1"/>
                </a:solidFill>
                <a:latin typeface="Helvetica" charset="0"/>
                <a:ea typeface="ＭＳ Ｐゴシック" charset="0"/>
              </a:defRPr>
            </a:lvl5pPr>
            <a:lvl6pPr marL="2514600" indent="-228600" eaLnBrk="0" fontAlgn="base" hangingPunct="0">
              <a:spcBef>
                <a:spcPct val="0"/>
              </a:spcBef>
              <a:spcAft>
                <a:spcPct val="0"/>
              </a:spcAft>
              <a:defRPr sz="1600">
                <a:solidFill>
                  <a:schemeClr val="tx1"/>
                </a:solidFill>
                <a:latin typeface="Helvetica" charset="0"/>
                <a:ea typeface="ＭＳ Ｐゴシック" charset="0"/>
              </a:defRPr>
            </a:lvl6pPr>
            <a:lvl7pPr marL="2971800" indent="-228600" eaLnBrk="0" fontAlgn="base" hangingPunct="0">
              <a:spcBef>
                <a:spcPct val="0"/>
              </a:spcBef>
              <a:spcAft>
                <a:spcPct val="0"/>
              </a:spcAft>
              <a:defRPr sz="1600">
                <a:solidFill>
                  <a:schemeClr val="tx1"/>
                </a:solidFill>
                <a:latin typeface="Helvetica" charset="0"/>
                <a:ea typeface="ＭＳ Ｐゴシック" charset="0"/>
              </a:defRPr>
            </a:lvl7pPr>
            <a:lvl8pPr marL="3429000" indent="-228600" eaLnBrk="0" fontAlgn="base" hangingPunct="0">
              <a:spcBef>
                <a:spcPct val="0"/>
              </a:spcBef>
              <a:spcAft>
                <a:spcPct val="0"/>
              </a:spcAft>
              <a:defRPr sz="1600">
                <a:solidFill>
                  <a:schemeClr val="tx1"/>
                </a:solidFill>
                <a:latin typeface="Helvetica" charset="0"/>
                <a:ea typeface="ＭＳ Ｐゴシック" charset="0"/>
              </a:defRPr>
            </a:lvl8pPr>
            <a:lvl9pPr marL="3886200" indent="-228600" eaLnBrk="0" fontAlgn="base" hangingPunct="0">
              <a:spcBef>
                <a:spcPct val="0"/>
              </a:spcBef>
              <a:spcAft>
                <a:spcPct val="0"/>
              </a:spcAft>
              <a:defRPr sz="1600">
                <a:solidFill>
                  <a:schemeClr val="tx1"/>
                </a:solidFill>
                <a:latin typeface="Helvetica" charset="0"/>
                <a:ea typeface="ＭＳ Ｐゴシック"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p>
        </p:txBody>
      </p:sp>
      <p:sp>
        <p:nvSpPr>
          <p:cNvPr id="1032" name="Freeform 8">
            <a:extLst>
              <a:ext uri="{FF2B5EF4-FFF2-40B4-BE49-F238E27FC236}">
                <a16:creationId xmlns:a16="http://schemas.microsoft.com/office/drawing/2014/main" id="{70B0BAF4-3624-4F5B-83AF-93EB8F0247B6}"/>
              </a:ext>
            </a:extLst>
          </p:cNvPr>
          <p:cNvSpPr>
            <a:spLocks/>
          </p:cNvSpPr>
          <p:nvPr/>
        </p:nvSpPr>
        <p:spPr bwMode="auto">
          <a:xfrm>
            <a:off x="8916988" y="5445125"/>
            <a:ext cx="227012" cy="47625"/>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0" name="Picture 9" descr="Cover-6Ed"/>
          <p:cNvPicPr>
            <a:picLocks noChangeAspect="1" noChangeArrowheads="1"/>
          </p:cNvPicPr>
          <p:nvPr userDrawn="1"/>
        </p:nvPicPr>
        <p:blipFill>
          <a:blip r:embed="rId14"/>
          <a:stretch>
            <a:fillRect/>
          </a:stretch>
        </p:blipFill>
        <p:spPr bwMode="auto">
          <a:xfrm>
            <a:off x="-5777" y="8313"/>
            <a:ext cx="799066" cy="1020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48"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Lst>
  <p:txStyles>
    <p:titleStyle>
      <a:lvl1pPr algn="ctr" rtl="0" eaLnBrk="0" fontAlgn="base" hangingPunct="0">
        <a:spcBef>
          <a:spcPct val="0"/>
        </a:spcBef>
        <a:spcAft>
          <a:spcPct val="0"/>
        </a:spcAft>
        <a:defRPr kumimoji="1" sz="2800" b="1">
          <a:solidFill>
            <a:srgbClr val="002060"/>
          </a:solidFill>
          <a:effectLst>
            <a:outerShdw blurRad="38100" dist="38100" dir="2700000" algn="tl">
              <a:srgbClr val="DDDDDD"/>
            </a:outerShdw>
          </a:effectLst>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0" fontAlgn="base" hangingPunct="0">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35000"/>
        </a:spcBef>
        <a:spcAft>
          <a:spcPct val="0"/>
        </a:spcAft>
        <a:buClr>
          <a:schemeClr val="folHlink"/>
        </a:buClr>
        <a:buSzPct val="90000"/>
        <a:buFont typeface="Monotype Sorts" pitchFamily="-65" charset="2"/>
        <a:buChar char="l"/>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1.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20.svg"/><Relationship Id="rId5" Type="http://schemas.openxmlformats.org/officeDocument/2006/relationships/image" Target="../media/image15.png"/><Relationship Id="rId4" Type="http://schemas.openxmlformats.org/officeDocument/2006/relationships/image" Target="../media/image18.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a:extLst>
              <a:ext uri="{FF2B5EF4-FFF2-40B4-BE49-F238E27FC236}">
                <a16:creationId xmlns:a16="http://schemas.microsoft.com/office/drawing/2014/main" id="{1CB68582-BBE2-4F64-8E5F-7C76410784FB}"/>
              </a:ext>
            </a:extLst>
          </p:cNvPr>
          <p:cNvSpPr>
            <a:spLocks noGrp="1" noChangeArrowheads="1"/>
          </p:cNvSpPr>
          <p:nvPr>
            <p:ph type="ctrTitle"/>
          </p:nvPr>
        </p:nvSpPr>
        <p:spPr/>
        <p:txBody>
          <a:bodyPr/>
          <a:lstStyle/>
          <a:p>
            <a:pPr>
              <a:defRPr/>
            </a:pPr>
            <a:r>
              <a:rPr lang="en-US" altLang="en-US" dirty="0">
                <a:effectLst>
                  <a:outerShdw blurRad="38100" dist="38100" dir="2700000" algn="tl">
                    <a:srgbClr val="C0C0C0"/>
                  </a:outerShdw>
                </a:effectLst>
              </a:rPr>
              <a:t>Chapter 13: Data Storage Structures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a:extLst>
              <a:ext uri="{FF2B5EF4-FFF2-40B4-BE49-F238E27FC236}">
                <a16:creationId xmlns:a16="http://schemas.microsoft.com/office/drawing/2014/main" id="{A40D8FBD-C4B3-47AD-8320-48C6E70CFBAB}"/>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File Organization</a:t>
            </a:r>
          </a:p>
        </p:txBody>
      </p:sp>
      <p:sp>
        <p:nvSpPr>
          <p:cNvPr id="77827" name="Rectangle 3">
            <a:extLst>
              <a:ext uri="{FF2B5EF4-FFF2-40B4-BE49-F238E27FC236}">
                <a16:creationId xmlns:a16="http://schemas.microsoft.com/office/drawing/2014/main" id="{B3A0C481-BBD2-48D5-9CB8-C59C3FA7C9A9}"/>
              </a:ext>
            </a:extLst>
          </p:cNvPr>
          <p:cNvSpPr>
            <a:spLocks noGrp="1" noChangeArrowheads="1"/>
          </p:cNvSpPr>
          <p:nvPr>
            <p:ph idx="1"/>
          </p:nvPr>
        </p:nvSpPr>
        <p:spPr>
          <a:xfrm>
            <a:off x="768350" y="1093788"/>
            <a:ext cx="7707313" cy="4903787"/>
          </a:xfrm>
        </p:spPr>
        <p:txBody>
          <a:bodyPr/>
          <a:lstStyle/>
          <a:p>
            <a:r>
              <a:rPr lang="en-US" altLang="en-US" dirty="0"/>
              <a:t>The </a:t>
            </a:r>
            <a:r>
              <a:rPr lang="en-US" altLang="en-US" dirty="0">
                <a:solidFill>
                  <a:srgbClr val="FF0000"/>
                </a:solidFill>
              </a:rPr>
              <a:t>database is stored as a collection of </a:t>
            </a:r>
            <a:r>
              <a:rPr lang="en-US" altLang="en-US" i="1" dirty="0">
                <a:solidFill>
                  <a:srgbClr val="FF0000"/>
                </a:solidFill>
              </a:rPr>
              <a:t>files</a:t>
            </a:r>
            <a:r>
              <a:rPr lang="en-US" altLang="en-US" dirty="0"/>
              <a:t>.  Each file is a sequence of </a:t>
            </a:r>
            <a:r>
              <a:rPr lang="en-US" altLang="en-US" i="1" dirty="0"/>
              <a:t>records.  </a:t>
            </a:r>
            <a:r>
              <a:rPr lang="en-US" altLang="en-US" dirty="0"/>
              <a:t>A record is a sequence of fields.</a:t>
            </a:r>
          </a:p>
          <a:p>
            <a:r>
              <a:rPr lang="en-US" altLang="en-US" dirty="0"/>
              <a:t>One approach</a:t>
            </a:r>
          </a:p>
          <a:p>
            <a:pPr lvl="1"/>
            <a:r>
              <a:rPr lang="en-US" altLang="en-US" dirty="0"/>
              <a:t>Assume record size is fixed</a:t>
            </a:r>
          </a:p>
          <a:p>
            <a:pPr lvl="1"/>
            <a:r>
              <a:rPr lang="en-US" altLang="en-US" dirty="0"/>
              <a:t>Each file has records of one particular type only</a:t>
            </a:r>
          </a:p>
          <a:p>
            <a:pPr lvl="1"/>
            <a:r>
              <a:rPr lang="en-US" altLang="en-US" dirty="0">
                <a:solidFill>
                  <a:srgbClr val="FF0000"/>
                </a:solidFill>
              </a:rPr>
              <a:t>Different files are used for different relations</a:t>
            </a:r>
          </a:p>
          <a:p>
            <a:pPr marL="457200" lvl="1" indent="0">
              <a:buNone/>
            </a:pPr>
            <a:r>
              <a:rPr lang="en-US" altLang="en-US" dirty="0"/>
              <a:t>This case is easiest to implement; will consider variable length records later</a:t>
            </a:r>
          </a:p>
          <a:p>
            <a:pPr marL="7938" indent="-7938"/>
            <a:r>
              <a:rPr lang="en-US" altLang="en-US" dirty="0"/>
              <a:t> We assume that records are smaller than a disk block</a:t>
            </a:r>
          </a:p>
          <a:p>
            <a:pPr marL="465138" lvl="1" indent="-7938">
              <a:buFont typeface="Monotype Sorts" pitchFamily="-65" charset="2"/>
              <a:buNone/>
            </a:pPr>
            <a:r>
              <a:rPr lang="en-US" altLang="en-US" dirty="0"/>
              <a:t>.</a:t>
            </a:r>
          </a:p>
        </p:txBody>
      </p:sp>
      <p:pic>
        <p:nvPicPr>
          <p:cNvPr id="2" name="Picture 1"/>
          <p:cNvPicPr>
            <a:picLocks noChangeAspect="1"/>
          </p:cNvPicPr>
          <p:nvPr/>
        </p:nvPicPr>
        <p:blipFill>
          <a:blip r:embed="rId3"/>
          <a:stretch>
            <a:fillRect/>
          </a:stretch>
        </p:blipFill>
        <p:spPr>
          <a:xfrm>
            <a:off x="2154233" y="4251598"/>
            <a:ext cx="4061812" cy="1607959"/>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91308" y="0"/>
            <a:ext cx="7218484" cy="584775"/>
          </a:xfrm>
          <a:prstGeom prst="rect">
            <a:avLst/>
          </a:prstGeom>
        </p:spPr>
        <p:txBody>
          <a:bodyPr wrap="square">
            <a:spAutoFit/>
          </a:bodyPr>
          <a:lstStyle/>
          <a:p>
            <a:r>
              <a:rPr lang="en-US" b="1" dirty="0"/>
              <a:t>🧠 File Organization: Database </a:t>
            </a:r>
            <a:r>
              <a:rPr lang="as-IN" b="1" dirty="0"/>
              <a:t>কীভাবে </a:t>
            </a:r>
            <a:r>
              <a:rPr lang="en-US" b="1" dirty="0"/>
              <a:t>disk-</a:t>
            </a:r>
            <a:r>
              <a:rPr lang="as-IN" b="1" dirty="0"/>
              <a:t>এ রাখা হয়?</a:t>
            </a:r>
          </a:p>
          <a:p>
            <a:r>
              <a:rPr lang="en-US" b="1" dirty="0"/>
              <a:t>🔹 Database → Files → Records → Fields</a:t>
            </a:r>
            <a:endParaRPr lang="en-US" b="1" dirty="0">
              <a:effectLst/>
            </a:endParaRPr>
          </a:p>
        </p:txBody>
      </p:sp>
      <p:graphicFrame>
        <p:nvGraphicFramePr>
          <p:cNvPr id="3" name="Table 2"/>
          <p:cNvGraphicFramePr>
            <a:graphicFrameLocks noGrp="1"/>
          </p:cNvGraphicFramePr>
          <p:nvPr>
            <p:extLst>
              <p:ext uri="{D42A27DB-BD31-4B8C-83A1-F6EECF244321}">
                <p14:modId xmlns:p14="http://schemas.microsoft.com/office/powerpoint/2010/main" val="3412501262"/>
              </p:ext>
            </p:extLst>
          </p:nvPr>
        </p:nvGraphicFramePr>
        <p:xfrm>
          <a:off x="791308" y="821825"/>
          <a:ext cx="7661274" cy="1451088"/>
        </p:xfrm>
        <a:graphic>
          <a:graphicData uri="http://schemas.openxmlformats.org/drawingml/2006/table">
            <a:tbl>
              <a:tblPr>
                <a:tableStyleId>{284E427A-3D55-4303-BF80-6455036E1DE7}</a:tableStyleId>
              </a:tblPr>
              <a:tblGrid>
                <a:gridCol w="3830637">
                  <a:extLst>
                    <a:ext uri="{9D8B030D-6E8A-4147-A177-3AD203B41FA5}">
                      <a16:colId xmlns:a16="http://schemas.microsoft.com/office/drawing/2014/main" val="113074169"/>
                    </a:ext>
                  </a:extLst>
                </a:gridCol>
                <a:gridCol w="3830637">
                  <a:extLst>
                    <a:ext uri="{9D8B030D-6E8A-4147-A177-3AD203B41FA5}">
                      <a16:colId xmlns:a16="http://schemas.microsoft.com/office/drawing/2014/main" val="775072790"/>
                    </a:ext>
                  </a:extLst>
                </a:gridCol>
              </a:tblGrid>
              <a:tr h="177701">
                <a:tc>
                  <a:txBody>
                    <a:bodyPr/>
                    <a:lstStyle/>
                    <a:p>
                      <a:r>
                        <a:rPr lang="as-IN" sz="1100" dirty="0">
                          <a:effectLst/>
                        </a:rPr>
                        <a:t>স্তর</a:t>
                      </a:r>
                    </a:p>
                  </a:txBody>
                  <a:tcPr anchor="ctr"/>
                </a:tc>
                <a:tc>
                  <a:txBody>
                    <a:bodyPr/>
                    <a:lstStyle/>
                    <a:p>
                      <a:r>
                        <a:rPr lang="as-IN" sz="1100">
                          <a:effectLst/>
                        </a:rPr>
                        <a:t>ব্যাখ্যা</a:t>
                      </a:r>
                    </a:p>
                  </a:txBody>
                  <a:tcPr anchor="ctr"/>
                </a:tc>
                <a:extLst>
                  <a:ext uri="{0D108BD9-81ED-4DB2-BD59-A6C34878D82A}">
                    <a16:rowId xmlns:a16="http://schemas.microsoft.com/office/drawing/2014/main" val="4118388471"/>
                  </a:ext>
                </a:extLst>
              </a:tr>
              <a:tr h="310976">
                <a:tc>
                  <a:txBody>
                    <a:bodyPr/>
                    <a:lstStyle/>
                    <a:p>
                      <a:r>
                        <a:rPr lang="en-US" sz="1100" dirty="0">
                          <a:effectLst/>
                        </a:rPr>
                        <a:t>Database</a:t>
                      </a:r>
                    </a:p>
                  </a:txBody>
                  <a:tcPr anchor="ctr"/>
                </a:tc>
                <a:tc>
                  <a:txBody>
                    <a:bodyPr/>
                    <a:lstStyle/>
                    <a:p>
                      <a:r>
                        <a:rPr lang="as-IN" sz="1100">
                          <a:effectLst/>
                        </a:rPr>
                        <a:t>অনেকগুলো </a:t>
                      </a:r>
                      <a:r>
                        <a:rPr lang="en-US" sz="1100">
                          <a:effectLst/>
                        </a:rPr>
                        <a:t>relation/table </a:t>
                      </a:r>
                      <a:r>
                        <a:rPr lang="as-IN" sz="1100">
                          <a:effectLst/>
                        </a:rPr>
                        <a:t>নিয়ে গঠিত</a:t>
                      </a:r>
                    </a:p>
                  </a:txBody>
                  <a:tcPr anchor="ctr"/>
                </a:tc>
                <a:extLst>
                  <a:ext uri="{0D108BD9-81ED-4DB2-BD59-A6C34878D82A}">
                    <a16:rowId xmlns:a16="http://schemas.microsoft.com/office/drawing/2014/main" val="955848310"/>
                  </a:ext>
                </a:extLst>
              </a:tr>
              <a:tr h="177701">
                <a:tc>
                  <a:txBody>
                    <a:bodyPr/>
                    <a:lstStyle/>
                    <a:p>
                      <a:r>
                        <a:rPr lang="en-US" sz="1100" dirty="0">
                          <a:effectLst/>
                        </a:rPr>
                        <a:t>File</a:t>
                      </a:r>
                    </a:p>
                  </a:txBody>
                  <a:tcPr anchor="ctr"/>
                </a:tc>
                <a:tc>
                  <a:txBody>
                    <a:bodyPr/>
                    <a:lstStyle/>
                    <a:p>
                      <a:r>
                        <a:rPr lang="as-IN" sz="1100">
                          <a:effectLst/>
                        </a:rPr>
                        <a:t>প্রতিটি </a:t>
                      </a:r>
                      <a:r>
                        <a:rPr lang="en-US" sz="1100">
                          <a:effectLst/>
                        </a:rPr>
                        <a:t>relation/table → </a:t>
                      </a:r>
                      <a:r>
                        <a:rPr lang="as-IN" sz="1100">
                          <a:effectLst/>
                        </a:rPr>
                        <a:t>আলাদা </a:t>
                      </a:r>
                      <a:r>
                        <a:rPr lang="en-US" sz="1100">
                          <a:effectLst/>
                        </a:rPr>
                        <a:t>file</a:t>
                      </a:r>
                    </a:p>
                  </a:txBody>
                  <a:tcPr anchor="ctr"/>
                </a:tc>
                <a:extLst>
                  <a:ext uri="{0D108BD9-81ED-4DB2-BD59-A6C34878D82A}">
                    <a16:rowId xmlns:a16="http://schemas.microsoft.com/office/drawing/2014/main" val="3814831611"/>
                  </a:ext>
                </a:extLst>
              </a:tr>
              <a:tr h="310976">
                <a:tc>
                  <a:txBody>
                    <a:bodyPr/>
                    <a:lstStyle/>
                    <a:p>
                      <a:r>
                        <a:rPr lang="en-US" sz="1100" dirty="0">
                          <a:effectLst/>
                        </a:rPr>
                        <a:t>Record</a:t>
                      </a:r>
                    </a:p>
                  </a:txBody>
                  <a:tcPr anchor="ctr"/>
                </a:tc>
                <a:tc>
                  <a:txBody>
                    <a:bodyPr/>
                    <a:lstStyle/>
                    <a:p>
                      <a:r>
                        <a:rPr lang="as-IN" sz="1100">
                          <a:effectLst/>
                        </a:rPr>
                        <a:t>প্রতিটি </a:t>
                      </a:r>
                      <a:r>
                        <a:rPr lang="en-US" sz="1100">
                          <a:effectLst/>
                        </a:rPr>
                        <a:t>file → </a:t>
                      </a:r>
                      <a:r>
                        <a:rPr lang="as-IN" sz="1100">
                          <a:effectLst/>
                        </a:rPr>
                        <a:t>অনেকগুলো </a:t>
                      </a:r>
                      <a:r>
                        <a:rPr lang="en-US" sz="1100">
                          <a:effectLst/>
                        </a:rPr>
                        <a:t>record (row)</a:t>
                      </a:r>
                    </a:p>
                  </a:txBody>
                  <a:tcPr anchor="ctr"/>
                </a:tc>
                <a:extLst>
                  <a:ext uri="{0D108BD9-81ED-4DB2-BD59-A6C34878D82A}">
                    <a16:rowId xmlns:a16="http://schemas.microsoft.com/office/drawing/2014/main" val="750132918"/>
                  </a:ext>
                </a:extLst>
              </a:tr>
              <a:tr h="310976">
                <a:tc>
                  <a:txBody>
                    <a:bodyPr/>
                    <a:lstStyle/>
                    <a:p>
                      <a:r>
                        <a:rPr lang="en-US" sz="1100" dirty="0">
                          <a:effectLst/>
                        </a:rPr>
                        <a:t>Field</a:t>
                      </a:r>
                    </a:p>
                  </a:txBody>
                  <a:tcPr anchor="ctr"/>
                </a:tc>
                <a:tc>
                  <a:txBody>
                    <a:bodyPr/>
                    <a:lstStyle/>
                    <a:p>
                      <a:r>
                        <a:rPr lang="as-IN" sz="1100" dirty="0">
                          <a:effectLst/>
                        </a:rPr>
                        <a:t>প্রতিটি </a:t>
                      </a:r>
                      <a:r>
                        <a:rPr lang="en-US" sz="1100" dirty="0">
                          <a:effectLst/>
                        </a:rPr>
                        <a:t>record → </a:t>
                      </a:r>
                      <a:r>
                        <a:rPr lang="as-IN" sz="1100" dirty="0">
                          <a:effectLst/>
                        </a:rPr>
                        <a:t>অনেকগুলো </a:t>
                      </a:r>
                      <a:r>
                        <a:rPr lang="en-US" sz="1100" dirty="0">
                          <a:effectLst/>
                        </a:rPr>
                        <a:t>field (column)</a:t>
                      </a:r>
                    </a:p>
                  </a:txBody>
                  <a:tcPr anchor="ctr"/>
                </a:tc>
                <a:extLst>
                  <a:ext uri="{0D108BD9-81ED-4DB2-BD59-A6C34878D82A}">
                    <a16:rowId xmlns:a16="http://schemas.microsoft.com/office/drawing/2014/main" val="1456680624"/>
                  </a:ext>
                </a:extLst>
              </a:tr>
            </a:tbl>
          </a:graphicData>
        </a:graphic>
      </p:graphicFrame>
      <p:sp>
        <p:nvSpPr>
          <p:cNvPr id="4" name="Rectangle 3"/>
          <p:cNvSpPr/>
          <p:nvPr/>
        </p:nvSpPr>
        <p:spPr>
          <a:xfrm>
            <a:off x="219808" y="2388991"/>
            <a:ext cx="8924192" cy="2123658"/>
          </a:xfrm>
          <a:prstGeom prst="rect">
            <a:avLst/>
          </a:prstGeom>
        </p:spPr>
        <p:txBody>
          <a:bodyPr wrap="square">
            <a:spAutoFit/>
          </a:bodyPr>
          <a:lstStyle/>
          <a:p>
            <a:r>
              <a:rPr lang="en-US" sz="1100" dirty="0"/>
              <a:t>👉 </a:t>
            </a:r>
            <a:r>
              <a:rPr lang="as-IN" sz="1100" dirty="0"/>
              <a:t>ধরো তুই একটা "</a:t>
            </a:r>
            <a:r>
              <a:rPr lang="en-US" sz="1100" dirty="0"/>
              <a:t>instructor" table </a:t>
            </a:r>
            <a:r>
              <a:rPr lang="as-IN" sz="1100" dirty="0"/>
              <a:t>রাখছো → সেটা একটা </a:t>
            </a:r>
            <a:r>
              <a:rPr lang="en-US" sz="1100" dirty="0"/>
              <a:t>file → </a:t>
            </a:r>
            <a:r>
              <a:rPr lang="as-IN" sz="1100" dirty="0"/>
              <a:t>প্রতিটি </a:t>
            </a:r>
            <a:r>
              <a:rPr lang="en-US" sz="1100" dirty="0"/>
              <a:t>row = record, </a:t>
            </a:r>
            <a:r>
              <a:rPr lang="as-IN" sz="1100" dirty="0"/>
              <a:t>প্রতিটি </a:t>
            </a:r>
            <a:r>
              <a:rPr lang="en-US" sz="1100" dirty="0"/>
              <a:t>column = field</a:t>
            </a:r>
          </a:p>
          <a:p>
            <a:r>
              <a:rPr lang="en-US" sz="1100" b="1" dirty="0"/>
              <a:t>🔹 Fixed-Length Record Assumption</a:t>
            </a:r>
          </a:p>
          <a:p>
            <a:r>
              <a:rPr lang="as-IN" sz="1100" dirty="0"/>
              <a:t>এই স্লাইডে বলা হয়েছে:</a:t>
            </a:r>
          </a:p>
          <a:p>
            <a:pPr>
              <a:buFont typeface="Arial" panose="020B0604020202020204" pitchFamily="34" charset="0"/>
              <a:buChar char="•"/>
            </a:pPr>
            <a:r>
              <a:rPr lang="as-IN" sz="1100" dirty="0"/>
              <a:t>প্রতিটি </a:t>
            </a:r>
            <a:r>
              <a:rPr lang="en-US" sz="1100" dirty="0"/>
              <a:t>record-</a:t>
            </a:r>
            <a:r>
              <a:rPr lang="as-IN" sz="1100" dirty="0"/>
              <a:t>এর </a:t>
            </a:r>
            <a:r>
              <a:rPr lang="en-US" sz="1100" dirty="0"/>
              <a:t>size fixed</a:t>
            </a:r>
          </a:p>
          <a:p>
            <a:pPr>
              <a:buFont typeface="Arial" panose="020B0604020202020204" pitchFamily="34" charset="0"/>
              <a:buChar char="•"/>
            </a:pPr>
            <a:r>
              <a:rPr lang="as-IN" sz="1100" dirty="0"/>
              <a:t>প্রতিটি </a:t>
            </a:r>
            <a:r>
              <a:rPr lang="en-US" sz="1100" dirty="0"/>
              <a:t>file-</a:t>
            </a:r>
            <a:r>
              <a:rPr lang="as-IN" sz="1100" dirty="0"/>
              <a:t>এ এক ধরনের </a:t>
            </a:r>
            <a:r>
              <a:rPr lang="en-US" sz="1100" dirty="0"/>
              <a:t>record </a:t>
            </a:r>
            <a:r>
              <a:rPr lang="as-IN" sz="1100" dirty="0"/>
              <a:t>থাকে</a:t>
            </a:r>
          </a:p>
          <a:p>
            <a:pPr>
              <a:buFont typeface="Arial" panose="020B0604020202020204" pitchFamily="34" charset="0"/>
              <a:buChar char="•"/>
            </a:pPr>
            <a:r>
              <a:rPr lang="en-US" sz="1100" dirty="0"/>
              <a:t>Variable-length later </a:t>
            </a:r>
            <a:r>
              <a:rPr lang="as-IN" sz="1100" dirty="0"/>
              <a:t>আসবে</a:t>
            </a:r>
          </a:p>
          <a:p>
            <a:r>
              <a:rPr lang="en-US" sz="1100" dirty="0"/>
              <a:t>👉 </a:t>
            </a:r>
            <a:r>
              <a:rPr lang="as-IN" sz="1100" dirty="0"/>
              <a:t>এতে </a:t>
            </a:r>
            <a:r>
              <a:rPr lang="en-US" sz="1100" dirty="0"/>
              <a:t>implementation </a:t>
            </a:r>
            <a:r>
              <a:rPr lang="as-IN" sz="1100" dirty="0"/>
              <a:t>সহজ হয় — </a:t>
            </a:r>
            <a:r>
              <a:rPr lang="en-US" sz="1100" dirty="0"/>
              <a:t>indexing, block allocation predictable </a:t>
            </a:r>
            <a:r>
              <a:rPr lang="as-IN" sz="1100" dirty="0"/>
              <a:t>হয়</a:t>
            </a:r>
          </a:p>
          <a:p>
            <a:r>
              <a:rPr lang="en-US" sz="1100" b="1" dirty="0"/>
              <a:t>🔹 Record Size &lt; Disk Block Size</a:t>
            </a:r>
          </a:p>
          <a:p>
            <a:pPr>
              <a:buFont typeface="Arial" panose="020B0604020202020204" pitchFamily="34" charset="0"/>
              <a:buChar char="•"/>
            </a:pPr>
            <a:r>
              <a:rPr lang="as-IN" sz="1100" dirty="0"/>
              <a:t>প্রতিটি </a:t>
            </a:r>
            <a:r>
              <a:rPr lang="en-US" sz="1100" dirty="0"/>
              <a:t>disk block </a:t>
            </a:r>
            <a:r>
              <a:rPr lang="as-IN" sz="1100" dirty="0"/>
              <a:t>অনেক </a:t>
            </a:r>
            <a:r>
              <a:rPr lang="en-US" sz="1100" dirty="0"/>
              <a:t>byte </a:t>
            </a:r>
            <a:r>
              <a:rPr lang="as-IN" sz="1100" dirty="0"/>
              <a:t>ধারণ করতে পারে (</a:t>
            </a:r>
            <a:r>
              <a:rPr lang="en-US" sz="1100" dirty="0"/>
              <a:t>e.g. 4KB)</a:t>
            </a:r>
          </a:p>
          <a:p>
            <a:pPr>
              <a:buFont typeface="Arial" panose="020B0604020202020204" pitchFamily="34" charset="0"/>
              <a:buChar char="•"/>
            </a:pPr>
            <a:r>
              <a:rPr lang="as-IN" sz="1100" dirty="0"/>
              <a:t>এক </a:t>
            </a:r>
            <a:r>
              <a:rPr lang="en-US" sz="1100" dirty="0"/>
              <a:t>block-</a:t>
            </a:r>
            <a:r>
              <a:rPr lang="as-IN" sz="1100" dirty="0"/>
              <a:t>এ একাধিক </a:t>
            </a:r>
            <a:r>
              <a:rPr lang="en-US" sz="1100" dirty="0"/>
              <a:t>record </a:t>
            </a:r>
            <a:r>
              <a:rPr lang="as-IN" sz="1100" dirty="0"/>
              <a:t>রাখা যায়</a:t>
            </a:r>
          </a:p>
          <a:p>
            <a:pPr>
              <a:buFont typeface="Arial" panose="020B0604020202020204" pitchFamily="34" charset="0"/>
              <a:buChar char="•"/>
            </a:pPr>
            <a:r>
              <a:rPr lang="en-US" sz="1100" dirty="0"/>
              <a:t>Faster access → </a:t>
            </a:r>
            <a:r>
              <a:rPr lang="as-IN" sz="1100" dirty="0"/>
              <a:t>একবারে অনেক </a:t>
            </a:r>
            <a:r>
              <a:rPr lang="en-US" sz="1100" dirty="0"/>
              <a:t>record read </a:t>
            </a:r>
            <a:r>
              <a:rPr lang="as-IN" sz="1100" dirty="0"/>
              <a:t>করা যায়</a:t>
            </a:r>
          </a:p>
          <a:p>
            <a:r>
              <a:rPr lang="en-US" sz="1100" b="1" dirty="0"/>
              <a:t>🔸 </a:t>
            </a:r>
            <a:r>
              <a:rPr lang="as-IN" sz="1100" b="1" dirty="0"/>
              <a:t>উদাহরণ: </a:t>
            </a:r>
            <a:r>
              <a:rPr lang="en-US" sz="1100" b="1" dirty="0"/>
              <a:t>Instructor Record</a:t>
            </a:r>
            <a:endParaRPr lang="en-US" sz="1100" b="1" dirty="0">
              <a:effectLst/>
            </a:endParaRPr>
          </a:p>
        </p:txBody>
      </p:sp>
      <p:sp>
        <p:nvSpPr>
          <p:cNvPr id="5" name="Rectangle 4"/>
          <p:cNvSpPr/>
          <p:nvPr/>
        </p:nvSpPr>
        <p:spPr>
          <a:xfrm>
            <a:off x="-65942" y="4574204"/>
            <a:ext cx="4572000" cy="1569660"/>
          </a:xfrm>
          <a:prstGeom prst="rect">
            <a:avLst/>
          </a:prstGeom>
        </p:spPr>
        <p:txBody>
          <a:bodyPr>
            <a:spAutoFit/>
          </a:bodyPr>
          <a:lstStyle/>
          <a:p>
            <a:r>
              <a:rPr lang="en-US" dirty="0"/>
              <a:t>type instructor = record</a:t>
            </a:r>
          </a:p>
          <a:p>
            <a:r>
              <a:rPr lang="en-US" dirty="0"/>
              <a:t>    ID varchar(5);</a:t>
            </a:r>
          </a:p>
          <a:p>
            <a:r>
              <a:rPr lang="en-US" dirty="0"/>
              <a:t>    name varchar(20);</a:t>
            </a:r>
          </a:p>
          <a:p>
            <a:r>
              <a:rPr lang="en-US" dirty="0"/>
              <a:t>    </a:t>
            </a:r>
            <a:r>
              <a:rPr lang="en-US" dirty="0" err="1"/>
              <a:t>dept_name</a:t>
            </a:r>
            <a:r>
              <a:rPr lang="en-US" dirty="0"/>
              <a:t> varchar(20);</a:t>
            </a:r>
          </a:p>
          <a:p>
            <a:r>
              <a:rPr lang="en-US" dirty="0"/>
              <a:t>    salary numeric(8,2);</a:t>
            </a:r>
          </a:p>
          <a:p>
            <a:r>
              <a:rPr lang="en-US" dirty="0"/>
              <a:t>end</a:t>
            </a:r>
          </a:p>
        </p:txBody>
      </p:sp>
      <p:sp>
        <p:nvSpPr>
          <p:cNvPr id="6" name="Rectangle 5"/>
          <p:cNvSpPr/>
          <p:nvPr/>
        </p:nvSpPr>
        <p:spPr>
          <a:xfrm>
            <a:off x="3059724" y="4451093"/>
            <a:ext cx="5794130" cy="1569660"/>
          </a:xfrm>
          <a:prstGeom prst="rect">
            <a:avLst/>
          </a:prstGeom>
        </p:spPr>
        <p:txBody>
          <a:bodyPr wrap="square">
            <a:spAutoFit/>
          </a:bodyPr>
          <a:lstStyle/>
          <a:p>
            <a:r>
              <a:rPr lang="en-US" dirty="0"/>
              <a:t>👉 </a:t>
            </a:r>
            <a:r>
              <a:rPr lang="as-IN" dirty="0"/>
              <a:t>এখানে:</a:t>
            </a:r>
          </a:p>
          <a:p>
            <a:pPr>
              <a:buFont typeface="Arial" panose="020B0604020202020204" pitchFamily="34" charset="0"/>
              <a:buChar char="•"/>
            </a:pPr>
            <a:r>
              <a:rPr lang="en-US" b="1" dirty="0"/>
              <a:t>ID</a:t>
            </a:r>
            <a:r>
              <a:rPr lang="en-US" dirty="0"/>
              <a:t> → 5 character</a:t>
            </a:r>
          </a:p>
          <a:p>
            <a:pPr>
              <a:buFont typeface="Arial" panose="020B0604020202020204" pitchFamily="34" charset="0"/>
              <a:buChar char="•"/>
            </a:pPr>
            <a:r>
              <a:rPr lang="en-US" b="1" dirty="0"/>
              <a:t>name</a:t>
            </a:r>
            <a:r>
              <a:rPr lang="en-US" dirty="0"/>
              <a:t> → 20 character</a:t>
            </a:r>
          </a:p>
          <a:p>
            <a:pPr>
              <a:buFont typeface="Arial" panose="020B0604020202020204" pitchFamily="34" charset="0"/>
              <a:buChar char="•"/>
            </a:pPr>
            <a:r>
              <a:rPr lang="en-US" b="1" dirty="0" err="1"/>
              <a:t>dept_name</a:t>
            </a:r>
            <a:r>
              <a:rPr lang="en-US" dirty="0"/>
              <a:t> → 20 character</a:t>
            </a:r>
          </a:p>
          <a:p>
            <a:pPr>
              <a:buFont typeface="Arial" panose="020B0604020202020204" pitchFamily="34" charset="0"/>
              <a:buChar char="•"/>
            </a:pPr>
            <a:r>
              <a:rPr lang="en-US" b="1" dirty="0"/>
              <a:t>salary</a:t>
            </a:r>
            <a:r>
              <a:rPr lang="en-US" dirty="0"/>
              <a:t> → 8 digit + 2 decimal</a:t>
            </a:r>
          </a:p>
          <a:p>
            <a:r>
              <a:rPr lang="en-US" dirty="0"/>
              <a:t>→ </a:t>
            </a:r>
            <a:r>
              <a:rPr lang="as-IN" dirty="0"/>
              <a:t>সব মিলিয়ে </a:t>
            </a:r>
            <a:r>
              <a:rPr lang="en-US" dirty="0"/>
              <a:t>fixed size record → easier to store and retrieve</a:t>
            </a:r>
            <a:endParaRPr lang="en-US" dirty="0">
              <a:effectLst/>
            </a:endParaRPr>
          </a:p>
        </p:txBody>
      </p:sp>
    </p:spTree>
    <p:extLst>
      <p:ext uri="{BB962C8B-B14F-4D97-AF65-F5344CB8AC3E}">
        <p14:creationId xmlns:p14="http://schemas.microsoft.com/office/powerpoint/2010/main" val="3969160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a:extLst>
              <a:ext uri="{FF2B5EF4-FFF2-40B4-BE49-F238E27FC236}">
                <a16:creationId xmlns:a16="http://schemas.microsoft.com/office/drawing/2014/main" id="{A40D8FBD-C4B3-47AD-8320-48C6E70CFBAB}"/>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File Organization</a:t>
            </a:r>
          </a:p>
        </p:txBody>
      </p:sp>
      <p:sp>
        <p:nvSpPr>
          <p:cNvPr id="3" name="Content Placeholder 2"/>
          <p:cNvSpPr>
            <a:spLocks noGrp="1"/>
          </p:cNvSpPr>
          <p:nvPr>
            <p:ph idx="1"/>
          </p:nvPr>
        </p:nvSpPr>
        <p:spPr/>
        <p:txBody>
          <a:bodyPr/>
          <a:lstStyle/>
          <a:p>
            <a:r>
              <a:rPr lang="en-US" dirty="0"/>
              <a:t>However, there are two problems with this simple approach: </a:t>
            </a:r>
            <a:endParaRPr lang="en-US" dirty="0" smtClean="0"/>
          </a:p>
          <a:p>
            <a:r>
              <a:rPr lang="en-US" dirty="0" smtClean="0"/>
              <a:t>1</a:t>
            </a:r>
            <a:r>
              <a:rPr lang="en-US" dirty="0"/>
              <a:t>. Unless the block size happens to be a multiple of 53 (which is unlikely), some records will cross block boundaries. That is, part of the record will be stored in one block and part in another. It would thus require two block accesses to read or write such a record. </a:t>
            </a:r>
            <a:endParaRPr lang="en-US" dirty="0" smtClean="0"/>
          </a:p>
          <a:p>
            <a:r>
              <a:rPr lang="en-US" dirty="0" smtClean="0"/>
              <a:t>2</a:t>
            </a:r>
            <a:r>
              <a:rPr lang="en-US" dirty="0"/>
              <a:t>. It is difficult to delete a record from this structure. The space occupied by the record to be deleted must be filled with some other record of the file, or we must have a way of marking deleted records so that they can be ignored</a:t>
            </a:r>
          </a:p>
        </p:txBody>
      </p:sp>
    </p:spTree>
    <p:extLst>
      <p:ext uri="{BB962C8B-B14F-4D97-AF65-F5344CB8AC3E}">
        <p14:creationId xmlns:p14="http://schemas.microsoft.com/office/powerpoint/2010/main" val="30014508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5607" y="76816"/>
            <a:ext cx="8106507" cy="1077218"/>
          </a:xfrm>
          <a:prstGeom prst="rect">
            <a:avLst/>
          </a:prstGeom>
        </p:spPr>
        <p:txBody>
          <a:bodyPr wrap="square">
            <a:spAutoFit/>
          </a:bodyPr>
          <a:lstStyle/>
          <a:p>
            <a:r>
              <a:rPr lang="en-US" b="1" dirty="0"/>
              <a:t>Simple File Organization-</a:t>
            </a:r>
            <a:r>
              <a:rPr lang="as-IN" b="1" dirty="0"/>
              <a:t>এর দুইটা বড় সমস্যা</a:t>
            </a:r>
          </a:p>
          <a:p>
            <a:r>
              <a:rPr lang="as-IN" dirty="0"/>
              <a:t>এই স্লাইডে বলা হয়েছে: যদি আমরা </a:t>
            </a:r>
            <a:r>
              <a:rPr lang="en-US" dirty="0"/>
              <a:t>fixed-size record </a:t>
            </a:r>
            <a:r>
              <a:rPr lang="as-IN" dirty="0"/>
              <a:t>ধরে </a:t>
            </a:r>
            <a:r>
              <a:rPr lang="en-US" dirty="0"/>
              <a:t>simple sequential allocation </a:t>
            </a:r>
            <a:r>
              <a:rPr lang="as-IN" dirty="0"/>
              <a:t>করি, তাহলে দুইটা সমস্যা দেখা দেয় —</a:t>
            </a:r>
          </a:p>
          <a:p>
            <a:r>
              <a:rPr lang="en-US" b="1" dirty="0"/>
              <a:t>🔹 Problem 1: Record crosses block boundary</a:t>
            </a:r>
            <a:endParaRPr lang="en-US" b="1" dirty="0">
              <a:effectLst/>
            </a:endParaRPr>
          </a:p>
        </p:txBody>
      </p:sp>
      <p:graphicFrame>
        <p:nvGraphicFramePr>
          <p:cNvPr id="3" name="Table 2"/>
          <p:cNvGraphicFramePr>
            <a:graphicFrameLocks noGrp="1"/>
          </p:cNvGraphicFramePr>
          <p:nvPr>
            <p:extLst>
              <p:ext uri="{D42A27DB-BD31-4B8C-83A1-F6EECF244321}">
                <p14:modId xmlns:p14="http://schemas.microsoft.com/office/powerpoint/2010/main" val="3354780068"/>
              </p:ext>
            </p:extLst>
          </p:nvPr>
        </p:nvGraphicFramePr>
        <p:xfrm>
          <a:off x="691296" y="1154034"/>
          <a:ext cx="7661274" cy="1677190"/>
        </p:xfrm>
        <a:graphic>
          <a:graphicData uri="http://schemas.openxmlformats.org/drawingml/2006/table">
            <a:tbl>
              <a:tblPr>
                <a:tableStyleId>{775DCB02-9BB8-47FD-8907-85C794F793BA}</a:tableStyleId>
              </a:tblPr>
              <a:tblGrid>
                <a:gridCol w="3830637">
                  <a:extLst>
                    <a:ext uri="{9D8B030D-6E8A-4147-A177-3AD203B41FA5}">
                      <a16:colId xmlns:a16="http://schemas.microsoft.com/office/drawing/2014/main" val="2714640649"/>
                    </a:ext>
                  </a:extLst>
                </a:gridCol>
                <a:gridCol w="3830637">
                  <a:extLst>
                    <a:ext uri="{9D8B030D-6E8A-4147-A177-3AD203B41FA5}">
                      <a16:colId xmlns:a16="http://schemas.microsoft.com/office/drawing/2014/main" val="1809867597"/>
                    </a:ext>
                  </a:extLst>
                </a:gridCol>
              </a:tblGrid>
              <a:tr h="209232">
                <a:tc>
                  <a:txBody>
                    <a:bodyPr/>
                    <a:lstStyle/>
                    <a:p>
                      <a:r>
                        <a:rPr lang="as-IN" sz="1100" dirty="0">
                          <a:effectLst/>
                        </a:rPr>
                        <a:t>বিষয়</a:t>
                      </a:r>
                    </a:p>
                  </a:txBody>
                  <a:tcPr anchor="ctr"/>
                </a:tc>
                <a:tc>
                  <a:txBody>
                    <a:bodyPr/>
                    <a:lstStyle/>
                    <a:p>
                      <a:r>
                        <a:rPr lang="as-IN" sz="1100">
                          <a:effectLst/>
                        </a:rPr>
                        <a:t>ব্যাখ্যা</a:t>
                      </a:r>
                    </a:p>
                  </a:txBody>
                  <a:tcPr anchor="ctr"/>
                </a:tc>
                <a:extLst>
                  <a:ext uri="{0D108BD9-81ED-4DB2-BD59-A6C34878D82A}">
                    <a16:rowId xmlns:a16="http://schemas.microsoft.com/office/drawing/2014/main" val="773115866"/>
                  </a:ext>
                </a:extLst>
              </a:tr>
              <a:tr h="209232">
                <a:tc>
                  <a:txBody>
                    <a:bodyPr/>
                    <a:lstStyle/>
                    <a:p>
                      <a:r>
                        <a:rPr lang="en-US" sz="1100" dirty="0">
                          <a:effectLst/>
                        </a:rPr>
                        <a:t>Record size = 53 bytes</a:t>
                      </a:r>
                    </a:p>
                  </a:txBody>
                  <a:tcPr anchor="ctr"/>
                </a:tc>
                <a:tc>
                  <a:txBody>
                    <a:bodyPr/>
                    <a:lstStyle/>
                    <a:p>
                      <a:r>
                        <a:rPr lang="en-US" sz="1100">
                          <a:effectLst/>
                        </a:rPr>
                        <a:t>ধরো block size = 512 bytes</a:t>
                      </a:r>
                    </a:p>
                  </a:txBody>
                  <a:tcPr anchor="ctr"/>
                </a:tc>
                <a:extLst>
                  <a:ext uri="{0D108BD9-81ED-4DB2-BD59-A6C34878D82A}">
                    <a16:rowId xmlns:a16="http://schemas.microsoft.com/office/drawing/2014/main" val="168603293"/>
                  </a:ext>
                </a:extLst>
              </a:tr>
              <a:tr h="366155">
                <a:tc>
                  <a:txBody>
                    <a:bodyPr/>
                    <a:lstStyle/>
                    <a:p>
                      <a:r>
                        <a:rPr lang="en-US" sz="1100" dirty="0">
                          <a:effectLst/>
                        </a:rPr>
                        <a:t>512 divisible by 53 </a:t>
                      </a:r>
                      <a:r>
                        <a:rPr lang="as-IN" sz="1100" dirty="0">
                          <a:effectLst/>
                        </a:rPr>
                        <a:t>নয় → কিছু </a:t>
                      </a:r>
                      <a:r>
                        <a:rPr lang="en-US" sz="1100" dirty="0">
                          <a:effectLst/>
                        </a:rPr>
                        <a:t>record block-</a:t>
                      </a:r>
                      <a:r>
                        <a:rPr lang="as-IN" sz="1100" dirty="0">
                          <a:effectLst/>
                        </a:rPr>
                        <a:t>এর মাঝখানে ভেঙে যায়</a:t>
                      </a:r>
                    </a:p>
                  </a:txBody>
                  <a:tcPr anchor="ctr"/>
                </a:tc>
                <a:tc>
                  <a:txBody>
                    <a:bodyPr/>
                    <a:lstStyle/>
                    <a:p>
                      <a:endParaRPr lang="en-US" sz="1100"/>
                    </a:p>
                  </a:txBody>
                  <a:tcPr/>
                </a:tc>
                <a:extLst>
                  <a:ext uri="{0D108BD9-81ED-4DB2-BD59-A6C34878D82A}">
                    <a16:rowId xmlns:a16="http://schemas.microsoft.com/office/drawing/2014/main" val="1389557637"/>
                  </a:ext>
                </a:extLst>
              </a:tr>
              <a:tr h="366155">
                <a:tc>
                  <a:txBody>
                    <a:bodyPr/>
                    <a:lstStyle/>
                    <a:p>
                      <a:r>
                        <a:rPr lang="as-IN" sz="1100" dirty="0">
                          <a:effectLst/>
                        </a:rPr>
                        <a:t>ফলে</a:t>
                      </a:r>
                    </a:p>
                  </a:txBody>
                  <a:tcPr anchor="ctr"/>
                </a:tc>
                <a:tc>
                  <a:txBody>
                    <a:bodyPr/>
                    <a:lstStyle/>
                    <a:p>
                      <a:r>
                        <a:rPr lang="as-IN" sz="1100" dirty="0">
                          <a:effectLst/>
                        </a:rPr>
                        <a:t>এক </a:t>
                      </a:r>
                      <a:r>
                        <a:rPr lang="en-US" sz="1100" dirty="0">
                          <a:effectLst/>
                        </a:rPr>
                        <a:t>record </a:t>
                      </a:r>
                      <a:r>
                        <a:rPr lang="as-IN" sz="1100" dirty="0">
                          <a:effectLst/>
                        </a:rPr>
                        <a:t>পড়তে গেলে দুইটা </a:t>
                      </a:r>
                      <a:r>
                        <a:rPr lang="en-US" sz="1100" dirty="0">
                          <a:effectLst/>
                        </a:rPr>
                        <a:t>block access </a:t>
                      </a:r>
                      <a:r>
                        <a:rPr lang="as-IN" sz="1100" dirty="0">
                          <a:effectLst/>
                        </a:rPr>
                        <a:t>করতে হয়</a:t>
                      </a:r>
                    </a:p>
                  </a:txBody>
                  <a:tcPr anchor="ctr"/>
                </a:tc>
                <a:extLst>
                  <a:ext uri="{0D108BD9-81ED-4DB2-BD59-A6C34878D82A}">
                    <a16:rowId xmlns:a16="http://schemas.microsoft.com/office/drawing/2014/main" val="4076177842"/>
                  </a:ext>
                </a:extLst>
              </a:tr>
              <a:tr h="366155">
                <a:tc>
                  <a:txBody>
                    <a:bodyPr/>
                    <a:lstStyle/>
                    <a:p>
                      <a:r>
                        <a:rPr lang="en-US" sz="1100">
                          <a:effectLst/>
                        </a:rPr>
                        <a:t>Impact</a:t>
                      </a:r>
                    </a:p>
                  </a:txBody>
                  <a:tcPr anchor="ctr"/>
                </a:tc>
                <a:tc>
                  <a:txBody>
                    <a:bodyPr/>
                    <a:lstStyle/>
                    <a:p>
                      <a:r>
                        <a:rPr lang="en-US" sz="1100" dirty="0">
                          <a:effectLst/>
                        </a:rPr>
                        <a:t>Performance degrade — latency </a:t>
                      </a:r>
                      <a:r>
                        <a:rPr lang="en-US" sz="1100" dirty="0" err="1">
                          <a:effectLst/>
                        </a:rPr>
                        <a:t>বেড়ে</a:t>
                      </a:r>
                      <a:r>
                        <a:rPr lang="en-US" sz="1100" dirty="0">
                          <a:effectLst/>
                        </a:rPr>
                        <a:t> </a:t>
                      </a:r>
                      <a:r>
                        <a:rPr lang="en-US" sz="1100" dirty="0" err="1">
                          <a:effectLst/>
                        </a:rPr>
                        <a:t>যায়</a:t>
                      </a:r>
                      <a:endParaRPr lang="en-US" sz="1100" dirty="0">
                        <a:effectLst/>
                      </a:endParaRPr>
                    </a:p>
                  </a:txBody>
                  <a:tcPr anchor="ctr"/>
                </a:tc>
                <a:extLst>
                  <a:ext uri="{0D108BD9-81ED-4DB2-BD59-A6C34878D82A}">
                    <a16:rowId xmlns:a16="http://schemas.microsoft.com/office/drawing/2014/main" val="3250001961"/>
                  </a:ext>
                </a:extLst>
              </a:tr>
            </a:tbl>
          </a:graphicData>
        </a:graphic>
      </p:graphicFrame>
      <p:sp>
        <p:nvSpPr>
          <p:cNvPr id="4" name="Rectangle 3"/>
          <p:cNvSpPr/>
          <p:nvPr/>
        </p:nvSpPr>
        <p:spPr>
          <a:xfrm>
            <a:off x="24667" y="3022295"/>
            <a:ext cx="8994531" cy="338554"/>
          </a:xfrm>
          <a:prstGeom prst="rect">
            <a:avLst/>
          </a:prstGeom>
        </p:spPr>
        <p:txBody>
          <a:bodyPr wrap="square">
            <a:spAutoFit/>
          </a:bodyPr>
          <a:lstStyle/>
          <a:p>
            <a:r>
              <a:rPr lang="en-US" dirty="0"/>
              <a:t>👉 </a:t>
            </a:r>
            <a:r>
              <a:rPr lang="as-IN" dirty="0"/>
              <a:t>ধরো তুই একটা বাক্য পড়ছো, কিন্তু অর্ধেক এক পৃষ্ঠায়, অর্ধেক অন্য পৃষ্ঠায় → দুইবার পৃষ্ঠা উল্টাতে হয়</a:t>
            </a:r>
            <a:endParaRPr lang="en-US" dirty="0"/>
          </a:p>
        </p:txBody>
      </p:sp>
      <p:sp>
        <p:nvSpPr>
          <p:cNvPr id="7" name="Rectangle 6"/>
          <p:cNvSpPr/>
          <p:nvPr/>
        </p:nvSpPr>
        <p:spPr>
          <a:xfrm>
            <a:off x="419920" y="3395846"/>
            <a:ext cx="3749744" cy="338554"/>
          </a:xfrm>
          <a:prstGeom prst="rect">
            <a:avLst/>
          </a:prstGeom>
        </p:spPr>
        <p:txBody>
          <a:bodyPr wrap="none">
            <a:spAutoFit/>
          </a:bodyPr>
          <a:lstStyle/>
          <a:p>
            <a:r>
              <a:rPr lang="en-US" dirty="0"/>
              <a:t>🔹 Problem 2: </a:t>
            </a:r>
            <a:r>
              <a:rPr lang="en-US" b="1" dirty="0"/>
              <a:t>Record deletion is hard</a:t>
            </a: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2058790342"/>
              </p:ext>
            </p:extLst>
          </p:nvPr>
        </p:nvGraphicFramePr>
        <p:xfrm>
          <a:off x="691295" y="3769397"/>
          <a:ext cx="7661274" cy="1371600"/>
        </p:xfrm>
        <a:graphic>
          <a:graphicData uri="http://schemas.openxmlformats.org/drawingml/2006/table">
            <a:tbl>
              <a:tblPr>
                <a:tableStyleId>{775DCB02-9BB8-47FD-8907-85C794F793BA}</a:tableStyleId>
              </a:tblPr>
              <a:tblGrid>
                <a:gridCol w="3830637">
                  <a:extLst>
                    <a:ext uri="{9D8B030D-6E8A-4147-A177-3AD203B41FA5}">
                      <a16:colId xmlns:a16="http://schemas.microsoft.com/office/drawing/2014/main" val="3023285102"/>
                    </a:ext>
                  </a:extLst>
                </a:gridCol>
                <a:gridCol w="3830637">
                  <a:extLst>
                    <a:ext uri="{9D8B030D-6E8A-4147-A177-3AD203B41FA5}">
                      <a16:colId xmlns:a16="http://schemas.microsoft.com/office/drawing/2014/main" val="2789303103"/>
                    </a:ext>
                  </a:extLst>
                </a:gridCol>
              </a:tblGrid>
              <a:tr h="365760">
                <a:tc>
                  <a:txBody>
                    <a:bodyPr/>
                    <a:lstStyle/>
                    <a:p>
                      <a:r>
                        <a:rPr lang="as-IN" sz="1800">
                          <a:effectLst/>
                        </a:rPr>
                        <a:t>বিষয়</a:t>
                      </a:r>
                    </a:p>
                  </a:txBody>
                  <a:tcPr anchor="ctr"/>
                </a:tc>
                <a:tc>
                  <a:txBody>
                    <a:bodyPr/>
                    <a:lstStyle/>
                    <a:p>
                      <a:r>
                        <a:rPr lang="as-IN" sz="1800">
                          <a:effectLst/>
                        </a:rPr>
                        <a:t>ব্যাখ্যা</a:t>
                      </a:r>
                    </a:p>
                  </a:txBody>
                  <a:tcPr anchor="ctr"/>
                </a:tc>
                <a:extLst>
                  <a:ext uri="{0D108BD9-81ED-4DB2-BD59-A6C34878D82A}">
                    <a16:rowId xmlns:a16="http://schemas.microsoft.com/office/drawing/2014/main" val="3119835991"/>
                  </a:ext>
                </a:extLst>
              </a:tr>
              <a:tr h="640080">
                <a:tc>
                  <a:txBody>
                    <a:bodyPr/>
                    <a:lstStyle/>
                    <a:p>
                      <a:r>
                        <a:rPr lang="en-US" sz="1800">
                          <a:effectLst/>
                        </a:rPr>
                        <a:t>Simple sequential layout → middle </a:t>
                      </a:r>
                      <a:r>
                        <a:rPr lang="as-IN" sz="1800">
                          <a:effectLst/>
                        </a:rPr>
                        <a:t>থেকে </a:t>
                      </a:r>
                      <a:r>
                        <a:rPr lang="en-US" sz="1800">
                          <a:effectLst/>
                        </a:rPr>
                        <a:t>record delete </a:t>
                      </a:r>
                      <a:r>
                        <a:rPr lang="as-IN" sz="1800">
                          <a:effectLst/>
                        </a:rPr>
                        <a:t>করলে </a:t>
                      </a:r>
                      <a:r>
                        <a:rPr lang="en-US" sz="1800">
                          <a:effectLst/>
                        </a:rPr>
                        <a:t>gap </a:t>
                      </a:r>
                      <a:r>
                        <a:rPr lang="as-IN" sz="1800">
                          <a:effectLst/>
                        </a:rPr>
                        <a:t>পড়ে</a:t>
                      </a:r>
                    </a:p>
                  </a:txBody>
                  <a:tcPr anchor="ctr"/>
                </a:tc>
                <a:tc>
                  <a:txBody>
                    <a:bodyPr/>
                    <a:lstStyle/>
                    <a:p>
                      <a:endParaRPr lang="en-US" sz="1800"/>
                    </a:p>
                  </a:txBody>
                  <a:tcPr/>
                </a:tc>
                <a:extLst>
                  <a:ext uri="{0D108BD9-81ED-4DB2-BD59-A6C34878D82A}">
                    <a16:rowId xmlns:a16="http://schemas.microsoft.com/office/drawing/2014/main" val="568541611"/>
                  </a:ext>
                </a:extLst>
              </a:tr>
              <a:tr h="365760">
                <a:tc>
                  <a:txBody>
                    <a:bodyPr/>
                    <a:lstStyle/>
                    <a:p>
                      <a:r>
                        <a:rPr lang="en-US" sz="1800">
                          <a:effectLst/>
                        </a:rPr>
                        <a:t>Fix </a:t>
                      </a:r>
                      <a:r>
                        <a:rPr lang="as-IN" sz="1800">
                          <a:effectLst/>
                        </a:rPr>
                        <a:t>করতে হলে:</a:t>
                      </a:r>
                    </a:p>
                  </a:txBody>
                  <a:tcPr anchor="ctr"/>
                </a:tc>
                <a:tc>
                  <a:txBody>
                    <a:bodyPr/>
                    <a:lstStyle/>
                    <a:p>
                      <a:endParaRPr lang="en-US" sz="1800" dirty="0"/>
                    </a:p>
                  </a:txBody>
                  <a:tcPr/>
                </a:tc>
                <a:extLst>
                  <a:ext uri="{0D108BD9-81ED-4DB2-BD59-A6C34878D82A}">
                    <a16:rowId xmlns:a16="http://schemas.microsoft.com/office/drawing/2014/main" val="1729321187"/>
                  </a:ext>
                </a:extLst>
              </a:tr>
            </a:tbl>
          </a:graphicData>
        </a:graphic>
      </p:graphicFrame>
      <p:sp>
        <p:nvSpPr>
          <p:cNvPr id="9" name="Rectangle 2"/>
          <p:cNvSpPr>
            <a:spLocks noChangeArrowheads="1"/>
          </p:cNvSpPr>
          <p:nvPr/>
        </p:nvSpPr>
        <p:spPr bwMode="auto">
          <a:xfrm>
            <a:off x="301624" y="5556739"/>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bn-IN" altLang="en-US" sz="1800" b="0" i="0" u="none" strike="noStrike" cap="none" normalizeH="0" baseline="0" smtClean="0">
                <a:ln>
                  <a:noFill/>
                </a:ln>
                <a:solidFill>
                  <a:schemeClr val="tx1"/>
                </a:solidFill>
                <a:effectLst/>
                <a:latin typeface="Arial" panose="020B0604020202020204" pitchFamily="34" charset="0"/>
                <a:cs typeface="Vrinda"/>
              </a:rPr>
              <a:t>অন্য </a:t>
            </a:r>
            <a:r>
              <a:rPr kumimoji="0" lang="en-US" altLang="en-US" sz="1800" b="0" i="0" u="none" strike="noStrike" cap="none" normalizeH="0" baseline="0" smtClean="0">
                <a:ln>
                  <a:noFill/>
                </a:ln>
                <a:solidFill>
                  <a:schemeClr val="tx1"/>
                </a:solidFill>
                <a:effectLst/>
                <a:latin typeface="Arial" panose="020B0604020202020204" pitchFamily="34" charset="0"/>
                <a:cs typeface="Vrinda"/>
              </a:rPr>
              <a:t>record </a:t>
            </a:r>
            <a:r>
              <a:rPr kumimoji="0" lang="bn-IN" altLang="en-US" sz="1800" b="0" i="0" u="none" strike="noStrike" cap="none" normalizeH="0" baseline="0" smtClean="0">
                <a:ln>
                  <a:noFill/>
                </a:ln>
                <a:solidFill>
                  <a:schemeClr val="tx1"/>
                </a:solidFill>
                <a:effectLst/>
                <a:latin typeface="Arial" panose="020B0604020202020204" pitchFamily="34" charset="0"/>
                <a:cs typeface="Vrinda"/>
              </a:rPr>
              <a:t>দিয়ে </a:t>
            </a:r>
            <a:r>
              <a:rPr kumimoji="0" lang="en-US" altLang="en-US" sz="1800" b="0" i="0" u="none" strike="noStrike" cap="none" normalizeH="0" baseline="0" smtClean="0">
                <a:ln>
                  <a:noFill/>
                </a:ln>
                <a:solidFill>
                  <a:schemeClr val="tx1"/>
                </a:solidFill>
                <a:effectLst/>
                <a:latin typeface="Arial" panose="020B0604020202020204" pitchFamily="34" charset="0"/>
                <a:cs typeface="Vrinda"/>
              </a:rPr>
              <a:t>gap fill </a:t>
            </a:r>
            <a:r>
              <a:rPr kumimoji="0" lang="bn-IN" altLang="en-US" sz="1800" b="0" i="0" u="none" strike="noStrike" cap="none" normalizeH="0" baseline="0" smtClean="0">
                <a:ln>
                  <a:noFill/>
                </a:ln>
                <a:solidFill>
                  <a:schemeClr val="tx1"/>
                </a:solidFill>
                <a:effectLst/>
                <a:latin typeface="Arial" panose="020B0604020202020204" pitchFamily="34" charset="0"/>
                <a:cs typeface="Vrinda"/>
              </a:rPr>
              <a:t>করতে হয়</a:t>
            </a: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bn-IN" altLang="en-US" sz="1800" b="0" i="0" u="none" strike="noStrike" cap="none" normalizeH="0" baseline="0" smtClean="0">
                <a:ln>
                  <a:noFill/>
                </a:ln>
                <a:solidFill>
                  <a:schemeClr val="tx1"/>
                </a:solidFill>
                <a:effectLst/>
                <a:latin typeface="Arial" panose="020B0604020202020204" pitchFamily="34" charset="0"/>
                <a:cs typeface="Vrinda"/>
              </a:rPr>
              <a:t>অথবা </a:t>
            </a:r>
            <a:r>
              <a:rPr kumimoji="0" lang="en-US" altLang="en-US" sz="1800" b="0" i="0" u="none" strike="noStrike" cap="none" normalizeH="0" baseline="0" smtClean="0">
                <a:ln>
                  <a:noFill/>
                </a:ln>
                <a:solidFill>
                  <a:schemeClr val="tx1"/>
                </a:solidFill>
                <a:effectLst/>
                <a:latin typeface="Arial" panose="020B0604020202020204" pitchFamily="34" charset="0"/>
                <a:cs typeface="Vrinda"/>
              </a:rPr>
              <a:t>delete mark </a:t>
            </a:r>
            <a:r>
              <a:rPr kumimoji="0" lang="bn-IN" altLang="en-US" sz="1800" b="0" i="0" u="none" strike="noStrike" cap="none" normalizeH="0" baseline="0" smtClean="0">
                <a:ln>
                  <a:noFill/>
                </a:ln>
                <a:solidFill>
                  <a:schemeClr val="tx1"/>
                </a:solidFill>
                <a:effectLst/>
                <a:latin typeface="Arial" panose="020B0604020202020204" pitchFamily="34" charset="0"/>
                <a:cs typeface="Vrinda"/>
              </a:rPr>
              <a:t>রাখতে হয় </a:t>
            </a:r>
            <a:r>
              <a:rPr kumimoji="0" lang="en-US" altLang="en-US" sz="1800" b="0" i="0" u="none" strike="noStrike" cap="none" normalizeH="0" baseline="0" smtClean="0">
                <a:ln>
                  <a:noFill/>
                </a:ln>
                <a:solidFill>
                  <a:schemeClr val="tx1"/>
                </a:solidFill>
                <a:effectLst/>
                <a:latin typeface="Arial" panose="020B0604020202020204" pitchFamily="34" charset="0"/>
                <a:cs typeface="Vrinda"/>
              </a:rPr>
              <a:t>(e.g. tombstone flag)</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89407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4300" y="1905506"/>
            <a:ext cx="8634046" cy="2062103"/>
          </a:xfrm>
          <a:prstGeom prst="rect">
            <a:avLst/>
          </a:prstGeom>
        </p:spPr>
        <p:txBody>
          <a:bodyPr wrap="square">
            <a:spAutoFit/>
          </a:bodyPr>
          <a:lstStyle/>
          <a:p>
            <a:r>
              <a:rPr lang="en-US" b="1" dirty="0"/>
              <a:t>🧺 </a:t>
            </a:r>
            <a:r>
              <a:rPr lang="as-IN" b="1" dirty="0"/>
              <a:t>গল্প দিয়ে বুঝি:</a:t>
            </a:r>
          </a:p>
          <a:p>
            <a:r>
              <a:rPr lang="as-IN" dirty="0"/>
              <a:t>ধরো তুই একটা খাতা লিখছো:</a:t>
            </a:r>
          </a:p>
          <a:p>
            <a:pPr>
              <a:buFont typeface="Arial" panose="020B0604020202020204" pitchFamily="34" charset="0"/>
              <a:buChar char="•"/>
            </a:pPr>
            <a:r>
              <a:rPr lang="as-IN" dirty="0"/>
              <a:t>প্রতিটি পৃষ্ঠা 512 </a:t>
            </a:r>
            <a:r>
              <a:rPr lang="en-US" dirty="0"/>
              <a:t>bytes</a:t>
            </a:r>
          </a:p>
          <a:p>
            <a:pPr>
              <a:buFont typeface="Arial" panose="020B0604020202020204" pitchFamily="34" charset="0"/>
              <a:buChar char="•"/>
            </a:pPr>
            <a:r>
              <a:rPr lang="as-IN" dirty="0"/>
              <a:t>তুই 53-</a:t>
            </a:r>
            <a:r>
              <a:rPr lang="en-US" dirty="0"/>
              <a:t>byte </a:t>
            </a:r>
            <a:r>
              <a:rPr lang="as-IN" dirty="0"/>
              <a:t>করে </a:t>
            </a:r>
            <a:r>
              <a:rPr lang="en-US" dirty="0"/>
              <a:t>paragraph </a:t>
            </a:r>
            <a:r>
              <a:rPr lang="as-IN" dirty="0"/>
              <a:t>লিখছো</a:t>
            </a:r>
          </a:p>
          <a:p>
            <a:pPr>
              <a:buFont typeface="Arial" panose="020B0604020202020204" pitchFamily="34" charset="0"/>
              <a:buChar char="•"/>
            </a:pPr>
            <a:r>
              <a:rPr lang="as-IN" dirty="0"/>
              <a:t>কিছু </a:t>
            </a:r>
            <a:r>
              <a:rPr lang="en-US" dirty="0"/>
              <a:t>paragraph </a:t>
            </a:r>
            <a:r>
              <a:rPr lang="as-IN" dirty="0"/>
              <a:t>দুই পৃষ্ঠায় </a:t>
            </a:r>
            <a:r>
              <a:rPr lang="en-US" dirty="0"/>
              <a:t>split </a:t>
            </a:r>
            <a:r>
              <a:rPr lang="as-IN" dirty="0"/>
              <a:t>হয়ে যাচ্ছে → পড়তে সময় লাগছে</a:t>
            </a:r>
          </a:p>
          <a:p>
            <a:pPr>
              <a:buFont typeface="Arial" panose="020B0604020202020204" pitchFamily="34" charset="0"/>
              <a:buChar char="•"/>
            </a:pPr>
            <a:r>
              <a:rPr lang="as-IN" dirty="0"/>
              <a:t>মাঝের </a:t>
            </a:r>
            <a:r>
              <a:rPr lang="en-US" dirty="0"/>
              <a:t>paragraph </a:t>
            </a:r>
            <a:r>
              <a:rPr lang="as-IN" dirty="0"/>
              <a:t>মুছতে চাইলে → </a:t>
            </a:r>
            <a:r>
              <a:rPr lang="en-US" dirty="0"/>
              <a:t>either shift </a:t>
            </a:r>
            <a:r>
              <a:rPr lang="as-IN" dirty="0"/>
              <a:t>করতে হয়, নয়তো "</a:t>
            </a:r>
            <a:r>
              <a:rPr lang="en-US" dirty="0"/>
              <a:t>deleted" </a:t>
            </a:r>
            <a:r>
              <a:rPr lang="as-IN" dirty="0"/>
              <a:t>লিখে রাখতে হয়</a:t>
            </a:r>
          </a:p>
          <a:p>
            <a:r>
              <a:rPr lang="as-IN" dirty="0"/>
              <a:t>এইভাবে </a:t>
            </a:r>
            <a:r>
              <a:rPr lang="en-US" dirty="0"/>
              <a:t>simple sequential file layout practical use-</a:t>
            </a:r>
            <a:r>
              <a:rPr lang="as-IN" dirty="0"/>
              <a:t>এ সমস্যা তৈরি করে — তাই </a:t>
            </a:r>
            <a:r>
              <a:rPr lang="en-US" dirty="0"/>
              <a:t>advanced techniques (e.g. slotted page structure, variable-length record handling) </a:t>
            </a:r>
            <a:r>
              <a:rPr lang="as-IN" dirty="0"/>
              <a:t>ব্যবহার করা হয়।</a:t>
            </a:r>
            <a:endParaRPr lang="as-IN" dirty="0">
              <a:effectLst/>
            </a:endParaRPr>
          </a:p>
        </p:txBody>
      </p:sp>
    </p:spTree>
    <p:extLst>
      <p:ext uri="{BB962C8B-B14F-4D97-AF65-F5344CB8AC3E}">
        <p14:creationId xmlns:p14="http://schemas.microsoft.com/office/powerpoint/2010/main" val="1669317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43367653-EE3B-4308-B688-073192C53A40}"/>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Fixed-Length Records</a:t>
            </a:r>
          </a:p>
        </p:txBody>
      </p:sp>
      <p:sp>
        <p:nvSpPr>
          <p:cNvPr id="79875" name="Rectangle 3">
            <a:extLst>
              <a:ext uri="{FF2B5EF4-FFF2-40B4-BE49-F238E27FC236}">
                <a16:creationId xmlns:a16="http://schemas.microsoft.com/office/drawing/2014/main" id="{4AE7AAC6-B0E2-411A-A36F-61F8050E8E71}"/>
              </a:ext>
            </a:extLst>
          </p:cNvPr>
          <p:cNvSpPr>
            <a:spLocks noGrp="1" noChangeArrowheads="1"/>
          </p:cNvSpPr>
          <p:nvPr>
            <p:ph type="body" idx="1"/>
          </p:nvPr>
        </p:nvSpPr>
        <p:spPr>
          <a:xfrm>
            <a:off x="768349" y="1150644"/>
            <a:ext cx="7513883" cy="1913067"/>
          </a:xfrm>
        </p:spPr>
        <p:txBody>
          <a:bodyPr/>
          <a:lstStyle/>
          <a:p>
            <a:r>
              <a:rPr lang="en-US" altLang="en-US" dirty="0"/>
              <a:t>Simple approach:</a:t>
            </a:r>
          </a:p>
          <a:p>
            <a:pPr lvl="1"/>
            <a:r>
              <a:rPr lang="en-US" altLang="en-US" dirty="0">
                <a:solidFill>
                  <a:srgbClr val="FF0000"/>
                </a:solidFill>
              </a:rPr>
              <a:t>Store record </a:t>
            </a:r>
            <a:r>
              <a:rPr lang="en-US" altLang="en-US" i="1" dirty="0" err="1">
                <a:solidFill>
                  <a:srgbClr val="FF0000"/>
                </a:solidFill>
              </a:rPr>
              <a:t>i</a:t>
            </a:r>
            <a:r>
              <a:rPr lang="en-US" altLang="en-US" dirty="0">
                <a:solidFill>
                  <a:srgbClr val="FF0000"/>
                </a:solidFill>
              </a:rPr>
              <a:t> starting from byte </a:t>
            </a:r>
            <a:r>
              <a:rPr lang="en-US" altLang="en-US" i="1" dirty="0">
                <a:solidFill>
                  <a:srgbClr val="FF0000"/>
                </a:solidFill>
                <a:sym typeface="Greek Symbols" pitchFamily="18" charset="2"/>
              </a:rPr>
              <a:t>n </a:t>
            </a:r>
            <a:r>
              <a:rPr lang="en-US" altLang="en-US" i="1" dirty="0">
                <a:solidFill>
                  <a:srgbClr val="FF0000"/>
                </a:solidFill>
                <a:sym typeface="Symbol" panose="05050102010706020507" pitchFamily="18" charset="2"/>
              </a:rPr>
              <a:t> (</a:t>
            </a:r>
            <a:r>
              <a:rPr lang="en-US" altLang="en-US" i="1" dirty="0" err="1">
                <a:solidFill>
                  <a:srgbClr val="FF0000"/>
                </a:solidFill>
                <a:sym typeface="Symbol" panose="05050102010706020507" pitchFamily="18" charset="2"/>
              </a:rPr>
              <a:t>i</a:t>
            </a:r>
            <a:r>
              <a:rPr lang="en-US" altLang="en-US" i="1" dirty="0">
                <a:solidFill>
                  <a:srgbClr val="FF0000"/>
                </a:solidFill>
                <a:sym typeface="Symbol" panose="05050102010706020507" pitchFamily="18" charset="2"/>
              </a:rPr>
              <a:t> – </a:t>
            </a:r>
            <a:r>
              <a:rPr lang="en-US" altLang="en-US" dirty="0">
                <a:solidFill>
                  <a:srgbClr val="FF0000"/>
                </a:solidFill>
                <a:sym typeface="Symbol" panose="05050102010706020507" pitchFamily="18" charset="2"/>
              </a:rPr>
              <a:t>1), where </a:t>
            </a:r>
            <a:r>
              <a:rPr lang="en-US" altLang="en-US" i="1" dirty="0">
                <a:solidFill>
                  <a:srgbClr val="FF0000"/>
                </a:solidFill>
                <a:sym typeface="Symbol" panose="05050102010706020507" pitchFamily="18" charset="2"/>
              </a:rPr>
              <a:t>n </a:t>
            </a:r>
            <a:r>
              <a:rPr lang="en-US" altLang="en-US" dirty="0">
                <a:solidFill>
                  <a:srgbClr val="FF0000"/>
                </a:solidFill>
                <a:sym typeface="Symbol" panose="05050102010706020507" pitchFamily="18" charset="2"/>
              </a:rPr>
              <a:t>is the size of each record</a:t>
            </a:r>
            <a:r>
              <a:rPr lang="en-US" altLang="en-US" dirty="0">
                <a:sym typeface="Symbol" panose="05050102010706020507" pitchFamily="18" charset="2"/>
              </a:rPr>
              <a:t>.</a:t>
            </a:r>
          </a:p>
          <a:p>
            <a:pPr lvl="1"/>
            <a:r>
              <a:rPr lang="en-US" altLang="en-US" dirty="0">
                <a:sym typeface="Symbol" panose="05050102010706020507" pitchFamily="18" charset="2"/>
              </a:rPr>
              <a:t>Record access is simple but </a:t>
            </a:r>
            <a:r>
              <a:rPr lang="en-US" altLang="en-US" dirty="0">
                <a:solidFill>
                  <a:srgbClr val="FF0000"/>
                </a:solidFill>
                <a:sym typeface="Symbol" panose="05050102010706020507" pitchFamily="18" charset="2"/>
              </a:rPr>
              <a:t>records may cross blocks</a:t>
            </a:r>
          </a:p>
          <a:p>
            <a:pPr lvl="2"/>
            <a:r>
              <a:rPr lang="en-US" altLang="en-US" dirty="0">
                <a:sym typeface="Symbol" panose="05050102010706020507" pitchFamily="18" charset="2"/>
              </a:rPr>
              <a:t>Modification: do not allow records to cross block boundaries</a:t>
            </a:r>
          </a:p>
        </p:txBody>
      </p:sp>
      <p:pic>
        <p:nvPicPr>
          <p:cNvPr id="5" name="Content Placeholder 4">
            <a:extLst>
              <a:ext uri="{FF2B5EF4-FFF2-40B4-BE49-F238E27FC236}">
                <a16:creationId xmlns:a16="http://schemas.microsoft.com/office/drawing/2014/main" id="{9F4CCBFC-2976-4FF3-B9E2-11AE645EEE6D}"/>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bwMode="auto">
          <a:xfrm>
            <a:off x="1914973" y="3174181"/>
            <a:ext cx="5173983" cy="3308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56824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923192" y="0"/>
            <a:ext cx="6251331"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smtClean="0">
                <a:ln>
                  <a:noFill/>
                </a:ln>
                <a:solidFill>
                  <a:schemeClr val="tx1"/>
                </a:solidFill>
                <a:effectLst/>
                <a:latin typeface="Arial" panose="020B0604020202020204" pitchFamily="34" charset="0"/>
              </a:rPr>
              <a:t>Fixed-Length Record Storage: Simple Formula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smtClean="0">
                <a:ln>
                  <a:noFill/>
                </a:ln>
                <a:solidFill>
                  <a:schemeClr val="tx1"/>
                </a:solidFill>
                <a:effectLst/>
                <a:latin typeface="Arial" panose="020B0604020202020204" pitchFamily="34" charset="0"/>
              </a:rPr>
              <a:t>🔹 Storage Rule: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smtClean="0">
                <a:ln>
                  <a:noFill/>
                </a:ln>
                <a:solidFill>
                  <a:schemeClr val="tx1"/>
                </a:solidFill>
                <a:effectLst/>
                <a:latin typeface="Arial" panose="020B0604020202020204" pitchFamily="34" charset="0"/>
              </a:rPr>
              <a:t>Record </a:t>
            </a:r>
            <a:r>
              <a:rPr kumimoji="0" lang="en-US" altLang="en-US" sz="1100" b="1" i="0" u="none" strike="noStrike" cap="none" normalizeH="0" baseline="0" dirty="0" err="1" smtClean="0">
                <a:ln>
                  <a:noFill/>
                </a:ln>
                <a:solidFill>
                  <a:schemeClr val="tx1"/>
                </a:solidFill>
                <a:effectLst/>
                <a:latin typeface="Arial" panose="020B0604020202020204" pitchFamily="34" charset="0"/>
              </a:rPr>
              <a:t>i</a:t>
            </a:r>
            <a:r>
              <a:rPr kumimoji="0" lang="en-US" altLang="en-US" sz="1100" b="0" i="0" u="none" strike="noStrike" cap="none" normalizeH="0" baseline="0" dirty="0" smtClean="0">
                <a:ln>
                  <a:noFill/>
                </a:ln>
                <a:solidFill>
                  <a:schemeClr val="tx1"/>
                </a:solidFill>
                <a:effectLst/>
                <a:latin typeface="Arial" panose="020B0604020202020204" pitchFamily="34" charset="0"/>
              </a:rPr>
              <a:t> stored starting from byte: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chemeClr val="tx1"/>
                </a:solidFill>
                <a:effectLst/>
                <a:latin typeface="Arial" panose="020B0604020202020204" pitchFamily="34" charset="0"/>
              </a:rPr>
              <a:t>n×(i−1)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chemeClr val="tx1"/>
                </a:solidFill>
                <a:effectLst/>
                <a:latin typeface="Arial" panose="020B0604020202020204" pitchFamily="34" charset="0"/>
              </a:rPr>
              <a:t>→ </a:t>
            </a:r>
            <a:r>
              <a:rPr kumimoji="0" lang="bn-IN" altLang="en-US" sz="1100" b="0" i="0" u="none" strike="noStrike" cap="none" normalizeH="0" baseline="0" dirty="0" smtClean="0">
                <a:ln>
                  <a:noFill/>
                </a:ln>
                <a:solidFill>
                  <a:schemeClr val="tx1"/>
                </a:solidFill>
                <a:effectLst/>
                <a:latin typeface="Arial" panose="020B0604020202020204" pitchFamily="34" charset="0"/>
                <a:cs typeface="Vrinda"/>
              </a:rPr>
              <a:t>যেখানে </a:t>
            </a:r>
            <a:r>
              <a:rPr kumimoji="0" lang="en-US" altLang="en-US" sz="1100" b="0" i="0" u="none" strike="noStrike" cap="none" normalizeH="0" baseline="0" dirty="0" smtClean="0">
                <a:ln>
                  <a:noFill/>
                </a:ln>
                <a:solidFill>
                  <a:schemeClr val="tx1"/>
                </a:solidFill>
                <a:effectLst/>
                <a:latin typeface="Arial" panose="020B0604020202020204" pitchFamily="34" charset="0"/>
              </a:rPr>
              <a:t>n = record size (bytes)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chemeClr val="tx1"/>
                </a:solidFill>
                <a:effectLst/>
                <a:latin typeface="Arial" panose="020B0604020202020204" pitchFamily="34" charset="0"/>
              </a:rPr>
              <a:t>👉 </a:t>
            </a:r>
            <a:r>
              <a:rPr kumimoji="0" lang="bn-IN" altLang="en-US" sz="1100" b="0" i="0" u="none" strike="noStrike" cap="none" normalizeH="0" baseline="0" dirty="0" smtClean="0">
                <a:ln>
                  <a:noFill/>
                </a:ln>
                <a:solidFill>
                  <a:schemeClr val="tx1"/>
                </a:solidFill>
                <a:effectLst/>
                <a:latin typeface="Arial" panose="020B0604020202020204" pitchFamily="34" charset="0"/>
                <a:cs typeface="Vrinda"/>
              </a:rPr>
              <a:t>ধরো </a:t>
            </a:r>
            <a:r>
              <a:rPr kumimoji="0" lang="en-US" altLang="en-US" sz="1100" b="0" i="0" u="none" strike="noStrike" cap="none" normalizeH="0" baseline="0" dirty="0" smtClean="0">
                <a:ln>
                  <a:noFill/>
                </a:ln>
                <a:solidFill>
                  <a:schemeClr val="tx1"/>
                </a:solidFill>
                <a:effectLst/>
                <a:latin typeface="Arial" panose="020B0604020202020204" pitchFamily="34" charset="0"/>
              </a:rPr>
              <a:t>record size n=53 bytes → </a:t>
            </a:r>
            <a:r>
              <a:rPr kumimoji="0" lang="bn-IN" altLang="en-US" sz="1100" b="0" i="0" u="none" strike="noStrike" cap="none" normalizeH="0" baseline="0" dirty="0" smtClean="0">
                <a:ln>
                  <a:noFill/>
                </a:ln>
                <a:solidFill>
                  <a:schemeClr val="tx1"/>
                </a:solidFill>
                <a:effectLst/>
                <a:latin typeface="Arial" panose="020B0604020202020204" pitchFamily="34" charset="0"/>
                <a:cs typeface="Vrinda"/>
              </a:rPr>
              <a:t>তাহলে</a:t>
            </a:r>
            <a:r>
              <a:rPr kumimoji="0" lang="en-US" altLang="en-US" sz="1100" b="0" i="0" u="none" strike="noStrike" cap="none" normalizeH="0" baseline="0" dirty="0" smtClean="0">
                <a:ln>
                  <a:noFill/>
                </a:ln>
                <a:solidFill>
                  <a:schemeClr val="tx1"/>
                </a:solidFill>
                <a:effectLst/>
                <a:latin typeface="Arial" panose="020B0604020202020204" pitchFamily="34" charset="0"/>
              </a:rPr>
              <a:t>:</a:t>
            </a:r>
          </a:p>
        </p:txBody>
      </p:sp>
      <p:graphicFrame>
        <p:nvGraphicFramePr>
          <p:cNvPr id="3" name="Table 2"/>
          <p:cNvGraphicFramePr>
            <a:graphicFrameLocks noGrp="1"/>
          </p:cNvGraphicFramePr>
          <p:nvPr>
            <p:extLst>
              <p:ext uri="{D42A27DB-BD31-4B8C-83A1-F6EECF244321}">
                <p14:modId xmlns:p14="http://schemas.microsoft.com/office/powerpoint/2010/main" val="818753421"/>
              </p:ext>
            </p:extLst>
          </p:nvPr>
        </p:nvGraphicFramePr>
        <p:xfrm>
          <a:off x="700088" y="1107996"/>
          <a:ext cx="7661274" cy="1295400"/>
        </p:xfrm>
        <a:graphic>
          <a:graphicData uri="http://schemas.openxmlformats.org/drawingml/2006/table">
            <a:tbl>
              <a:tblPr>
                <a:tableStyleId>{775DCB02-9BB8-47FD-8907-85C794F793BA}</a:tableStyleId>
              </a:tblPr>
              <a:tblGrid>
                <a:gridCol w="3830637">
                  <a:extLst>
                    <a:ext uri="{9D8B030D-6E8A-4147-A177-3AD203B41FA5}">
                      <a16:colId xmlns:a16="http://schemas.microsoft.com/office/drawing/2014/main" val="1611533101"/>
                    </a:ext>
                  </a:extLst>
                </a:gridCol>
                <a:gridCol w="3830637">
                  <a:extLst>
                    <a:ext uri="{9D8B030D-6E8A-4147-A177-3AD203B41FA5}">
                      <a16:colId xmlns:a16="http://schemas.microsoft.com/office/drawing/2014/main" val="2303195461"/>
                    </a:ext>
                  </a:extLst>
                </a:gridCol>
              </a:tblGrid>
              <a:tr h="177128">
                <a:tc>
                  <a:txBody>
                    <a:bodyPr/>
                    <a:lstStyle/>
                    <a:p>
                      <a:r>
                        <a:rPr lang="en-US" sz="1100" dirty="0">
                          <a:effectLst/>
                        </a:rPr>
                        <a:t>Record</a:t>
                      </a:r>
                    </a:p>
                  </a:txBody>
                  <a:tcPr anchor="ctr"/>
                </a:tc>
                <a:tc>
                  <a:txBody>
                    <a:bodyPr/>
                    <a:lstStyle/>
                    <a:p>
                      <a:r>
                        <a:rPr lang="en-US" sz="1100">
                          <a:effectLst/>
                        </a:rPr>
                        <a:t>Byte Offset</a:t>
                      </a:r>
                    </a:p>
                  </a:txBody>
                  <a:tcPr anchor="ctr"/>
                </a:tc>
                <a:extLst>
                  <a:ext uri="{0D108BD9-81ED-4DB2-BD59-A6C34878D82A}">
                    <a16:rowId xmlns:a16="http://schemas.microsoft.com/office/drawing/2014/main" val="548560620"/>
                  </a:ext>
                </a:extLst>
              </a:tr>
              <a:tr h="177128">
                <a:tc>
                  <a:txBody>
                    <a:bodyPr/>
                    <a:lstStyle/>
                    <a:p>
                      <a:r>
                        <a:rPr lang="en-US" sz="1100" dirty="0">
                          <a:effectLst/>
                        </a:rPr>
                        <a:t>0</a:t>
                      </a:r>
                    </a:p>
                  </a:txBody>
                  <a:tcPr anchor="ctr"/>
                </a:tc>
                <a:tc>
                  <a:txBody>
                    <a:bodyPr/>
                    <a:lstStyle/>
                    <a:p>
                      <a:r>
                        <a:rPr lang="en-US" sz="1100">
                          <a:effectLst/>
                        </a:rPr>
                        <a:t>53×(0)=0</a:t>
                      </a:r>
                    </a:p>
                  </a:txBody>
                  <a:tcPr anchor="ctr"/>
                </a:tc>
                <a:extLst>
                  <a:ext uri="{0D108BD9-81ED-4DB2-BD59-A6C34878D82A}">
                    <a16:rowId xmlns:a16="http://schemas.microsoft.com/office/drawing/2014/main" val="2860380244"/>
                  </a:ext>
                </a:extLst>
              </a:tr>
              <a:tr h="177128">
                <a:tc>
                  <a:txBody>
                    <a:bodyPr/>
                    <a:lstStyle/>
                    <a:p>
                      <a:r>
                        <a:rPr lang="en-US" sz="1100" dirty="0">
                          <a:effectLst/>
                        </a:rPr>
                        <a:t>1</a:t>
                      </a:r>
                    </a:p>
                  </a:txBody>
                  <a:tcPr anchor="ctr"/>
                </a:tc>
                <a:tc>
                  <a:txBody>
                    <a:bodyPr/>
                    <a:lstStyle/>
                    <a:p>
                      <a:r>
                        <a:rPr lang="en-US" sz="1100">
                          <a:effectLst/>
                        </a:rPr>
                        <a:t>53×(1)=53</a:t>
                      </a:r>
                    </a:p>
                  </a:txBody>
                  <a:tcPr anchor="ctr"/>
                </a:tc>
                <a:extLst>
                  <a:ext uri="{0D108BD9-81ED-4DB2-BD59-A6C34878D82A}">
                    <a16:rowId xmlns:a16="http://schemas.microsoft.com/office/drawing/2014/main" val="3303148186"/>
                  </a:ext>
                </a:extLst>
              </a:tr>
              <a:tr h="177128">
                <a:tc>
                  <a:txBody>
                    <a:bodyPr/>
                    <a:lstStyle/>
                    <a:p>
                      <a:r>
                        <a:rPr lang="en-US" sz="1100" dirty="0">
                          <a:effectLst/>
                        </a:rPr>
                        <a:t>2</a:t>
                      </a:r>
                    </a:p>
                  </a:txBody>
                  <a:tcPr anchor="ctr"/>
                </a:tc>
                <a:tc>
                  <a:txBody>
                    <a:bodyPr/>
                    <a:lstStyle/>
                    <a:p>
                      <a:r>
                        <a:rPr lang="en-US" sz="1100" dirty="0">
                          <a:effectLst/>
                        </a:rPr>
                        <a:t>53×(2)=106</a:t>
                      </a:r>
                    </a:p>
                  </a:txBody>
                  <a:tcPr anchor="ctr"/>
                </a:tc>
                <a:extLst>
                  <a:ext uri="{0D108BD9-81ED-4DB2-BD59-A6C34878D82A}">
                    <a16:rowId xmlns:a16="http://schemas.microsoft.com/office/drawing/2014/main" val="2783107349"/>
                  </a:ext>
                </a:extLst>
              </a:tr>
              <a:tr h="177128">
                <a:tc>
                  <a:txBody>
                    <a:bodyPr/>
                    <a:lstStyle/>
                    <a:p>
                      <a:r>
                        <a:rPr lang="en-US" sz="1100">
                          <a:effectLst/>
                        </a:rPr>
                        <a:t>…</a:t>
                      </a:r>
                    </a:p>
                  </a:txBody>
                  <a:tcPr anchor="ctr"/>
                </a:tc>
                <a:tc>
                  <a:txBody>
                    <a:bodyPr/>
                    <a:lstStyle/>
                    <a:p>
                      <a:r>
                        <a:rPr lang="en-US" sz="1100" dirty="0">
                          <a:effectLst/>
                        </a:rPr>
                        <a:t>…</a:t>
                      </a:r>
                    </a:p>
                  </a:txBody>
                  <a:tcPr anchor="ctr"/>
                </a:tc>
                <a:extLst>
                  <a:ext uri="{0D108BD9-81ED-4DB2-BD59-A6C34878D82A}">
                    <a16:rowId xmlns:a16="http://schemas.microsoft.com/office/drawing/2014/main" val="836096893"/>
                  </a:ext>
                </a:extLst>
              </a:tr>
            </a:tbl>
          </a:graphicData>
        </a:graphic>
      </p:graphicFrame>
      <p:sp>
        <p:nvSpPr>
          <p:cNvPr id="4" name="Rectangle 3"/>
          <p:cNvSpPr/>
          <p:nvPr/>
        </p:nvSpPr>
        <p:spPr>
          <a:xfrm>
            <a:off x="606669" y="2403396"/>
            <a:ext cx="5873262" cy="938719"/>
          </a:xfrm>
          <a:prstGeom prst="rect">
            <a:avLst/>
          </a:prstGeom>
        </p:spPr>
        <p:txBody>
          <a:bodyPr wrap="square">
            <a:spAutoFit/>
          </a:bodyPr>
          <a:lstStyle/>
          <a:p>
            <a:r>
              <a:rPr lang="as-IN" sz="1100" dirty="0"/>
              <a:t>এইভাবে </a:t>
            </a:r>
            <a:r>
              <a:rPr lang="en-US" sz="1100" dirty="0"/>
              <a:t>sequentially record store </a:t>
            </a:r>
            <a:r>
              <a:rPr lang="as-IN" sz="1100" dirty="0"/>
              <a:t>করা হয়</a:t>
            </a:r>
          </a:p>
          <a:p>
            <a:r>
              <a:rPr lang="en-US" sz="1100" b="1" dirty="0"/>
              <a:t>🔹 Advantage:</a:t>
            </a:r>
          </a:p>
          <a:p>
            <a:pPr>
              <a:buFont typeface="Arial" panose="020B0604020202020204" pitchFamily="34" charset="0"/>
              <a:buChar char="•"/>
            </a:pPr>
            <a:r>
              <a:rPr lang="en-US" sz="1100" dirty="0"/>
              <a:t>Access formula </a:t>
            </a:r>
            <a:r>
              <a:rPr lang="as-IN" sz="1100" dirty="0"/>
              <a:t>খুব </a:t>
            </a:r>
            <a:r>
              <a:rPr lang="en-US" sz="1100" dirty="0"/>
              <a:t>simple</a:t>
            </a:r>
          </a:p>
          <a:p>
            <a:pPr>
              <a:buFont typeface="Arial" panose="020B0604020202020204" pitchFamily="34" charset="0"/>
              <a:buChar char="•"/>
            </a:pPr>
            <a:r>
              <a:rPr lang="en-US" sz="1100" dirty="0"/>
              <a:t>Random access possible → direct byte offset </a:t>
            </a:r>
            <a:r>
              <a:rPr lang="as-IN" sz="1100" dirty="0"/>
              <a:t>থেকে </a:t>
            </a:r>
            <a:r>
              <a:rPr lang="en-US" sz="1100" dirty="0"/>
              <a:t>record read </a:t>
            </a:r>
            <a:r>
              <a:rPr lang="as-IN" sz="1100" dirty="0"/>
              <a:t>করা যায়</a:t>
            </a:r>
          </a:p>
          <a:p>
            <a:r>
              <a:rPr lang="as-IN" sz="1100" b="1" dirty="0"/>
              <a:t>⚠️ </a:t>
            </a:r>
            <a:r>
              <a:rPr lang="en-US" sz="1100" b="1" dirty="0"/>
              <a:t>Problem: Block Boundary Crossing</a:t>
            </a:r>
            <a:endParaRPr lang="en-US" sz="1100" b="1" dirty="0">
              <a:effectLst/>
            </a:endParaRPr>
          </a:p>
        </p:txBody>
      </p:sp>
      <p:graphicFrame>
        <p:nvGraphicFramePr>
          <p:cNvPr id="5" name="Table 4"/>
          <p:cNvGraphicFramePr>
            <a:graphicFrameLocks noGrp="1"/>
          </p:cNvGraphicFramePr>
          <p:nvPr>
            <p:extLst>
              <p:ext uri="{D42A27DB-BD31-4B8C-83A1-F6EECF244321}">
                <p14:modId xmlns:p14="http://schemas.microsoft.com/office/powerpoint/2010/main" val="726102580"/>
              </p:ext>
            </p:extLst>
          </p:nvPr>
        </p:nvGraphicFramePr>
        <p:xfrm>
          <a:off x="700088" y="3342115"/>
          <a:ext cx="7661274" cy="1520116"/>
        </p:xfrm>
        <a:graphic>
          <a:graphicData uri="http://schemas.openxmlformats.org/drawingml/2006/table">
            <a:tbl>
              <a:tblPr>
                <a:tableStyleId>{775DCB02-9BB8-47FD-8907-85C794F793BA}</a:tableStyleId>
              </a:tblPr>
              <a:tblGrid>
                <a:gridCol w="3830637">
                  <a:extLst>
                    <a:ext uri="{9D8B030D-6E8A-4147-A177-3AD203B41FA5}">
                      <a16:colId xmlns:a16="http://schemas.microsoft.com/office/drawing/2014/main" val="2360307944"/>
                    </a:ext>
                  </a:extLst>
                </a:gridCol>
                <a:gridCol w="3830637">
                  <a:extLst>
                    <a:ext uri="{9D8B030D-6E8A-4147-A177-3AD203B41FA5}">
                      <a16:colId xmlns:a16="http://schemas.microsoft.com/office/drawing/2014/main" val="3195014839"/>
                    </a:ext>
                  </a:extLst>
                </a:gridCol>
              </a:tblGrid>
              <a:tr h="210173">
                <a:tc>
                  <a:txBody>
                    <a:bodyPr/>
                    <a:lstStyle/>
                    <a:p>
                      <a:r>
                        <a:rPr lang="as-IN" sz="1100" dirty="0">
                          <a:effectLst/>
                        </a:rPr>
                        <a:t>বিষয়</a:t>
                      </a:r>
                    </a:p>
                  </a:txBody>
                  <a:tcPr anchor="ctr"/>
                </a:tc>
                <a:tc>
                  <a:txBody>
                    <a:bodyPr/>
                    <a:lstStyle/>
                    <a:p>
                      <a:r>
                        <a:rPr lang="as-IN" sz="1100">
                          <a:effectLst/>
                        </a:rPr>
                        <a:t>ব্যাখ্যা</a:t>
                      </a:r>
                    </a:p>
                  </a:txBody>
                  <a:tcPr anchor="ctr"/>
                </a:tc>
                <a:extLst>
                  <a:ext uri="{0D108BD9-81ED-4DB2-BD59-A6C34878D82A}">
                    <a16:rowId xmlns:a16="http://schemas.microsoft.com/office/drawing/2014/main" val="628549712"/>
                  </a:ext>
                </a:extLst>
              </a:tr>
              <a:tr h="367802">
                <a:tc>
                  <a:txBody>
                    <a:bodyPr/>
                    <a:lstStyle/>
                    <a:p>
                      <a:r>
                        <a:rPr lang="en-US" sz="1100" dirty="0">
                          <a:effectLst/>
                        </a:rPr>
                        <a:t>Disk block size ≠ multiple of record size</a:t>
                      </a:r>
                    </a:p>
                  </a:txBody>
                  <a:tcPr anchor="ctr"/>
                </a:tc>
                <a:tc>
                  <a:txBody>
                    <a:bodyPr/>
                    <a:lstStyle/>
                    <a:p>
                      <a:r>
                        <a:rPr lang="en-US" sz="1100">
                          <a:effectLst/>
                        </a:rPr>
                        <a:t>যেমন block size = 512 bytes, record size = 53 bytes</a:t>
                      </a:r>
                    </a:p>
                  </a:txBody>
                  <a:tcPr anchor="ctr"/>
                </a:tc>
                <a:extLst>
                  <a:ext uri="{0D108BD9-81ED-4DB2-BD59-A6C34878D82A}">
                    <a16:rowId xmlns:a16="http://schemas.microsoft.com/office/drawing/2014/main" val="4112925017"/>
                  </a:ext>
                </a:extLst>
              </a:tr>
              <a:tr h="367802">
                <a:tc>
                  <a:txBody>
                    <a:bodyPr/>
                    <a:lstStyle/>
                    <a:p>
                      <a:r>
                        <a:rPr lang="as-IN" sz="1100" dirty="0">
                          <a:effectLst/>
                        </a:rPr>
                        <a:t>কিছু </a:t>
                      </a:r>
                      <a:r>
                        <a:rPr lang="en-US" sz="1100" dirty="0">
                          <a:effectLst/>
                        </a:rPr>
                        <a:t>record block-</a:t>
                      </a:r>
                      <a:r>
                        <a:rPr lang="as-IN" sz="1100" dirty="0">
                          <a:effectLst/>
                        </a:rPr>
                        <a:t>এর মাঝখানে ভেঙে যায়</a:t>
                      </a:r>
                    </a:p>
                  </a:txBody>
                  <a:tcPr anchor="ctr"/>
                </a:tc>
                <a:tc>
                  <a:txBody>
                    <a:bodyPr/>
                    <a:lstStyle/>
                    <a:p>
                      <a:r>
                        <a:rPr lang="as-IN" sz="1100">
                          <a:effectLst/>
                        </a:rPr>
                        <a:t>এক অংশ এক </a:t>
                      </a:r>
                      <a:r>
                        <a:rPr lang="en-US" sz="1100">
                          <a:effectLst/>
                        </a:rPr>
                        <a:t>block-</a:t>
                      </a:r>
                      <a:r>
                        <a:rPr lang="as-IN" sz="1100">
                          <a:effectLst/>
                        </a:rPr>
                        <a:t>এ, অন্য অংশ অন্য </a:t>
                      </a:r>
                      <a:r>
                        <a:rPr lang="en-US" sz="1100">
                          <a:effectLst/>
                        </a:rPr>
                        <a:t>block-</a:t>
                      </a:r>
                      <a:r>
                        <a:rPr lang="as-IN" sz="1100">
                          <a:effectLst/>
                        </a:rPr>
                        <a:t>এ</a:t>
                      </a:r>
                    </a:p>
                  </a:txBody>
                  <a:tcPr anchor="ctr"/>
                </a:tc>
                <a:extLst>
                  <a:ext uri="{0D108BD9-81ED-4DB2-BD59-A6C34878D82A}">
                    <a16:rowId xmlns:a16="http://schemas.microsoft.com/office/drawing/2014/main" val="1362936047"/>
                  </a:ext>
                </a:extLst>
              </a:tr>
              <a:tr h="525432">
                <a:tc>
                  <a:txBody>
                    <a:bodyPr/>
                    <a:lstStyle/>
                    <a:p>
                      <a:r>
                        <a:rPr lang="en-US" sz="1100" dirty="0">
                          <a:effectLst/>
                        </a:rPr>
                        <a:t>Impact</a:t>
                      </a:r>
                    </a:p>
                  </a:txBody>
                  <a:tcPr anchor="ctr"/>
                </a:tc>
                <a:tc>
                  <a:txBody>
                    <a:bodyPr/>
                    <a:lstStyle/>
                    <a:p>
                      <a:r>
                        <a:rPr lang="as-IN" sz="1100" dirty="0">
                          <a:effectLst/>
                        </a:rPr>
                        <a:t>এক </a:t>
                      </a:r>
                      <a:r>
                        <a:rPr lang="en-US" sz="1100" dirty="0">
                          <a:effectLst/>
                        </a:rPr>
                        <a:t>record read </a:t>
                      </a:r>
                      <a:r>
                        <a:rPr lang="as-IN" sz="1100" dirty="0">
                          <a:effectLst/>
                        </a:rPr>
                        <a:t>করতে দুইটা </a:t>
                      </a:r>
                      <a:r>
                        <a:rPr lang="en-US" sz="1100" dirty="0">
                          <a:effectLst/>
                        </a:rPr>
                        <a:t>block access </a:t>
                      </a:r>
                      <a:r>
                        <a:rPr lang="as-IN" sz="1100" dirty="0">
                          <a:effectLst/>
                        </a:rPr>
                        <a:t>করতে হয় → </a:t>
                      </a:r>
                      <a:r>
                        <a:rPr lang="en-US" sz="1100" dirty="0">
                          <a:effectLst/>
                        </a:rPr>
                        <a:t>latency </a:t>
                      </a:r>
                      <a:r>
                        <a:rPr lang="as-IN" sz="1100" dirty="0">
                          <a:effectLst/>
                        </a:rPr>
                        <a:t>বেড়ে যায়</a:t>
                      </a:r>
                    </a:p>
                  </a:txBody>
                  <a:tcPr anchor="ctr"/>
                </a:tc>
                <a:extLst>
                  <a:ext uri="{0D108BD9-81ED-4DB2-BD59-A6C34878D82A}">
                    <a16:rowId xmlns:a16="http://schemas.microsoft.com/office/drawing/2014/main" val="3241751874"/>
                  </a:ext>
                </a:extLst>
              </a:tr>
            </a:tbl>
          </a:graphicData>
        </a:graphic>
      </p:graphicFrame>
      <p:sp>
        <p:nvSpPr>
          <p:cNvPr id="6" name="Rectangle 5"/>
          <p:cNvSpPr/>
          <p:nvPr/>
        </p:nvSpPr>
        <p:spPr>
          <a:xfrm>
            <a:off x="465992" y="4862231"/>
            <a:ext cx="8062545" cy="1323439"/>
          </a:xfrm>
          <a:prstGeom prst="rect">
            <a:avLst/>
          </a:prstGeom>
        </p:spPr>
        <p:txBody>
          <a:bodyPr wrap="square">
            <a:spAutoFit/>
          </a:bodyPr>
          <a:lstStyle/>
          <a:p>
            <a:r>
              <a:rPr lang="en-US" b="1" dirty="0"/>
              <a:t>✅ Modification: Prevent Cross-Block Records</a:t>
            </a:r>
          </a:p>
          <a:p>
            <a:pPr>
              <a:buFont typeface="Arial" panose="020B0604020202020204" pitchFamily="34" charset="0"/>
              <a:buChar char="•"/>
            </a:pPr>
            <a:r>
              <a:rPr lang="en-US" dirty="0"/>
              <a:t>Rule change: </a:t>
            </a:r>
            <a:r>
              <a:rPr lang="as-IN" dirty="0"/>
              <a:t>এক </a:t>
            </a:r>
            <a:r>
              <a:rPr lang="en-US" dirty="0"/>
              <a:t>block-</a:t>
            </a:r>
            <a:r>
              <a:rPr lang="as-IN" dirty="0"/>
              <a:t>এ </a:t>
            </a:r>
            <a:r>
              <a:rPr lang="en-US" dirty="0"/>
              <a:t>record </a:t>
            </a:r>
            <a:r>
              <a:rPr lang="as-IN" dirty="0"/>
              <a:t>ভাঙা যাবে না</a:t>
            </a:r>
          </a:p>
          <a:p>
            <a:pPr>
              <a:buFont typeface="Arial" panose="020B0604020202020204" pitchFamily="34" charset="0"/>
              <a:buChar char="•"/>
            </a:pPr>
            <a:r>
              <a:rPr lang="as-IN" dirty="0"/>
              <a:t>যদি </a:t>
            </a:r>
            <a:r>
              <a:rPr lang="en-US" dirty="0"/>
              <a:t>block-</a:t>
            </a:r>
            <a:r>
              <a:rPr lang="as-IN" dirty="0"/>
              <a:t>এ জায়গা না থাকে → পরের </a:t>
            </a:r>
            <a:r>
              <a:rPr lang="en-US" dirty="0"/>
              <a:t>block-</a:t>
            </a:r>
            <a:r>
              <a:rPr lang="as-IN" dirty="0"/>
              <a:t>এ </a:t>
            </a:r>
            <a:r>
              <a:rPr lang="en-US" dirty="0"/>
              <a:t>store </a:t>
            </a:r>
            <a:r>
              <a:rPr lang="as-IN" dirty="0"/>
              <a:t>করো</a:t>
            </a:r>
          </a:p>
          <a:p>
            <a:pPr>
              <a:buFont typeface="Arial" panose="020B0604020202020204" pitchFamily="34" charset="0"/>
              <a:buChar char="•"/>
            </a:pPr>
            <a:r>
              <a:rPr lang="en-US" dirty="0"/>
              <a:t>Slight space wastage, but performance better</a:t>
            </a:r>
          </a:p>
          <a:p>
            <a:r>
              <a:rPr lang="en-US" b="1" dirty="0"/>
              <a:t>📊 Example Table (From Slide)</a:t>
            </a:r>
            <a:endParaRPr lang="en-US" b="1" dirty="0">
              <a:effectLst/>
            </a:endParaRPr>
          </a:p>
        </p:txBody>
      </p:sp>
    </p:spTree>
    <p:extLst>
      <p:ext uri="{BB962C8B-B14F-4D97-AF65-F5344CB8AC3E}">
        <p14:creationId xmlns:p14="http://schemas.microsoft.com/office/powerpoint/2010/main" val="1796224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436804296"/>
              </p:ext>
            </p:extLst>
          </p:nvPr>
        </p:nvGraphicFramePr>
        <p:xfrm>
          <a:off x="972650" y="554538"/>
          <a:ext cx="7661275" cy="1463040"/>
        </p:xfrm>
        <a:graphic>
          <a:graphicData uri="http://schemas.openxmlformats.org/drawingml/2006/table">
            <a:tbl>
              <a:tblPr>
                <a:tableStyleId>{775DCB02-9BB8-47FD-8907-85C794F793BA}</a:tableStyleId>
              </a:tblPr>
              <a:tblGrid>
                <a:gridCol w="1532255">
                  <a:extLst>
                    <a:ext uri="{9D8B030D-6E8A-4147-A177-3AD203B41FA5}">
                      <a16:colId xmlns:a16="http://schemas.microsoft.com/office/drawing/2014/main" val="1405342421"/>
                    </a:ext>
                  </a:extLst>
                </a:gridCol>
                <a:gridCol w="1532255">
                  <a:extLst>
                    <a:ext uri="{9D8B030D-6E8A-4147-A177-3AD203B41FA5}">
                      <a16:colId xmlns:a16="http://schemas.microsoft.com/office/drawing/2014/main" val="1506969057"/>
                    </a:ext>
                  </a:extLst>
                </a:gridCol>
                <a:gridCol w="1532255">
                  <a:extLst>
                    <a:ext uri="{9D8B030D-6E8A-4147-A177-3AD203B41FA5}">
                      <a16:colId xmlns:a16="http://schemas.microsoft.com/office/drawing/2014/main" val="1494200115"/>
                    </a:ext>
                  </a:extLst>
                </a:gridCol>
                <a:gridCol w="1532255">
                  <a:extLst>
                    <a:ext uri="{9D8B030D-6E8A-4147-A177-3AD203B41FA5}">
                      <a16:colId xmlns:a16="http://schemas.microsoft.com/office/drawing/2014/main" val="1849512040"/>
                    </a:ext>
                  </a:extLst>
                </a:gridCol>
                <a:gridCol w="1532255">
                  <a:extLst>
                    <a:ext uri="{9D8B030D-6E8A-4147-A177-3AD203B41FA5}">
                      <a16:colId xmlns:a16="http://schemas.microsoft.com/office/drawing/2014/main" val="3263828102"/>
                    </a:ext>
                  </a:extLst>
                </a:gridCol>
              </a:tblGrid>
              <a:tr h="0">
                <a:tc>
                  <a:txBody>
                    <a:bodyPr/>
                    <a:lstStyle/>
                    <a:p>
                      <a:r>
                        <a:rPr lang="en-US">
                          <a:effectLst/>
                        </a:rPr>
                        <a:t>Record</a:t>
                      </a:r>
                    </a:p>
                  </a:txBody>
                  <a:tcPr anchor="ctr"/>
                </a:tc>
                <a:tc>
                  <a:txBody>
                    <a:bodyPr/>
                    <a:lstStyle/>
                    <a:p>
                      <a:r>
                        <a:rPr lang="en-US">
                          <a:effectLst/>
                        </a:rPr>
                        <a:t>ID</a:t>
                      </a:r>
                    </a:p>
                  </a:txBody>
                  <a:tcPr anchor="ctr"/>
                </a:tc>
                <a:tc>
                  <a:txBody>
                    <a:bodyPr/>
                    <a:lstStyle/>
                    <a:p>
                      <a:r>
                        <a:rPr lang="en-US">
                          <a:effectLst/>
                        </a:rPr>
                        <a:t>Name</a:t>
                      </a:r>
                    </a:p>
                  </a:txBody>
                  <a:tcPr anchor="ctr"/>
                </a:tc>
                <a:tc>
                  <a:txBody>
                    <a:bodyPr/>
                    <a:lstStyle/>
                    <a:p>
                      <a:r>
                        <a:rPr lang="en-US">
                          <a:effectLst/>
                        </a:rPr>
                        <a:t>Dept</a:t>
                      </a:r>
                    </a:p>
                  </a:txBody>
                  <a:tcPr anchor="ctr"/>
                </a:tc>
                <a:tc>
                  <a:txBody>
                    <a:bodyPr/>
                    <a:lstStyle/>
                    <a:p>
                      <a:r>
                        <a:rPr lang="en-US">
                          <a:effectLst/>
                        </a:rPr>
                        <a:t>Salary</a:t>
                      </a:r>
                    </a:p>
                  </a:txBody>
                  <a:tcPr anchor="ctr"/>
                </a:tc>
                <a:extLst>
                  <a:ext uri="{0D108BD9-81ED-4DB2-BD59-A6C34878D82A}">
                    <a16:rowId xmlns:a16="http://schemas.microsoft.com/office/drawing/2014/main" val="399574529"/>
                  </a:ext>
                </a:extLst>
              </a:tr>
              <a:tr h="0">
                <a:tc>
                  <a:txBody>
                    <a:bodyPr/>
                    <a:lstStyle/>
                    <a:p>
                      <a:r>
                        <a:rPr lang="en-US">
                          <a:effectLst/>
                        </a:rPr>
                        <a:t>0</a:t>
                      </a:r>
                    </a:p>
                  </a:txBody>
                  <a:tcPr anchor="ctr"/>
                </a:tc>
                <a:tc>
                  <a:txBody>
                    <a:bodyPr/>
                    <a:lstStyle/>
                    <a:p>
                      <a:r>
                        <a:rPr lang="en-US">
                          <a:effectLst/>
                        </a:rPr>
                        <a:t>10101</a:t>
                      </a:r>
                    </a:p>
                  </a:txBody>
                  <a:tcPr anchor="ctr"/>
                </a:tc>
                <a:tc>
                  <a:txBody>
                    <a:bodyPr/>
                    <a:lstStyle/>
                    <a:p>
                      <a:r>
                        <a:rPr lang="en-US">
                          <a:effectLst/>
                        </a:rPr>
                        <a:t>Srinivasan</a:t>
                      </a:r>
                    </a:p>
                  </a:txBody>
                  <a:tcPr anchor="ctr"/>
                </a:tc>
                <a:tc>
                  <a:txBody>
                    <a:bodyPr/>
                    <a:lstStyle/>
                    <a:p>
                      <a:r>
                        <a:rPr lang="en-US">
                          <a:effectLst/>
                        </a:rPr>
                        <a:t>Comp. Sci.</a:t>
                      </a:r>
                    </a:p>
                  </a:txBody>
                  <a:tcPr anchor="ctr"/>
                </a:tc>
                <a:tc>
                  <a:txBody>
                    <a:bodyPr/>
                    <a:lstStyle/>
                    <a:p>
                      <a:r>
                        <a:rPr lang="en-US">
                          <a:effectLst/>
                        </a:rPr>
                        <a:t>65000</a:t>
                      </a:r>
                    </a:p>
                  </a:txBody>
                  <a:tcPr anchor="ctr"/>
                </a:tc>
                <a:extLst>
                  <a:ext uri="{0D108BD9-81ED-4DB2-BD59-A6C34878D82A}">
                    <a16:rowId xmlns:a16="http://schemas.microsoft.com/office/drawing/2014/main" val="1552161887"/>
                  </a:ext>
                </a:extLst>
              </a:tr>
              <a:tr h="0">
                <a:tc>
                  <a:txBody>
                    <a:bodyPr/>
                    <a:lstStyle/>
                    <a:p>
                      <a:r>
                        <a:rPr lang="en-US">
                          <a:effectLst/>
                        </a:rPr>
                        <a:t>1</a:t>
                      </a:r>
                    </a:p>
                  </a:txBody>
                  <a:tcPr anchor="ctr"/>
                </a:tc>
                <a:tc>
                  <a:txBody>
                    <a:bodyPr/>
                    <a:lstStyle/>
                    <a:p>
                      <a:r>
                        <a:rPr lang="en-US">
                          <a:effectLst/>
                        </a:rPr>
                        <a:t>12121</a:t>
                      </a:r>
                    </a:p>
                  </a:txBody>
                  <a:tcPr anchor="ctr"/>
                </a:tc>
                <a:tc>
                  <a:txBody>
                    <a:bodyPr/>
                    <a:lstStyle/>
                    <a:p>
                      <a:r>
                        <a:rPr lang="en-US">
                          <a:effectLst/>
                        </a:rPr>
                        <a:t>Wu</a:t>
                      </a:r>
                    </a:p>
                  </a:txBody>
                  <a:tcPr anchor="ctr"/>
                </a:tc>
                <a:tc>
                  <a:txBody>
                    <a:bodyPr/>
                    <a:lstStyle/>
                    <a:p>
                      <a:r>
                        <a:rPr lang="en-US">
                          <a:effectLst/>
                        </a:rPr>
                        <a:t>Finance</a:t>
                      </a:r>
                    </a:p>
                  </a:txBody>
                  <a:tcPr anchor="ctr"/>
                </a:tc>
                <a:tc>
                  <a:txBody>
                    <a:bodyPr/>
                    <a:lstStyle/>
                    <a:p>
                      <a:r>
                        <a:rPr lang="en-US">
                          <a:effectLst/>
                        </a:rPr>
                        <a:t>90000</a:t>
                      </a:r>
                    </a:p>
                  </a:txBody>
                  <a:tcPr anchor="ctr"/>
                </a:tc>
                <a:extLst>
                  <a:ext uri="{0D108BD9-81ED-4DB2-BD59-A6C34878D82A}">
                    <a16:rowId xmlns:a16="http://schemas.microsoft.com/office/drawing/2014/main" val="1323778602"/>
                  </a:ext>
                </a:extLst>
              </a:tr>
              <a:tr h="0">
                <a:tc>
                  <a:txBody>
                    <a:bodyPr/>
                    <a:lstStyle/>
                    <a:p>
                      <a:r>
                        <a:rPr lang="en-US">
                          <a:effectLst/>
                        </a:rPr>
                        <a:t>…</a:t>
                      </a:r>
                    </a:p>
                  </a:txBody>
                  <a:tcPr anchor="ctr"/>
                </a:tc>
                <a:tc>
                  <a:txBody>
                    <a:bodyPr/>
                    <a:lstStyle/>
                    <a:p>
                      <a:r>
                        <a:rPr lang="en-US">
                          <a:effectLst/>
                        </a:rPr>
                        <a:t>…</a:t>
                      </a:r>
                    </a:p>
                  </a:txBody>
                  <a:tcPr anchor="ctr"/>
                </a:tc>
                <a:tc>
                  <a:txBody>
                    <a:bodyPr/>
                    <a:lstStyle/>
                    <a:p>
                      <a:r>
                        <a:rPr lang="en-US">
                          <a:effectLst/>
                        </a:rPr>
                        <a:t>…</a:t>
                      </a:r>
                    </a:p>
                  </a:txBody>
                  <a:tcPr anchor="ctr"/>
                </a:tc>
                <a:tc>
                  <a:txBody>
                    <a:bodyPr/>
                    <a:lstStyle/>
                    <a:p>
                      <a:r>
                        <a:rPr lang="en-US">
                          <a:effectLst/>
                        </a:rPr>
                        <a:t>…</a:t>
                      </a:r>
                    </a:p>
                  </a:txBody>
                  <a:tcPr anchor="ctr"/>
                </a:tc>
                <a:tc>
                  <a:txBody>
                    <a:bodyPr/>
                    <a:lstStyle/>
                    <a:p>
                      <a:r>
                        <a:rPr lang="en-US" dirty="0">
                          <a:effectLst/>
                        </a:rPr>
                        <a:t>…</a:t>
                      </a:r>
                    </a:p>
                  </a:txBody>
                  <a:tcPr anchor="ctr"/>
                </a:tc>
                <a:extLst>
                  <a:ext uri="{0D108BD9-81ED-4DB2-BD59-A6C34878D82A}">
                    <a16:rowId xmlns:a16="http://schemas.microsoft.com/office/drawing/2014/main" val="420082845"/>
                  </a:ext>
                </a:extLst>
              </a:tr>
            </a:tbl>
          </a:graphicData>
        </a:graphic>
      </p:graphicFrame>
      <p:sp>
        <p:nvSpPr>
          <p:cNvPr id="3" name="Rectangle 2"/>
          <p:cNvSpPr/>
          <p:nvPr/>
        </p:nvSpPr>
        <p:spPr>
          <a:xfrm>
            <a:off x="879230" y="2389267"/>
            <a:ext cx="7464669" cy="338554"/>
          </a:xfrm>
          <a:prstGeom prst="rect">
            <a:avLst/>
          </a:prstGeom>
        </p:spPr>
        <p:txBody>
          <a:bodyPr wrap="square">
            <a:spAutoFit/>
          </a:bodyPr>
          <a:lstStyle/>
          <a:p>
            <a:r>
              <a:rPr lang="en-US" dirty="0"/>
              <a:t>👉 </a:t>
            </a:r>
            <a:r>
              <a:rPr lang="en-US" dirty="0" err="1"/>
              <a:t>সব</a:t>
            </a:r>
            <a:r>
              <a:rPr lang="en-US" dirty="0"/>
              <a:t> record fixed format-এ </a:t>
            </a:r>
            <a:r>
              <a:rPr lang="en-US" dirty="0" err="1"/>
              <a:t>আছে</a:t>
            </a:r>
            <a:r>
              <a:rPr lang="en-US" dirty="0"/>
              <a:t> → predictable layout</a:t>
            </a:r>
            <a:endParaRPr lang="en-US" dirty="0">
              <a:effectLst/>
            </a:endParaRPr>
          </a:p>
        </p:txBody>
      </p:sp>
    </p:spTree>
    <p:extLst>
      <p:ext uri="{BB962C8B-B14F-4D97-AF65-F5344CB8AC3E}">
        <p14:creationId xmlns:p14="http://schemas.microsoft.com/office/powerpoint/2010/main" val="1931606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43367653-EE3B-4308-B688-073192C53A40}"/>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Fixed-Length Records</a:t>
            </a:r>
          </a:p>
        </p:txBody>
      </p:sp>
      <p:sp>
        <p:nvSpPr>
          <p:cNvPr id="79875" name="Rectangle 3">
            <a:extLst>
              <a:ext uri="{FF2B5EF4-FFF2-40B4-BE49-F238E27FC236}">
                <a16:creationId xmlns:a16="http://schemas.microsoft.com/office/drawing/2014/main" id="{4AE7AAC6-B0E2-411A-A36F-61F8050E8E71}"/>
              </a:ext>
            </a:extLst>
          </p:cNvPr>
          <p:cNvSpPr>
            <a:spLocks noGrp="1" noChangeArrowheads="1"/>
          </p:cNvSpPr>
          <p:nvPr>
            <p:ph type="body" idx="1"/>
          </p:nvPr>
        </p:nvSpPr>
        <p:spPr>
          <a:xfrm>
            <a:off x="768349" y="1150644"/>
            <a:ext cx="7513883" cy="4876800"/>
          </a:xfrm>
        </p:spPr>
        <p:txBody>
          <a:bodyPr/>
          <a:lstStyle/>
          <a:p>
            <a:r>
              <a:rPr lang="en-US" altLang="en-US" dirty="0"/>
              <a:t>Deletion of record </a:t>
            </a:r>
            <a:r>
              <a:rPr lang="en-US" altLang="en-US" i="1" dirty="0"/>
              <a:t>i:  </a:t>
            </a:r>
            <a:r>
              <a:rPr lang="en-US" altLang="en-US" dirty="0"/>
              <a:t>alternatives</a:t>
            </a:r>
            <a:r>
              <a:rPr lang="en-US" altLang="en-US" i="1" dirty="0"/>
              <a:t>:</a:t>
            </a:r>
          </a:p>
          <a:p>
            <a:pPr lvl="1"/>
            <a:r>
              <a:rPr lang="en-US" altLang="en-US" b="1" dirty="0"/>
              <a:t>move records </a:t>
            </a:r>
            <a:r>
              <a:rPr lang="en-US" altLang="en-US" b="1" i="1" dirty="0" err="1"/>
              <a:t>i</a:t>
            </a:r>
            <a:r>
              <a:rPr lang="en-US" altLang="en-US" b="1" dirty="0"/>
              <a:t> + 1, . . ., </a:t>
            </a:r>
            <a:r>
              <a:rPr lang="en-US" altLang="en-US" b="1" i="1" dirty="0"/>
              <a:t>n</a:t>
            </a:r>
            <a:r>
              <a:rPr lang="en-US" altLang="en-US" b="1" dirty="0"/>
              <a:t>  to </a:t>
            </a:r>
            <a:r>
              <a:rPr lang="en-US" altLang="en-US" b="1" i="1" dirty="0" err="1"/>
              <a:t>i</a:t>
            </a:r>
            <a:r>
              <a:rPr lang="en-US" altLang="en-US" b="1" i="1" dirty="0"/>
              <a:t>, . . . , n </a:t>
            </a:r>
            <a:r>
              <a:rPr lang="en-US" altLang="en-US" b="1" i="1" dirty="0">
                <a:sym typeface="Symbol" panose="05050102010706020507" pitchFamily="18" charset="2"/>
              </a:rPr>
              <a:t>– </a:t>
            </a:r>
            <a:r>
              <a:rPr lang="en-US" altLang="en-US" b="1" dirty="0">
                <a:sym typeface="Symbol" panose="05050102010706020507" pitchFamily="18" charset="2"/>
              </a:rPr>
              <a:t>1</a:t>
            </a:r>
          </a:p>
          <a:p>
            <a:pPr lvl="1"/>
            <a:r>
              <a:rPr lang="en-US" altLang="en-US" dirty="0">
                <a:sym typeface="Symbol" panose="05050102010706020507" pitchFamily="18" charset="2"/>
              </a:rPr>
              <a:t>move record </a:t>
            </a:r>
            <a:r>
              <a:rPr lang="en-US" altLang="en-US" i="1" dirty="0">
                <a:sym typeface="Symbol" panose="05050102010706020507" pitchFamily="18" charset="2"/>
              </a:rPr>
              <a:t>n </a:t>
            </a:r>
            <a:r>
              <a:rPr lang="en-US" altLang="en-US" dirty="0">
                <a:sym typeface="Symbol" panose="05050102010706020507" pitchFamily="18" charset="2"/>
              </a:rPr>
              <a:t> to </a:t>
            </a:r>
            <a:r>
              <a:rPr lang="en-US" altLang="en-US" i="1" dirty="0" err="1">
                <a:sym typeface="Symbol" panose="05050102010706020507" pitchFamily="18" charset="2"/>
              </a:rPr>
              <a:t>i</a:t>
            </a:r>
            <a:endParaRPr lang="en-US" altLang="en-US" dirty="0">
              <a:sym typeface="Symbol" panose="05050102010706020507" pitchFamily="18" charset="2"/>
            </a:endParaRPr>
          </a:p>
          <a:p>
            <a:pPr lvl="1"/>
            <a:r>
              <a:rPr lang="en-US" altLang="en-US" dirty="0">
                <a:sym typeface="Symbol" panose="05050102010706020507" pitchFamily="18" charset="2"/>
              </a:rPr>
              <a:t>do not move records, but link all free records on a </a:t>
            </a:r>
            <a:r>
              <a:rPr lang="en-US" altLang="en-US" i="1" dirty="0">
                <a:sym typeface="Symbol" panose="05050102010706020507" pitchFamily="18" charset="2"/>
              </a:rPr>
              <a:t>free list</a:t>
            </a:r>
          </a:p>
          <a:p>
            <a:pPr marL="457200" lvl="1" indent="0">
              <a:buNone/>
            </a:pPr>
            <a:r>
              <a:rPr lang="en-US" altLang="en-US" b="1" dirty="0">
                <a:sym typeface="Symbol" panose="05050102010706020507" pitchFamily="18" charset="2"/>
              </a:rPr>
              <a:t>Record 3 deleted</a:t>
            </a:r>
          </a:p>
        </p:txBody>
      </p:sp>
      <p:pic>
        <p:nvPicPr>
          <p:cNvPr id="6" name="Graphic 5">
            <a:extLst>
              <a:ext uri="{FF2B5EF4-FFF2-40B4-BE49-F238E27FC236}">
                <a16:creationId xmlns:a16="http://schemas.microsoft.com/office/drawing/2014/main" id="{F5576AFE-02C2-4348-8F1E-7F5213955C35}"/>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2085975" y="3145326"/>
            <a:ext cx="4905765" cy="286645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10053" y="736313"/>
            <a:ext cx="4572000" cy="584775"/>
          </a:xfrm>
          <a:prstGeom prst="rect">
            <a:avLst/>
          </a:prstGeom>
        </p:spPr>
        <p:txBody>
          <a:bodyPr>
            <a:spAutoFit/>
          </a:bodyPr>
          <a:lstStyle/>
          <a:p>
            <a:r>
              <a:rPr lang="en-US" b="1" dirty="0"/>
              <a:t>🔹 1. Shift Method</a:t>
            </a:r>
          </a:p>
          <a:p>
            <a:r>
              <a:rPr lang="en-US" dirty="0"/>
              <a:t>👉 </a:t>
            </a:r>
            <a:r>
              <a:rPr lang="en-US" b="1" dirty="0"/>
              <a:t>Move records </a:t>
            </a:r>
            <a:r>
              <a:rPr lang="en-US" dirty="0"/>
              <a:t>i+1,...,n</a:t>
            </a:r>
            <a:r>
              <a:rPr lang="en-US" b="1" dirty="0"/>
              <a:t> → </a:t>
            </a:r>
            <a:r>
              <a:rPr lang="en-US" dirty="0" err="1"/>
              <a:t>i</a:t>
            </a:r>
            <a:r>
              <a:rPr lang="en-US" dirty="0"/>
              <a:t>,...,n−1</a:t>
            </a:r>
            <a:endParaRPr lang="en-US" dirty="0">
              <a:effectLst/>
            </a:endParaRPr>
          </a:p>
        </p:txBody>
      </p:sp>
      <p:graphicFrame>
        <p:nvGraphicFramePr>
          <p:cNvPr id="3" name="Table 2"/>
          <p:cNvGraphicFramePr>
            <a:graphicFrameLocks noGrp="1"/>
          </p:cNvGraphicFramePr>
          <p:nvPr>
            <p:extLst>
              <p:ext uri="{D42A27DB-BD31-4B8C-83A1-F6EECF244321}">
                <p14:modId xmlns:p14="http://schemas.microsoft.com/office/powerpoint/2010/main" val="3613970068"/>
              </p:ext>
            </p:extLst>
          </p:nvPr>
        </p:nvGraphicFramePr>
        <p:xfrm>
          <a:off x="620957" y="1898002"/>
          <a:ext cx="7661274" cy="2011680"/>
        </p:xfrm>
        <a:graphic>
          <a:graphicData uri="http://schemas.openxmlformats.org/drawingml/2006/table">
            <a:tbl>
              <a:tblPr>
                <a:tableStyleId>{775DCB02-9BB8-47FD-8907-85C794F793BA}</a:tableStyleId>
              </a:tblPr>
              <a:tblGrid>
                <a:gridCol w="3830637">
                  <a:extLst>
                    <a:ext uri="{9D8B030D-6E8A-4147-A177-3AD203B41FA5}">
                      <a16:colId xmlns:a16="http://schemas.microsoft.com/office/drawing/2014/main" val="4188937711"/>
                    </a:ext>
                  </a:extLst>
                </a:gridCol>
                <a:gridCol w="3830637">
                  <a:extLst>
                    <a:ext uri="{9D8B030D-6E8A-4147-A177-3AD203B41FA5}">
                      <a16:colId xmlns:a16="http://schemas.microsoft.com/office/drawing/2014/main" val="133625265"/>
                    </a:ext>
                  </a:extLst>
                </a:gridCol>
              </a:tblGrid>
              <a:tr h="365760">
                <a:tc>
                  <a:txBody>
                    <a:bodyPr/>
                    <a:lstStyle/>
                    <a:p>
                      <a:r>
                        <a:rPr lang="as-IN" sz="1800">
                          <a:effectLst/>
                        </a:rPr>
                        <a:t>বৈশিষ্ট্য</a:t>
                      </a:r>
                    </a:p>
                  </a:txBody>
                  <a:tcPr anchor="ctr"/>
                </a:tc>
                <a:tc>
                  <a:txBody>
                    <a:bodyPr/>
                    <a:lstStyle/>
                    <a:p>
                      <a:r>
                        <a:rPr lang="as-IN" sz="1800">
                          <a:effectLst/>
                        </a:rPr>
                        <a:t>ব্যাখ্যা</a:t>
                      </a:r>
                    </a:p>
                  </a:txBody>
                  <a:tcPr anchor="ctr"/>
                </a:tc>
                <a:extLst>
                  <a:ext uri="{0D108BD9-81ED-4DB2-BD59-A6C34878D82A}">
                    <a16:rowId xmlns:a16="http://schemas.microsoft.com/office/drawing/2014/main" val="3107668347"/>
                  </a:ext>
                </a:extLst>
              </a:tr>
              <a:tr h="640080">
                <a:tc>
                  <a:txBody>
                    <a:bodyPr/>
                    <a:lstStyle/>
                    <a:p>
                      <a:r>
                        <a:rPr lang="en-US" sz="1800" dirty="0">
                          <a:effectLst/>
                        </a:rPr>
                        <a:t>Deleted record-</a:t>
                      </a:r>
                      <a:r>
                        <a:rPr lang="as-IN" sz="1800" dirty="0">
                          <a:effectLst/>
                        </a:rPr>
                        <a:t>এর জায়গায় পরেরগুলো </a:t>
                      </a:r>
                      <a:r>
                        <a:rPr lang="en-US" sz="1800" dirty="0">
                          <a:effectLst/>
                        </a:rPr>
                        <a:t>shift </a:t>
                      </a:r>
                      <a:r>
                        <a:rPr lang="as-IN" sz="1800" dirty="0">
                          <a:effectLst/>
                        </a:rPr>
                        <a:t>হয়</a:t>
                      </a:r>
                    </a:p>
                  </a:txBody>
                  <a:tcPr anchor="ctr"/>
                </a:tc>
                <a:tc>
                  <a:txBody>
                    <a:bodyPr/>
                    <a:lstStyle/>
                    <a:p>
                      <a:endParaRPr lang="en-US" sz="1800"/>
                    </a:p>
                  </a:txBody>
                  <a:tcPr/>
                </a:tc>
                <a:extLst>
                  <a:ext uri="{0D108BD9-81ED-4DB2-BD59-A6C34878D82A}">
                    <a16:rowId xmlns:a16="http://schemas.microsoft.com/office/drawing/2014/main" val="18740349"/>
                  </a:ext>
                </a:extLst>
              </a:tr>
              <a:tr h="365760">
                <a:tc>
                  <a:txBody>
                    <a:bodyPr/>
                    <a:lstStyle/>
                    <a:p>
                      <a:r>
                        <a:rPr lang="as-IN" sz="1800">
                          <a:effectLst/>
                        </a:rPr>
                        <a:t>সব </a:t>
                      </a:r>
                      <a:r>
                        <a:rPr lang="en-US" sz="1800">
                          <a:effectLst/>
                        </a:rPr>
                        <a:t>record sequential </a:t>
                      </a:r>
                      <a:r>
                        <a:rPr lang="as-IN" sz="1800">
                          <a:effectLst/>
                        </a:rPr>
                        <a:t>থাকে</a:t>
                      </a:r>
                    </a:p>
                  </a:txBody>
                  <a:tcPr anchor="ctr"/>
                </a:tc>
                <a:tc>
                  <a:txBody>
                    <a:bodyPr/>
                    <a:lstStyle/>
                    <a:p>
                      <a:endParaRPr lang="en-US" sz="1800"/>
                    </a:p>
                  </a:txBody>
                  <a:tcPr/>
                </a:tc>
                <a:extLst>
                  <a:ext uri="{0D108BD9-81ED-4DB2-BD59-A6C34878D82A}">
                    <a16:rowId xmlns:a16="http://schemas.microsoft.com/office/drawing/2014/main" val="3173840488"/>
                  </a:ext>
                </a:extLst>
              </a:tr>
              <a:tr h="640080">
                <a:tc>
                  <a:txBody>
                    <a:bodyPr/>
                    <a:lstStyle/>
                    <a:p>
                      <a:r>
                        <a:rPr lang="en-US" sz="1800">
                          <a:effectLst/>
                        </a:rPr>
                        <a:t>Drawback → অনেক block write লাগে → slow</a:t>
                      </a:r>
                    </a:p>
                  </a:txBody>
                  <a:tcPr anchor="ctr"/>
                </a:tc>
                <a:tc>
                  <a:txBody>
                    <a:bodyPr/>
                    <a:lstStyle/>
                    <a:p>
                      <a:endParaRPr lang="en-US" sz="1800" dirty="0"/>
                    </a:p>
                  </a:txBody>
                  <a:tcPr/>
                </a:tc>
                <a:extLst>
                  <a:ext uri="{0D108BD9-81ED-4DB2-BD59-A6C34878D82A}">
                    <a16:rowId xmlns:a16="http://schemas.microsoft.com/office/drawing/2014/main" val="72330074"/>
                  </a:ext>
                </a:extLst>
              </a:tr>
            </a:tbl>
          </a:graphicData>
        </a:graphic>
      </p:graphicFrame>
    </p:spTree>
    <p:extLst>
      <p:ext uri="{BB962C8B-B14F-4D97-AF65-F5344CB8AC3E}">
        <p14:creationId xmlns:p14="http://schemas.microsoft.com/office/powerpoint/2010/main" val="2247196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43367653-EE3B-4308-B688-073192C53A40}"/>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Fixed-Length Records</a:t>
            </a:r>
          </a:p>
        </p:txBody>
      </p:sp>
      <p:sp>
        <p:nvSpPr>
          <p:cNvPr id="79875" name="Rectangle 3">
            <a:extLst>
              <a:ext uri="{FF2B5EF4-FFF2-40B4-BE49-F238E27FC236}">
                <a16:creationId xmlns:a16="http://schemas.microsoft.com/office/drawing/2014/main" id="{4AE7AAC6-B0E2-411A-A36F-61F8050E8E71}"/>
              </a:ext>
            </a:extLst>
          </p:cNvPr>
          <p:cNvSpPr>
            <a:spLocks noGrp="1" noChangeArrowheads="1"/>
          </p:cNvSpPr>
          <p:nvPr>
            <p:ph type="body" idx="1"/>
          </p:nvPr>
        </p:nvSpPr>
        <p:spPr>
          <a:xfrm>
            <a:off x="768349" y="1150644"/>
            <a:ext cx="7513883" cy="4876800"/>
          </a:xfrm>
        </p:spPr>
        <p:txBody>
          <a:bodyPr/>
          <a:lstStyle/>
          <a:p>
            <a:r>
              <a:rPr lang="en-US" altLang="en-US" dirty="0"/>
              <a:t>Deletion of record </a:t>
            </a:r>
            <a:r>
              <a:rPr lang="en-US" altLang="en-US" i="1" dirty="0"/>
              <a:t>i:  </a:t>
            </a:r>
            <a:r>
              <a:rPr lang="en-US" altLang="en-US" dirty="0"/>
              <a:t>alternatives</a:t>
            </a:r>
            <a:r>
              <a:rPr lang="en-US" altLang="en-US" i="1" dirty="0"/>
              <a:t>:</a:t>
            </a:r>
          </a:p>
          <a:p>
            <a:pPr lvl="1"/>
            <a:r>
              <a:rPr lang="en-US" altLang="en-US" dirty="0"/>
              <a:t>move records </a:t>
            </a:r>
            <a:r>
              <a:rPr lang="en-US" altLang="en-US" i="1" dirty="0" err="1"/>
              <a:t>i</a:t>
            </a:r>
            <a:r>
              <a:rPr lang="en-US" altLang="en-US" dirty="0"/>
              <a:t> + 1, . . ., </a:t>
            </a:r>
            <a:r>
              <a:rPr lang="en-US" altLang="en-US" i="1" dirty="0"/>
              <a:t>n</a:t>
            </a:r>
            <a:r>
              <a:rPr lang="en-US" altLang="en-US" dirty="0"/>
              <a:t>  to </a:t>
            </a:r>
            <a:r>
              <a:rPr lang="en-US" altLang="en-US" i="1" dirty="0" err="1"/>
              <a:t>i</a:t>
            </a:r>
            <a:r>
              <a:rPr lang="en-US" altLang="en-US" i="1" dirty="0"/>
              <a:t>, . . . , n </a:t>
            </a:r>
            <a:r>
              <a:rPr lang="en-US" altLang="en-US" i="1" dirty="0">
                <a:sym typeface="Symbol" panose="05050102010706020507" pitchFamily="18" charset="2"/>
              </a:rPr>
              <a:t>– </a:t>
            </a:r>
            <a:r>
              <a:rPr lang="en-US" altLang="en-US" dirty="0">
                <a:sym typeface="Symbol" panose="05050102010706020507" pitchFamily="18" charset="2"/>
              </a:rPr>
              <a:t>1</a:t>
            </a:r>
          </a:p>
          <a:p>
            <a:pPr lvl="1"/>
            <a:r>
              <a:rPr lang="en-US" altLang="en-US" b="1" dirty="0">
                <a:sym typeface="Symbol" panose="05050102010706020507" pitchFamily="18" charset="2"/>
              </a:rPr>
              <a:t>move record </a:t>
            </a:r>
            <a:r>
              <a:rPr lang="en-US" altLang="en-US" b="1" i="1" dirty="0">
                <a:sym typeface="Symbol" panose="05050102010706020507" pitchFamily="18" charset="2"/>
              </a:rPr>
              <a:t>n </a:t>
            </a:r>
            <a:r>
              <a:rPr lang="en-US" altLang="en-US" b="1" dirty="0">
                <a:sym typeface="Symbol" panose="05050102010706020507" pitchFamily="18" charset="2"/>
              </a:rPr>
              <a:t> to </a:t>
            </a:r>
            <a:r>
              <a:rPr lang="en-US" altLang="en-US" b="1" i="1" dirty="0" err="1">
                <a:sym typeface="Symbol" panose="05050102010706020507" pitchFamily="18" charset="2"/>
              </a:rPr>
              <a:t>i</a:t>
            </a:r>
            <a:endParaRPr lang="en-US" altLang="en-US" b="1" dirty="0">
              <a:sym typeface="Symbol" panose="05050102010706020507" pitchFamily="18" charset="2"/>
            </a:endParaRPr>
          </a:p>
          <a:p>
            <a:pPr lvl="1"/>
            <a:r>
              <a:rPr lang="en-US" altLang="en-US" dirty="0">
                <a:sym typeface="Symbol" panose="05050102010706020507" pitchFamily="18" charset="2"/>
              </a:rPr>
              <a:t>do not move records, but link all free records on a </a:t>
            </a:r>
            <a:r>
              <a:rPr lang="en-US" altLang="en-US" i="1" dirty="0">
                <a:sym typeface="Symbol" panose="05050102010706020507" pitchFamily="18" charset="2"/>
              </a:rPr>
              <a:t>free list</a:t>
            </a:r>
          </a:p>
          <a:p>
            <a:pPr marL="457200" lvl="1" indent="0">
              <a:buNone/>
            </a:pPr>
            <a:r>
              <a:rPr lang="en-US" altLang="en-US" b="1" dirty="0">
                <a:sym typeface="Symbol" panose="05050102010706020507" pitchFamily="18" charset="2"/>
              </a:rPr>
              <a:t>Record 3 deleted and replaced by record 11</a:t>
            </a:r>
          </a:p>
          <a:p>
            <a:pPr marL="457200" lvl="1" indent="0">
              <a:buNone/>
            </a:pPr>
            <a:endParaRPr lang="en-US" altLang="en-US" b="1" dirty="0">
              <a:sym typeface="Symbol" panose="05050102010706020507" pitchFamily="18" charset="2"/>
            </a:endParaRPr>
          </a:p>
        </p:txBody>
      </p:sp>
      <p:pic>
        <p:nvPicPr>
          <p:cNvPr id="5" name="Graphic 4">
            <a:extLst>
              <a:ext uri="{FF2B5EF4-FFF2-40B4-BE49-F238E27FC236}">
                <a16:creationId xmlns:a16="http://schemas.microsoft.com/office/drawing/2014/main" id="{57778C1E-DCEA-447C-99A5-A41591D38C83}"/>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1785938" y="3095365"/>
            <a:ext cx="5152188" cy="2994134"/>
          </a:xfrm>
          <a:prstGeom prst="rect">
            <a:avLst/>
          </a:prstGeom>
        </p:spPr>
      </p:pic>
    </p:spTree>
    <p:extLst>
      <p:ext uri="{BB962C8B-B14F-4D97-AF65-F5344CB8AC3E}">
        <p14:creationId xmlns:p14="http://schemas.microsoft.com/office/powerpoint/2010/main" val="18437551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65030" y="622013"/>
            <a:ext cx="4572000" cy="584775"/>
          </a:xfrm>
          <a:prstGeom prst="rect">
            <a:avLst/>
          </a:prstGeom>
        </p:spPr>
        <p:txBody>
          <a:bodyPr>
            <a:spAutoFit/>
          </a:bodyPr>
          <a:lstStyle/>
          <a:p>
            <a:r>
              <a:rPr lang="en-US" b="1" dirty="0"/>
              <a:t>🔹 2. Swap Method</a:t>
            </a:r>
          </a:p>
          <a:p>
            <a:r>
              <a:rPr lang="en-US" dirty="0"/>
              <a:t>👉 </a:t>
            </a:r>
            <a:r>
              <a:rPr lang="en-US" b="1" dirty="0"/>
              <a:t>Move record </a:t>
            </a:r>
            <a:r>
              <a:rPr lang="en-US" dirty="0"/>
              <a:t>n</a:t>
            </a:r>
            <a:r>
              <a:rPr lang="en-US" b="1" dirty="0"/>
              <a:t> → position </a:t>
            </a:r>
            <a:r>
              <a:rPr lang="en-US" dirty="0" err="1"/>
              <a:t>i</a:t>
            </a:r>
            <a:endParaRPr lang="en-US" dirty="0">
              <a:effectLst/>
            </a:endParaRPr>
          </a:p>
        </p:txBody>
      </p:sp>
      <p:graphicFrame>
        <p:nvGraphicFramePr>
          <p:cNvPr id="3" name="Table 2"/>
          <p:cNvGraphicFramePr>
            <a:graphicFrameLocks noGrp="1"/>
          </p:cNvGraphicFramePr>
          <p:nvPr>
            <p:extLst>
              <p:ext uri="{D42A27DB-BD31-4B8C-83A1-F6EECF244321}">
                <p14:modId xmlns:p14="http://schemas.microsoft.com/office/powerpoint/2010/main" val="1639607359"/>
              </p:ext>
            </p:extLst>
          </p:nvPr>
        </p:nvGraphicFramePr>
        <p:xfrm>
          <a:off x="814388" y="1635992"/>
          <a:ext cx="7661274" cy="1463040"/>
        </p:xfrm>
        <a:graphic>
          <a:graphicData uri="http://schemas.openxmlformats.org/drawingml/2006/table">
            <a:tbl>
              <a:tblPr>
                <a:tableStyleId>{775DCB02-9BB8-47FD-8907-85C794F793BA}</a:tableStyleId>
              </a:tblPr>
              <a:tblGrid>
                <a:gridCol w="3830637">
                  <a:extLst>
                    <a:ext uri="{9D8B030D-6E8A-4147-A177-3AD203B41FA5}">
                      <a16:colId xmlns:a16="http://schemas.microsoft.com/office/drawing/2014/main" val="1912226804"/>
                    </a:ext>
                  </a:extLst>
                </a:gridCol>
                <a:gridCol w="3830637">
                  <a:extLst>
                    <a:ext uri="{9D8B030D-6E8A-4147-A177-3AD203B41FA5}">
                      <a16:colId xmlns:a16="http://schemas.microsoft.com/office/drawing/2014/main" val="2888026166"/>
                    </a:ext>
                  </a:extLst>
                </a:gridCol>
              </a:tblGrid>
              <a:tr h="365760">
                <a:tc>
                  <a:txBody>
                    <a:bodyPr/>
                    <a:lstStyle/>
                    <a:p>
                      <a:r>
                        <a:rPr lang="as-IN" sz="1800" dirty="0">
                          <a:effectLst/>
                        </a:rPr>
                        <a:t>বৈশিষ্ট্য</a:t>
                      </a:r>
                    </a:p>
                  </a:txBody>
                  <a:tcPr anchor="ctr"/>
                </a:tc>
                <a:tc>
                  <a:txBody>
                    <a:bodyPr/>
                    <a:lstStyle/>
                    <a:p>
                      <a:r>
                        <a:rPr lang="as-IN" sz="1800">
                          <a:effectLst/>
                        </a:rPr>
                        <a:t>ব্যাখ্যা</a:t>
                      </a:r>
                    </a:p>
                  </a:txBody>
                  <a:tcPr anchor="ctr"/>
                </a:tc>
                <a:extLst>
                  <a:ext uri="{0D108BD9-81ED-4DB2-BD59-A6C34878D82A}">
                    <a16:rowId xmlns:a16="http://schemas.microsoft.com/office/drawing/2014/main" val="2082907676"/>
                  </a:ext>
                </a:extLst>
              </a:tr>
              <a:tr h="365760">
                <a:tc>
                  <a:txBody>
                    <a:bodyPr/>
                    <a:lstStyle/>
                    <a:p>
                      <a:r>
                        <a:rPr lang="as-IN" sz="1800">
                          <a:effectLst/>
                        </a:rPr>
                        <a:t>শেষ </a:t>
                      </a:r>
                      <a:r>
                        <a:rPr lang="en-US" sz="1800">
                          <a:effectLst/>
                        </a:rPr>
                        <a:t>record </a:t>
                      </a:r>
                      <a:r>
                        <a:rPr lang="as-IN" sz="1800">
                          <a:effectLst/>
                        </a:rPr>
                        <a:t>দিয়ে </a:t>
                      </a:r>
                      <a:r>
                        <a:rPr lang="en-US" sz="1800">
                          <a:effectLst/>
                        </a:rPr>
                        <a:t>gap fill </a:t>
                      </a:r>
                      <a:r>
                        <a:rPr lang="as-IN" sz="1800">
                          <a:effectLst/>
                        </a:rPr>
                        <a:t>করা হয়</a:t>
                      </a:r>
                    </a:p>
                  </a:txBody>
                  <a:tcPr anchor="ctr"/>
                </a:tc>
                <a:tc>
                  <a:txBody>
                    <a:bodyPr/>
                    <a:lstStyle/>
                    <a:p>
                      <a:endParaRPr lang="en-US" sz="1800"/>
                    </a:p>
                  </a:txBody>
                  <a:tcPr/>
                </a:tc>
                <a:extLst>
                  <a:ext uri="{0D108BD9-81ED-4DB2-BD59-A6C34878D82A}">
                    <a16:rowId xmlns:a16="http://schemas.microsoft.com/office/drawing/2014/main" val="3004501046"/>
                  </a:ext>
                </a:extLst>
              </a:tr>
              <a:tr h="365760">
                <a:tc>
                  <a:txBody>
                    <a:bodyPr/>
                    <a:lstStyle/>
                    <a:p>
                      <a:r>
                        <a:rPr lang="en-US" sz="1800">
                          <a:effectLst/>
                        </a:rPr>
                        <a:t>Faster than shifting</a:t>
                      </a:r>
                    </a:p>
                  </a:txBody>
                  <a:tcPr anchor="ctr"/>
                </a:tc>
                <a:tc>
                  <a:txBody>
                    <a:bodyPr/>
                    <a:lstStyle/>
                    <a:p>
                      <a:endParaRPr lang="en-US" sz="1800"/>
                    </a:p>
                  </a:txBody>
                  <a:tcPr/>
                </a:tc>
                <a:extLst>
                  <a:ext uri="{0D108BD9-81ED-4DB2-BD59-A6C34878D82A}">
                    <a16:rowId xmlns:a16="http://schemas.microsoft.com/office/drawing/2014/main" val="661268996"/>
                  </a:ext>
                </a:extLst>
              </a:tr>
              <a:tr h="365760">
                <a:tc>
                  <a:txBody>
                    <a:bodyPr/>
                    <a:lstStyle/>
                    <a:p>
                      <a:r>
                        <a:rPr lang="en-US" sz="1800">
                          <a:effectLst/>
                        </a:rPr>
                        <a:t>Drawback → record order নষ্ট হয়</a:t>
                      </a:r>
                    </a:p>
                  </a:txBody>
                  <a:tcPr anchor="ctr"/>
                </a:tc>
                <a:tc>
                  <a:txBody>
                    <a:bodyPr/>
                    <a:lstStyle/>
                    <a:p>
                      <a:endParaRPr lang="en-US" sz="1800" dirty="0"/>
                    </a:p>
                  </a:txBody>
                  <a:tcPr/>
                </a:tc>
                <a:extLst>
                  <a:ext uri="{0D108BD9-81ED-4DB2-BD59-A6C34878D82A}">
                    <a16:rowId xmlns:a16="http://schemas.microsoft.com/office/drawing/2014/main" val="1500647351"/>
                  </a:ext>
                </a:extLst>
              </a:tr>
            </a:tbl>
          </a:graphicData>
        </a:graphic>
      </p:graphicFrame>
    </p:spTree>
    <p:extLst>
      <p:ext uri="{BB962C8B-B14F-4D97-AF65-F5344CB8AC3E}">
        <p14:creationId xmlns:p14="http://schemas.microsoft.com/office/powerpoint/2010/main" val="12871756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43367653-EE3B-4308-B688-073192C53A40}"/>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Fixed-Length Records</a:t>
            </a:r>
          </a:p>
        </p:txBody>
      </p:sp>
      <p:sp>
        <p:nvSpPr>
          <p:cNvPr id="79875" name="Rectangle 3">
            <a:extLst>
              <a:ext uri="{FF2B5EF4-FFF2-40B4-BE49-F238E27FC236}">
                <a16:creationId xmlns:a16="http://schemas.microsoft.com/office/drawing/2014/main" id="{4AE7AAC6-B0E2-411A-A36F-61F8050E8E71}"/>
              </a:ext>
            </a:extLst>
          </p:cNvPr>
          <p:cNvSpPr>
            <a:spLocks noGrp="1" noChangeArrowheads="1"/>
          </p:cNvSpPr>
          <p:nvPr>
            <p:ph type="body" idx="1"/>
          </p:nvPr>
        </p:nvSpPr>
        <p:spPr>
          <a:xfrm>
            <a:off x="768349" y="1150644"/>
            <a:ext cx="7513883" cy="4876800"/>
          </a:xfrm>
        </p:spPr>
        <p:txBody>
          <a:bodyPr/>
          <a:lstStyle/>
          <a:p>
            <a:r>
              <a:rPr lang="en-US" altLang="en-US" dirty="0"/>
              <a:t>Deletion of record </a:t>
            </a:r>
            <a:r>
              <a:rPr lang="en-US" altLang="en-US" i="1" dirty="0"/>
              <a:t>i:  </a:t>
            </a:r>
            <a:r>
              <a:rPr lang="en-US" altLang="en-US" dirty="0"/>
              <a:t>alternatives</a:t>
            </a:r>
            <a:r>
              <a:rPr lang="en-US" altLang="en-US" i="1" dirty="0"/>
              <a:t>:</a:t>
            </a:r>
          </a:p>
          <a:p>
            <a:pPr lvl="1"/>
            <a:r>
              <a:rPr lang="en-US" altLang="en-US" dirty="0"/>
              <a:t>move records </a:t>
            </a:r>
            <a:r>
              <a:rPr lang="en-US" altLang="en-US" i="1" dirty="0" err="1"/>
              <a:t>i</a:t>
            </a:r>
            <a:r>
              <a:rPr lang="en-US" altLang="en-US" dirty="0"/>
              <a:t> + 1, . . ., </a:t>
            </a:r>
            <a:r>
              <a:rPr lang="en-US" altLang="en-US" i="1" dirty="0"/>
              <a:t>n</a:t>
            </a:r>
            <a:r>
              <a:rPr lang="en-US" altLang="en-US" dirty="0"/>
              <a:t>  to </a:t>
            </a:r>
            <a:r>
              <a:rPr lang="en-US" altLang="en-US" i="1" dirty="0" err="1"/>
              <a:t>i</a:t>
            </a:r>
            <a:r>
              <a:rPr lang="en-US" altLang="en-US" i="1" dirty="0"/>
              <a:t>, . . . , n </a:t>
            </a:r>
            <a:r>
              <a:rPr lang="en-US" altLang="en-US" i="1" dirty="0">
                <a:sym typeface="Symbol" panose="05050102010706020507" pitchFamily="18" charset="2"/>
              </a:rPr>
              <a:t>– </a:t>
            </a:r>
            <a:r>
              <a:rPr lang="en-US" altLang="en-US" dirty="0">
                <a:sym typeface="Symbol" panose="05050102010706020507" pitchFamily="18" charset="2"/>
              </a:rPr>
              <a:t>1</a:t>
            </a:r>
          </a:p>
          <a:p>
            <a:pPr lvl="1"/>
            <a:r>
              <a:rPr lang="en-US" altLang="en-US" dirty="0">
                <a:sym typeface="Symbol" panose="05050102010706020507" pitchFamily="18" charset="2"/>
              </a:rPr>
              <a:t>move record </a:t>
            </a:r>
            <a:r>
              <a:rPr lang="en-US" altLang="en-US" i="1" dirty="0">
                <a:sym typeface="Symbol" panose="05050102010706020507" pitchFamily="18" charset="2"/>
              </a:rPr>
              <a:t>n </a:t>
            </a:r>
            <a:r>
              <a:rPr lang="en-US" altLang="en-US" dirty="0">
                <a:sym typeface="Symbol" panose="05050102010706020507" pitchFamily="18" charset="2"/>
              </a:rPr>
              <a:t> to </a:t>
            </a:r>
            <a:r>
              <a:rPr lang="en-US" altLang="en-US" i="1" dirty="0" err="1">
                <a:sym typeface="Symbol" panose="05050102010706020507" pitchFamily="18" charset="2"/>
              </a:rPr>
              <a:t>i</a:t>
            </a:r>
            <a:endParaRPr lang="en-US" altLang="en-US" dirty="0">
              <a:sym typeface="Symbol" panose="05050102010706020507" pitchFamily="18" charset="2"/>
            </a:endParaRPr>
          </a:p>
          <a:p>
            <a:pPr lvl="1"/>
            <a:r>
              <a:rPr lang="en-US" altLang="en-US" b="1" dirty="0">
                <a:sym typeface="Symbol" panose="05050102010706020507" pitchFamily="18" charset="2"/>
              </a:rPr>
              <a:t>do not move records, but link all free records on a </a:t>
            </a:r>
            <a:r>
              <a:rPr lang="en-US" altLang="en-US" b="1" i="1" dirty="0">
                <a:sym typeface="Symbol" panose="05050102010706020507" pitchFamily="18" charset="2"/>
              </a:rPr>
              <a:t>free list</a:t>
            </a:r>
            <a:endParaRPr lang="en-US" altLang="en-US" b="1" dirty="0">
              <a:sym typeface="Symbol" panose="05050102010706020507" pitchFamily="18" charset="2"/>
            </a:endParaRPr>
          </a:p>
        </p:txBody>
      </p:sp>
      <p:pic>
        <p:nvPicPr>
          <p:cNvPr id="6" name="Graphic 5">
            <a:extLst>
              <a:ext uri="{FF2B5EF4-FFF2-40B4-BE49-F238E27FC236}">
                <a16:creationId xmlns:a16="http://schemas.microsoft.com/office/drawing/2014/main" id="{BD4EC9B3-0153-42F4-B4AB-9D1A903324FD}"/>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2228850" y="2717245"/>
            <a:ext cx="5259366" cy="3305138"/>
          </a:xfrm>
          <a:prstGeom prst="rect">
            <a:avLst/>
          </a:prstGeom>
        </p:spPr>
      </p:pic>
    </p:spTree>
    <p:extLst>
      <p:ext uri="{BB962C8B-B14F-4D97-AF65-F5344CB8AC3E}">
        <p14:creationId xmlns:p14="http://schemas.microsoft.com/office/powerpoint/2010/main" val="221164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34206" y="560448"/>
            <a:ext cx="7086601" cy="584775"/>
          </a:xfrm>
          <a:prstGeom prst="rect">
            <a:avLst/>
          </a:prstGeom>
        </p:spPr>
        <p:txBody>
          <a:bodyPr wrap="square">
            <a:spAutoFit/>
          </a:bodyPr>
          <a:lstStyle/>
          <a:p>
            <a:r>
              <a:rPr lang="en-US" b="1" dirty="0"/>
              <a:t>🔹 3. Free List Method</a:t>
            </a:r>
          </a:p>
          <a:p>
            <a:r>
              <a:rPr lang="en-US" dirty="0"/>
              <a:t>👉 </a:t>
            </a:r>
            <a:r>
              <a:rPr lang="en-US" b="1" dirty="0"/>
              <a:t>Do not move records → link deleted slots in a free list</a:t>
            </a:r>
            <a:endParaRPr lang="en-US" dirty="0">
              <a:effectLst/>
            </a:endParaRPr>
          </a:p>
        </p:txBody>
      </p:sp>
      <p:graphicFrame>
        <p:nvGraphicFramePr>
          <p:cNvPr id="3" name="Table 2"/>
          <p:cNvGraphicFramePr>
            <a:graphicFrameLocks noGrp="1"/>
          </p:cNvGraphicFramePr>
          <p:nvPr>
            <p:extLst>
              <p:ext uri="{D42A27DB-BD31-4B8C-83A1-F6EECF244321}">
                <p14:modId xmlns:p14="http://schemas.microsoft.com/office/powerpoint/2010/main" val="4156974520"/>
              </p:ext>
            </p:extLst>
          </p:nvPr>
        </p:nvGraphicFramePr>
        <p:xfrm>
          <a:off x="846869" y="1358154"/>
          <a:ext cx="7661274" cy="2651760"/>
        </p:xfrm>
        <a:graphic>
          <a:graphicData uri="http://schemas.openxmlformats.org/drawingml/2006/table">
            <a:tbl>
              <a:tblPr>
                <a:tableStyleId>{775DCB02-9BB8-47FD-8907-85C794F793BA}</a:tableStyleId>
              </a:tblPr>
              <a:tblGrid>
                <a:gridCol w="3830637">
                  <a:extLst>
                    <a:ext uri="{9D8B030D-6E8A-4147-A177-3AD203B41FA5}">
                      <a16:colId xmlns:a16="http://schemas.microsoft.com/office/drawing/2014/main" val="2101903508"/>
                    </a:ext>
                  </a:extLst>
                </a:gridCol>
                <a:gridCol w="3830637">
                  <a:extLst>
                    <a:ext uri="{9D8B030D-6E8A-4147-A177-3AD203B41FA5}">
                      <a16:colId xmlns:a16="http://schemas.microsoft.com/office/drawing/2014/main" val="1231750085"/>
                    </a:ext>
                  </a:extLst>
                </a:gridCol>
              </a:tblGrid>
              <a:tr h="365760">
                <a:tc>
                  <a:txBody>
                    <a:bodyPr/>
                    <a:lstStyle/>
                    <a:p>
                      <a:r>
                        <a:rPr lang="as-IN" sz="1800">
                          <a:effectLst/>
                        </a:rPr>
                        <a:t>বৈশিষ্ট্য</a:t>
                      </a:r>
                    </a:p>
                  </a:txBody>
                  <a:tcPr anchor="ctr"/>
                </a:tc>
                <a:tc>
                  <a:txBody>
                    <a:bodyPr/>
                    <a:lstStyle/>
                    <a:p>
                      <a:r>
                        <a:rPr lang="as-IN" sz="1800">
                          <a:effectLst/>
                        </a:rPr>
                        <a:t>ব্যাখ্যা</a:t>
                      </a:r>
                    </a:p>
                  </a:txBody>
                  <a:tcPr anchor="ctr"/>
                </a:tc>
                <a:extLst>
                  <a:ext uri="{0D108BD9-81ED-4DB2-BD59-A6C34878D82A}">
                    <a16:rowId xmlns:a16="http://schemas.microsoft.com/office/drawing/2014/main" val="4113006616"/>
                  </a:ext>
                </a:extLst>
              </a:tr>
              <a:tr h="640080">
                <a:tc>
                  <a:txBody>
                    <a:bodyPr/>
                    <a:lstStyle/>
                    <a:p>
                      <a:r>
                        <a:rPr lang="en-US" sz="1800">
                          <a:effectLst/>
                        </a:rPr>
                        <a:t>Deleted record-</a:t>
                      </a:r>
                      <a:r>
                        <a:rPr lang="as-IN" sz="1800">
                          <a:effectLst/>
                        </a:rPr>
                        <a:t>এর জায়গায় </a:t>
                      </a:r>
                      <a:r>
                        <a:rPr lang="en-US" sz="1800">
                          <a:effectLst/>
                        </a:rPr>
                        <a:t>pointer </a:t>
                      </a:r>
                      <a:r>
                        <a:rPr lang="as-IN" sz="1800">
                          <a:effectLst/>
                        </a:rPr>
                        <a:t>রাখা হয় → </a:t>
                      </a:r>
                      <a:r>
                        <a:rPr lang="en-US" sz="1800">
                          <a:effectLst/>
                        </a:rPr>
                        <a:t>next free slot</a:t>
                      </a:r>
                    </a:p>
                  </a:txBody>
                  <a:tcPr anchor="ctr"/>
                </a:tc>
                <a:tc>
                  <a:txBody>
                    <a:bodyPr/>
                    <a:lstStyle/>
                    <a:p>
                      <a:endParaRPr lang="en-US" sz="1800"/>
                    </a:p>
                  </a:txBody>
                  <a:tcPr/>
                </a:tc>
                <a:extLst>
                  <a:ext uri="{0D108BD9-81ED-4DB2-BD59-A6C34878D82A}">
                    <a16:rowId xmlns:a16="http://schemas.microsoft.com/office/drawing/2014/main" val="1058693121"/>
                  </a:ext>
                </a:extLst>
              </a:tr>
              <a:tr h="640080">
                <a:tc>
                  <a:txBody>
                    <a:bodyPr/>
                    <a:lstStyle/>
                    <a:p>
                      <a:r>
                        <a:rPr lang="en-US" sz="1800">
                          <a:effectLst/>
                        </a:rPr>
                        <a:t>Insert </a:t>
                      </a:r>
                      <a:r>
                        <a:rPr lang="as-IN" sz="1800">
                          <a:effectLst/>
                        </a:rPr>
                        <a:t>করলে </a:t>
                      </a:r>
                      <a:r>
                        <a:rPr lang="en-US" sz="1800">
                          <a:effectLst/>
                        </a:rPr>
                        <a:t>free list </a:t>
                      </a:r>
                      <a:r>
                        <a:rPr lang="as-IN" sz="1800">
                          <a:effectLst/>
                        </a:rPr>
                        <a:t>থেকে </a:t>
                      </a:r>
                      <a:r>
                        <a:rPr lang="en-US" sz="1800">
                          <a:effectLst/>
                        </a:rPr>
                        <a:t>slot </a:t>
                      </a:r>
                      <a:r>
                        <a:rPr lang="as-IN" sz="1800">
                          <a:effectLst/>
                        </a:rPr>
                        <a:t>নেওয়া যায়</a:t>
                      </a:r>
                    </a:p>
                  </a:txBody>
                  <a:tcPr anchor="ctr"/>
                </a:tc>
                <a:tc>
                  <a:txBody>
                    <a:bodyPr/>
                    <a:lstStyle/>
                    <a:p>
                      <a:endParaRPr lang="en-US" sz="1800"/>
                    </a:p>
                  </a:txBody>
                  <a:tcPr/>
                </a:tc>
                <a:extLst>
                  <a:ext uri="{0D108BD9-81ED-4DB2-BD59-A6C34878D82A}">
                    <a16:rowId xmlns:a16="http://schemas.microsoft.com/office/drawing/2014/main" val="1896931741"/>
                  </a:ext>
                </a:extLst>
              </a:tr>
              <a:tr h="365760">
                <a:tc>
                  <a:txBody>
                    <a:bodyPr/>
                    <a:lstStyle/>
                    <a:p>
                      <a:r>
                        <a:rPr lang="en-US" sz="1800">
                          <a:effectLst/>
                        </a:rPr>
                        <a:t>Efficient for frequent insert/delete</a:t>
                      </a:r>
                    </a:p>
                  </a:txBody>
                  <a:tcPr anchor="ctr"/>
                </a:tc>
                <a:tc>
                  <a:txBody>
                    <a:bodyPr/>
                    <a:lstStyle/>
                    <a:p>
                      <a:endParaRPr lang="en-US" sz="1800"/>
                    </a:p>
                  </a:txBody>
                  <a:tcPr/>
                </a:tc>
                <a:extLst>
                  <a:ext uri="{0D108BD9-81ED-4DB2-BD59-A6C34878D82A}">
                    <a16:rowId xmlns:a16="http://schemas.microsoft.com/office/drawing/2014/main" val="1908582167"/>
                  </a:ext>
                </a:extLst>
              </a:tr>
              <a:tr h="640080">
                <a:tc>
                  <a:txBody>
                    <a:bodyPr/>
                    <a:lstStyle/>
                    <a:p>
                      <a:r>
                        <a:rPr lang="en-US" sz="1800">
                          <a:effectLst/>
                        </a:rPr>
                        <a:t>Drawback → extra pointer management লাগে</a:t>
                      </a:r>
                    </a:p>
                  </a:txBody>
                  <a:tcPr anchor="ctr"/>
                </a:tc>
                <a:tc>
                  <a:txBody>
                    <a:bodyPr/>
                    <a:lstStyle/>
                    <a:p>
                      <a:endParaRPr lang="en-US" sz="1800" dirty="0"/>
                    </a:p>
                  </a:txBody>
                  <a:tcPr/>
                </a:tc>
                <a:extLst>
                  <a:ext uri="{0D108BD9-81ED-4DB2-BD59-A6C34878D82A}">
                    <a16:rowId xmlns:a16="http://schemas.microsoft.com/office/drawing/2014/main" val="3138030382"/>
                  </a:ext>
                </a:extLst>
              </a:tr>
            </a:tbl>
          </a:graphicData>
        </a:graphic>
      </p:graphicFrame>
      <p:sp>
        <p:nvSpPr>
          <p:cNvPr id="4" name="Rectangle 3"/>
          <p:cNvSpPr/>
          <p:nvPr/>
        </p:nvSpPr>
        <p:spPr>
          <a:xfrm>
            <a:off x="325315" y="4349951"/>
            <a:ext cx="7895491" cy="338554"/>
          </a:xfrm>
          <a:prstGeom prst="rect">
            <a:avLst/>
          </a:prstGeom>
        </p:spPr>
        <p:txBody>
          <a:bodyPr wrap="square">
            <a:spAutoFit/>
          </a:bodyPr>
          <a:lstStyle/>
          <a:p>
            <a:r>
              <a:rPr lang="en-US" dirty="0"/>
              <a:t>👉 </a:t>
            </a:r>
            <a:r>
              <a:rPr lang="as-IN" dirty="0"/>
              <a:t>ধরো তুই খালি জায়গাগুলো চিহ্নিত করে রাখছো → পরে নতুন নাম বসাতে পারো</a:t>
            </a:r>
            <a:endParaRPr lang="en-US" dirty="0"/>
          </a:p>
        </p:txBody>
      </p:sp>
    </p:spTree>
    <p:extLst>
      <p:ext uri="{BB962C8B-B14F-4D97-AF65-F5344CB8AC3E}">
        <p14:creationId xmlns:p14="http://schemas.microsoft.com/office/powerpoint/2010/main" val="598469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a:extLst>
              <a:ext uri="{FF2B5EF4-FFF2-40B4-BE49-F238E27FC236}">
                <a16:creationId xmlns:a16="http://schemas.microsoft.com/office/drawing/2014/main" id="{6791EE68-37C9-4B1B-9F29-C787D33A9FBF}"/>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Variable-Length Records</a:t>
            </a:r>
          </a:p>
        </p:txBody>
      </p:sp>
      <p:sp>
        <p:nvSpPr>
          <p:cNvPr id="88067" name="Rectangle 3">
            <a:extLst>
              <a:ext uri="{FF2B5EF4-FFF2-40B4-BE49-F238E27FC236}">
                <a16:creationId xmlns:a16="http://schemas.microsoft.com/office/drawing/2014/main" id="{7CE9FE88-828A-4BC1-8BE5-E94CA02154D0}"/>
              </a:ext>
            </a:extLst>
          </p:cNvPr>
          <p:cNvSpPr>
            <a:spLocks noGrp="1" noChangeArrowheads="1"/>
          </p:cNvSpPr>
          <p:nvPr>
            <p:ph type="body" idx="1"/>
          </p:nvPr>
        </p:nvSpPr>
        <p:spPr>
          <a:xfrm>
            <a:off x="814280" y="1236663"/>
            <a:ext cx="7601752" cy="4897437"/>
          </a:xfrm>
        </p:spPr>
        <p:txBody>
          <a:bodyPr/>
          <a:lstStyle/>
          <a:p>
            <a:r>
              <a:rPr lang="en-US" altLang="en-US" dirty="0"/>
              <a:t>Variable-length records arise in database systems in several ways:</a:t>
            </a:r>
          </a:p>
          <a:p>
            <a:pPr lvl="1"/>
            <a:r>
              <a:rPr lang="en-US" altLang="en-US" dirty="0"/>
              <a:t>Storage of multiple record types in a file.</a:t>
            </a:r>
          </a:p>
          <a:p>
            <a:pPr lvl="1"/>
            <a:r>
              <a:rPr lang="en-US" altLang="en-US" dirty="0"/>
              <a:t>Record types that allow variable lengths for one or more fields such as strings (</a:t>
            </a:r>
            <a:r>
              <a:rPr lang="en-US" altLang="en-US" b="1" dirty="0"/>
              <a:t>varchar</a:t>
            </a:r>
            <a:r>
              <a:rPr lang="en-US" altLang="en-US" dirty="0"/>
              <a:t>)</a:t>
            </a:r>
          </a:p>
          <a:p>
            <a:pPr lvl="1"/>
            <a:r>
              <a:rPr lang="en-US" altLang="en-US" dirty="0"/>
              <a:t>Record types that allow repeating fields (used in some older data models).</a:t>
            </a:r>
          </a:p>
          <a:p>
            <a:pPr>
              <a:buFont typeface="Monotype Sorts" pitchFamily="-65" charset="2"/>
              <a:buNone/>
            </a:pPr>
            <a:endParaRPr lang="en-US" altLang="en-US" dirty="0"/>
          </a:p>
        </p:txBody>
      </p:sp>
      <p:pic>
        <p:nvPicPr>
          <p:cNvPr id="4" name="Picture 3"/>
          <p:cNvPicPr>
            <a:picLocks noChangeAspect="1"/>
          </p:cNvPicPr>
          <p:nvPr/>
        </p:nvPicPr>
        <p:blipFill>
          <a:blip r:embed="rId3"/>
          <a:stretch>
            <a:fillRect/>
          </a:stretch>
        </p:blipFill>
        <p:spPr>
          <a:xfrm>
            <a:off x="661132" y="3967884"/>
            <a:ext cx="8184418" cy="2166216"/>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a:extLst>
              <a:ext uri="{FF2B5EF4-FFF2-40B4-BE49-F238E27FC236}">
                <a16:creationId xmlns:a16="http://schemas.microsoft.com/office/drawing/2014/main" id="{6791EE68-37C9-4B1B-9F29-C787D33A9FBF}"/>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Variable-Length Records</a:t>
            </a:r>
          </a:p>
        </p:txBody>
      </p:sp>
      <p:sp>
        <p:nvSpPr>
          <p:cNvPr id="88067" name="Rectangle 3">
            <a:extLst>
              <a:ext uri="{FF2B5EF4-FFF2-40B4-BE49-F238E27FC236}">
                <a16:creationId xmlns:a16="http://schemas.microsoft.com/office/drawing/2014/main" id="{7CE9FE88-828A-4BC1-8BE5-E94CA02154D0}"/>
              </a:ext>
            </a:extLst>
          </p:cNvPr>
          <p:cNvSpPr>
            <a:spLocks noGrp="1" noChangeArrowheads="1"/>
          </p:cNvSpPr>
          <p:nvPr>
            <p:ph type="body" idx="1"/>
          </p:nvPr>
        </p:nvSpPr>
        <p:spPr>
          <a:xfrm>
            <a:off x="814280" y="1236663"/>
            <a:ext cx="7601752" cy="4897437"/>
          </a:xfrm>
        </p:spPr>
        <p:txBody>
          <a:bodyPr/>
          <a:lstStyle/>
          <a:p>
            <a:endParaRPr lang="en-US" altLang="en-US" dirty="0"/>
          </a:p>
          <a:p>
            <a:r>
              <a:rPr lang="en-US" altLang="en-US" dirty="0"/>
              <a:t>Attributes are stored in order</a:t>
            </a:r>
          </a:p>
          <a:p>
            <a:r>
              <a:rPr lang="en-US" altLang="en-US" dirty="0"/>
              <a:t>Variable length attributes represented by fixed size (offset, length), with actual data stored after all fixed length attributes</a:t>
            </a:r>
          </a:p>
          <a:p>
            <a:r>
              <a:rPr lang="en-US" altLang="en-US" dirty="0"/>
              <a:t>Null values represented by null-value bitmap</a:t>
            </a:r>
          </a:p>
          <a:p>
            <a:pPr>
              <a:buFont typeface="Monotype Sorts" pitchFamily="-65" charset="2"/>
              <a:buNone/>
            </a:pPr>
            <a:endParaRPr lang="en-US" altLang="en-US" dirty="0"/>
          </a:p>
        </p:txBody>
      </p:sp>
      <p:pic>
        <p:nvPicPr>
          <p:cNvPr id="3" name="Graphic 2">
            <a:extLst>
              <a:ext uri="{FF2B5EF4-FFF2-40B4-BE49-F238E27FC236}">
                <a16:creationId xmlns:a16="http://schemas.microsoft.com/office/drawing/2014/main" id="{8F1604FC-4EFB-44C1-97BC-1E7707DD7FF0}"/>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814280" y="3021816"/>
            <a:ext cx="6486632" cy="1191048"/>
          </a:xfrm>
          <a:prstGeom prst="rect">
            <a:avLst/>
          </a:prstGeom>
        </p:spPr>
      </p:pic>
      <p:pic>
        <p:nvPicPr>
          <p:cNvPr id="5" name="Picture 4"/>
          <p:cNvPicPr>
            <a:picLocks noChangeAspect="1"/>
          </p:cNvPicPr>
          <p:nvPr/>
        </p:nvPicPr>
        <p:blipFill>
          <a:blip r:embed="rId5"/>
          <a:stretch>
            <a:fillRect/>
          </a:stretch>
        </p:blipFill>
        <p:spPr>
          <a:xfrm>
            <a:off x="1398095" y="4284549"/>
            <a:ext cx="4061812" cy="1607959"/>
          </a:xfrm>
          <a:prstGeom prst="rect">
            <a:avLst/>
          </a:prstGeom>
        </p:spPr>
      </p:pic>
      <p:graphicFrame>
        <p:nvGraphicFramePr>
          <p:cNvPr id="2" name="Table 1"/>
          <p:cNvGraphicFramePr>
            <a:graphicFrameLocks noGrp="1"/>
          </p:cNvGraphicFramePr>
          <p:nvPr>
            <p:extLst>
              <p:ext uri="{D42A27DB-BD31-4B8C-83A1-F6EECF244321}">
                <p14:modId xmlns:p14="http://schemas.microsoft.com/office/powerpoint/2010/main" val="3264244886"/>
              </p:ext>
            </p:extLst>
          </p:nvPr>
        </p:nvGraphicFramePr>
        <p:xfrm>
          <a:off x="1395653" y="5984523"/>
          <a:ext cx="6096000" cy="6400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663166633"/>
                    </a:ext>
                  </a:extLst>
                </a:gridCol>
                <a:gridCol w="2032000">
                  <a:extLst>
                    <a:ext uri="{9D8B030D-6E8A-4147-A177-3AD203B41FA5}">
                      <a16:colId xmlns:a16="http://schemas.microsoft.com/office/drawing/2014/main" val="1047491494"/>
                    </a:ext>
                  </a:extLst>
                </a:gridCol>
                <a:gridCol w="2032000">
                  <a:extLst>
                    <a:ext uri="{9D8B030D-6E8A-4147-A177-3AD203B41FA5}">
                      <a16:colId xmlns:a16="http://schemas.microsoft.com/office/drawing/2014/main" val="1796749992"/>
                    </a:ext>
                  </a:extLst>
                </a:gridCol>
              </a:tblGrid>
              <a:tr h="370840">
                <a:tc>
                  <a:txBody>
                    <a:bodyPr/>
                    <a:lstStyle/>
                    <a:p>
                      <a:r>
                        <a:rPr lang="en-US" dirty="0" smtClean="0">
                          <a:solidFill>
                            <a:srgbClr val="FF0000"/>
                          </a:solidFill>
                        </a:rPr>
                        <a:t>Record Header</a:t>
                      </a:r>
                      <a:endParaRPr lang="en-US" dirty="0">
                        <a:solidFill>
                          <a:srgbClr val="FF0000"/>
                        </a:solidFill>
                      </a:endParaRPr>
                    </a:p>
                  </a:txBody>
                  <a:tcPr/>
                </a:tc>
                <a:tc>
                  <a:txBody>
                    <a:bodyPr/>
                    <a:lstStyle/>
                    <a:p>
                      <a:r>
                        <a:rPr lang="en-US" dirty="0" smtClean="0">
                          <a:solidFill>
                            <a:srgbClr val="FF0000"/>
                          </a:solidFill>
                        </a:rPr>
                        <a:t>Fixed length field</a:t>
                      </a:r>
                      <a:endParaRPr lang="en-US" dirty="0">
                        <a:solidFill>
                          <a:srgbClr val="FF0000"/>
                        </a:solidFill>
                      </a:endParaRPr>
                    </a:p>
                  </a:txBody>
                  <a:tcPr/>
                </a:tc>
                <a:tc>
                  <a:txBody>
                    <a:bodyPr/>
                    <a:lstStyle/>
                    <a:p>
                      <a:r>
                        <a:rPr lang="en-US" dirty="0" smtClean="0">
                          <a:solidFill>
                            <a:srgbClr val="FF0000"/>
                          </a:solidFill>
                        </a:rPr>
                        <a:t>Variable length field</a:t>
                      </a:r>
                      <a:endParaRPr lang="en-US" dirty="0">
                        <a:solidFill>
                          <a:srgbClr val="FF0000"/>
                        </a:solidFill>
                      </a:endParaRPr>
                    </a:p>
                  </a:txBody>
                  <a:tcPr/>
                </a:tc>
                <a:extLst>
                  <a:ext uri="{0D108BD9-81ED-4DB2-BD59-A6C34878D82A}">
                    <a16:rowId xmlns:a16="http://schemas.microsoft.com/office/drawing/2014/main" val="2671240758"/>
                  </a:ext>
                </a:extLst>
              </a:tr>
            </a:tbl>
          </a:graphicData>
        </a:graphic>
      </p:graphicFrame>
    </p:spTree>
    <p:extLst>
      <p:ext uri="{BB962C8B-B14F-4D97-AF65-F5344CB8AC3E}">
        <p14:creationId xmlns:p14="http://schemas.microsoft.com/office/powerpoint/2010/main" val="319659858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8022" y="147026"/>
            <a:ext cx="8141677" cy="1277273"/>
          </a:xfrm>
          <a:prstGeom prst="rect">
            <a:avLst/>
          </a:prstGeom>
        </p:spPr>
        <p:txBody>
          <a:bodyPr wrap="square">
            <a:spAutoFit/>
          </a:bodyPr>
          <a:lstStyle/>
          <a:p>
            <a:r>
              <a:rPr lang="en-US" sz="1100" b="1" dirty="0"/>
              <a:t>🧠 Variable-Length Record: </a:t>
            </a:r>
            <a:r>
              <a:rPr lang="as-IN" sz="1100" b="1" dirty="0"/>
              <a:t>কীভাবে </a:t>
            </a:r>
            <a:r>
              <a:rPr lang="en-US" sz="1100" b="1" dirty="0"/>
              <a:t>store </a:t>
            </a:r>
            <a:r>
              <a:rPr lang="as-IN" sz="1100" b="1" dirty="0"/>
              <a:t>করা হয়?</a:t>
            </a:r>
          </a:p>
          <a:p>
            <a:r>
              <a:rPr lang="en-US" sz="1100" b="1" dirty="0"/>
              <a:t>🔹 Record Structure Breakdown</a:t>
            </a:r>
          </a:p>
          <a:p>
            <a:r>
              <a:rPr lang="as-IN" sz="1100" dirty="0"/>
              <a:t>একটা </a:t>
            </a:r>
            <a:r>
              <a:rPr lang="en-US" sz="1100" dirty="0"/>
              <a:t>record </a:t>
            </a:r>
            <a:r>
              <a:rPr lang="as-IN" sz="1100" dirty="0"/>
              <a:t>তিনটা অংশে ভাগ করা হয়:</a:t>
            </a:r>
          </a:p>
          <a:p>
            <a:pPr>
              <a:buFont typeface="+mj-lt"/>
              <a:buAutoNum type="arabicPeriod"/>
            </a:pPr>
            <a:r>
              <a:rPr lang="en-US" sz="1100" b="1" dirty="0"/>
              <a:t>Record Header</a:t>
            </a:r>
            <a:r>
              <a:rPr lang="en-US" sz="1100" dirty="0"/>
              <a:t> → Metadata: total size, pointer info → Example: Byte 0–4</a:t>
            </a:r>
          </a:p>
          <a:p>
            <a:pPr>
              <a:buFont typeface="+mj-lt"/>
              <a:buAutoNum type="arabicPeriod"/>
            </a:pPr>
            <a:r>
              <a:rPr lang="en-US" sz="1100" b="1" dirty="0"/>
              <a:t>Fixed-Length Fields</a:t>
            </a:r>
            <a:r>
              <a:rPr lang="en-US" sz="1100" dirty="0"/>
              <a:t> → </a:t>
            </a:r>
            <a:r>
              <a:rPr lang="as-IN" sz="1100" dirty="0"/>
              <a:t>যেমন </a:t>
            </a:r>
            <a:r>
              <a:rPr lang="en-US" sz="1100" dirty="0"/>
              <a:t>numeric, ID — </a:t>
            </a:r>
            <a:r>
              <a:rPr lang="as-IN" sz="1100" dirty="0"/>
              <a:t>যেগুলোর </a:t>
            </a:r>
            <a:r>
              <a:rPr lang="en-US" sz="1100" dirty="0"/>
              <a:t>size </a:t>
            </a:r>
            <a:r>
              <a:rPr lang="as-IN" sz="1100" dirty="0"/>
              <a:t>সবসময় </a:t>
            </a:r>
            <a:r>
              <a:rPr lang="en-US" sz="1100" dirty="0"/>
              <a:t>same → Example: Byte 4–20</a:t>
            </a:r>
          </a:p>
          <a:p>
            <a:pPr>
              <a:buFont typeface="+mj-lt"/>
              <a:buAutoNum type="arabicPeriod"/>
            </a:pPr>
            <a:r>
              <a:rPr lang="en-US" sz="1100" b="1" dirty="0"/>
              <a:t>Variable-Length Fields</a:t>
            </a:r>
            <a:r>
              <a:rPr lang="en-US" sz="1100" dirty="0"/>
              <a:t> → </a:t>
            </a:r>
            <a:r>
              <a:rPr lang="as-IN" sz="1100" dirty="0"/>
              <a:t>যেমন </a:t>
            </a:r>
            <a:r>
              <a:rPr lang="en-US" sz="1100" dirty="0"/>
              <a:t>name, </a:t>
            </a:r>
            <a:r>
              <a:rPr lang="en-US" sz="1100" dirty="0" err="1"/>
              <a:t>dept_name</a:t>
            </a:r>
            <a:r>
              <a:rPr lang="en-US" sz="1100" dirty="0"/>
              <a:t> — </a:t>
            </a:r>
            <a:r>
              <a:rPr lang="as-IN" sz="1100" dirty="0"/>
              <a:t>যেগুলোর </a:t>
            </a:r>
            <a:r>
              <a:rPr lang="en-US" sz="1100" dirty="0"/>
              <a:t>size vary </a:t>
            </a:r>
            <a:r>
              <a:rPr lang="as-IN" sz="1100" dirty="0"/>
              <a:t>করে → </a:t>
            </a:r>
            <a:r>
              <a:rPr lang="en-US" sz="1100" dirty="0"/>
              <a:t>Stored separately, with pointer info (offset + length) → Example: Byte 21–45</a:t>
            </a:r>
            <a:endParaRPr lang="en-US" sz="1100" dirty="0">
              <a:effectLst/>
            </a:endParaRPr>
          </a:p>
        </p:txBody>
      </p:sp>
      <p:sp>
        <p:nvSpPr>
          <p:cNvPr id="3" name="Rectangle 2"/>
          <p:cNvSpPr/>
          <p:nvPr/>
        </p:nvSpPr>
        <p:spPr>
          <a:xfrm>
            <a:off x="888022" y="1347759"/>
            <a:ext cx="2125903" cy="261610"/>
          </a:xfrm>
          <a:prstGeom prst="rect">
            <a:avLst/>
          </a:prstGeom>
        </p:spPr>
        <p:txBody>
          <a:bodyPr wrap="none">
            <a:spAutoFit/>
          </a:bodyPr>
          <a:lstStyle/>
          <a:p>
            <a:r>
              <a:rPr lang="en-US" sz="1100" dirty="0"/>
              <a:t>Variable-Length Field Handling</a:t>
            </a:r>
          </a:p>
        </p:txBody>
      </p:sp>
      <p:graphicFrame>
        <p:nvGraphicFramePr>
          <p:cNvPr id="4" name="Table 3"/>
          <p:cNvGraphicFramePr>
            <a:graphicFrameLocks noGrp="1"/>
          </p:cNvGraphicFramePr>
          <p:nvPr>
            <p:extLst>
              <p:ext uri="{D42A27DB-BD31-4B8C-83A1-F6EECF244321}">
                <p14:modId xmlns:p14="http://schemas.microsoft.com/office/powerpoint/2010/main" val="3035204703"/>
              </p:ext>
            </p:extLst>
          </p:nvPr>
        </p:nvGraphicFramePr>
        <p:xfrm>
          <a:off x="620958" y="1618620"/>
          <a:ext cx="7661274" cy="1241782"/>
        </p:xfrm>
        <a:graphic>
          <a:graphicData uri="http://schemas.openxmlformats.org/drawingml/2006/table">
            <a:tbl>
              <a:tblPr>
                <a:tableStyleId>{775DCB02-9BB8-47FD-8907-85C794F793BA}</a:tableStyleId>
              </a:tblPr>
              <a:tblGrid>
                <a:gridCol w="3830637">
                  <a:extLst>
                    <a:ext uri="{9D8B030D-6E8A-4147-A177-3AD203B41FA5}">
                      <a16:colId xmlns:a16="http://schemas.microsoft.com/office/drawing/2014/main" val="3645411061"/>
                    </a:ext>
                  </a:extLst>
                </a:gridCol>
                <a:gridCol w="3830637">
                  <a:extLst>
                    <a:ext uri="{9D8B030D-6E8A-4147-A177-3AD203B41FA5}">
                      <a16:colId xmlns:a16="http://schemas.microsoft.com/office/drawing/2014/main" val="708969017"/>
                    </a:ext>
                  </a:extLst>
                </a:gridCol>
              </a:tblGrid>
              <a:tr h="169658">
                <a:tc>
                  <a:txBody>
                    <a:bodyPr/>
                    <a:lstStyle/>
                    <a:p>
                      <a:r>
                        <a:rPr lang="as-IN" sz="1100" dirty="0">
                          <a:effectLst/>
                        </a:rPr>
                        <a:t>বিষয়</a:t>
                      </a:r>
                    </a:p>
                  </a:txBody>
                  <a:tcPr anchor="ctr"/>
                </a:tc>
                <a:tc>
                  <a:txBody>
                    <a:bodyPr/>
                    <a:lstStyle/>
                    <a:p>
                      <a:r>
                        <a:rPr lang="as-IN" sz="1100">
                          <a:effectLst/>
                        </a:rPr>
                        <a:t>ব্যাখ্যা</a:t>
                      </a:r>
                    </a:p>
                  </a:txBody>
                  <a:tcPr anchor="ctr"/>
                </a:tc>
                <a:extLst>
                  <a:ext uri="{0D108BD9-81ED-4DB2-BD59-A6C34878D82A}">
                    <a16:rowId xmlns:a16="http://schemas.microsoft.com/office/drawing/2014/main" val="2213258791"/>
                  </a:ext>
                </a:extLst>
              </a:tr>
              <a:tr h="169658">
                <a:tc>
                  <a:txBody>
                    <a:bodyPr/>
                    <a:lstStyle/>
                    <a:p>
                      <a:r>
                        <a:rPr lang="en-US" sz="1100" dirty="0">
                          <a:effectLst/>
                        </a:rPr>
                        <a:t>Actual data stored later</a:t>
                      </a:r>
                    </a:p>
                  </a:txBody>
                  <a:tcPr anchor="ctr"/>
                </a:tc>
                <a:tc>
                  <a:txBody>
                    <a:bodyPr/>
                    <a:lstStyle/>
                    <a:p>
                      <a:r>
                        <a:rPr lang="en-US" sz="1100">
                          <a:effectLst/>
                        </a:rPr>
                        <a:t>Fixed fields-</a:t>
                      </a:r>
                      <a:r>
                        <a:rPr lang="as-IN" sz="1100">
                          <a:effectLst/>
                        </a:rPr>
                        <a:t>এর পরে</a:t>
                      </a:r>
                    </a:p>
                  </a:txBody>
                  <a:tcPr anchor="ctr"/>
                </a:tc>
                <a:extLst>
                  <a:ext uri="{0D108BD9-81ED-4DB2-BD59-A6C34878D82A}">
                    <a16:rowId xmlns:a16="http://schemas.microsoft.com/office/drawing/2014/main" val="2745828973"/>
                  </a:ext>
                </a:extLst>
              </a:tr>
              <a:tr h="296902">
                <a:tc>
                  <a:txBody>
                    <a:bodyPr/>
                    <a:lstStyle/>
                    <a:p>
                      <a:r>
                        <a:rPr lang="en-US" sz="1100" dirty="0">
                          <a:effectLst/>
                        </a:rPr>
                        <a:t>Offset + Length pair</a:t>
                      </a:r>
                    </a:p>
                  </a:txBody>
                  <a:tcPr anchor="ctr"/>
                </a:tc>
                <a:tc>
                  <a:txBody>
                    <a:bodyPr/>
                    <a:lstStyle/>
                    <a:p>
                      <a:r>
                        <a:rPr lang="as-IN" sz="1100">
                          <a:effectLst/>
                        </a:rPr>
                        <a:t>প্রতিটি </a:t>
                      </a:r>
                      <a:r>
                        <a:rPr lang="en-US" sz="1100">
                          <a:effectLst/>
                        </a:rPr>
                        <a:t>variable field-</a:t>
                      </a:r>
                      <a:r>
                        <a:rPr lang="as-IN" sz="1100">
                          <a:effectLst/>
                        </a:rPr>
                        <a:t>এর জন্য </a:t>
                      </a:r>
                      <a:r>
                        <a:rPr lang="en-US" sz="1100">
                          <a:effectLst/>
                        </a:rPr>
                        <a:t>fixed-size pointer</a:t>
                      </a:r>
                    </a:p>
                  </a:txBody>
                  <a:tcPr anchor="ctr"/>
                </a:tc>
                <a:extLst>
                  <a:ext uri="{0D108BD9-81ED-4DB2-BD59-A6C34878D82A}">
                    <a16:rowId xmlns:a16="http://schemas.microsoft.com/office/drawing/2014/main" val="323406509"/>
                  </a:ext>
                </a:extLst>
              </a:tr>
              <a:tr h="296902">
                <a:tc>
                  <a:txBody>
                    <a:bodyPr/>
                    <a:lstStyle/>
                    <a:p>
                      <a:r>
                        <a:rPr lang="en-US" sz="1100" dirty="0">
                          <a:effectLst/>
                        </a:rPr>
                        <a:t>Example</a:t>
                      </a:r>
                    </a:p>
                  </a:txBody>
                  <a:tcPr anchor="ctr"/>
                </a:tc>
                <a:tc>
                  <a:txBody>
                    <a:bodyPr/>
                    <a:lstStyle/>
                    <a:p>
                      <a:r>
                        <a:rPr lang="en-US" sz="1100" dirty="0">
                          <a:effectLst/>
                        </a:rPr>
                        <a:t>name = (offset=21, length=10), </a:t>
                      </a:r>
                      <a:r>
                        <a:rPr lang="en-US" sz="1100" dirty="0" err="1">
                          <a:effectLst/>
                        </a:rPr>
                        <a:t>dept_name</a:t>
                      </a:r>
                      <a:r>
                        <a:rPr lang="en-US" sz="1100" dirty="0">
                          <a:effectLst/>
                        </a:rPr>
                        <a:t> = (offset=31, length=10)</a:t>
                      </a:r>
                    </a:p>
                  </a:txBody>
                  <a:tcPr anchor="ctr"/>
                </a:tc>
                <a:extLst>
                  <a:ext uri="{0D108BD9-81ED-4DB2-BD59-A6C34878D82A}">
                    <a16:rowId xmlns:a16="http://schemas.microsoft.com/office/drawing/2014/main" val="849383963"/>
                  </a:ext>
                </a:extLst>
              </a:tr>
            </a:tbl>
          </a:graphicData>
        </a:graphic>
      </p:graphicFrame>
      <p:sp>
        <p:nvSpPr>
          <p:cNvPr id="5" name="Rectangle 4"/>
          <p:cNvSpPr/>
          <p:nvPr/>
        </p:nvSpPr>
        <p:spPr>
          <a:xfrm>
            <a:off x="219805" y="2933698"/>
            <a:ext cx="8634047" cy="1107996"/>
          </a:xfrm>
          <a:prstGeom prst="rect">
            <a:avLst/>
          </a:prstGeom>
        </p:spPr>
        <p:txBody>
          <a:bodyPr wrap="square">
            <a:spAutoFit/>
          </a:bodyPr>
          <a:lstStyle/>
          <a:p>
            <a:r>
              <a:rPr lang="en-US" sz="1100" dirty="0"/>
              <a:t>👉 </a:t>
            </a:r>
            <a:r>
              <a:rPr lang="as-IN" sz="1100" dirty="0"/>
              <a:t>ধরো তুই একটা বাক্য লিখছো, আর তার </a:t>
            </a:r>
            <a:r>
              <a:rPr lang="en-US" sz="1100" dirty="0"/>
              <a:t>location + length </a:t>
            </a:r>
            <a:r>
              <a:rPr lang="as-IN" sz="1100" dirty="0"/>
              <a:t>আলাদা করে </a:t>
            </a:r>
            <a:r>
              <a:rPr lang="en-US" sz="1100" dirty="0"/>
              <a:t>note </a:t>
            </a:r>
            <a:r>
              <a:rPr lang="as-IN" sz="1100" dirty="0"/>
              <a:t>রাখছো</a:t>
            </a:r>
          </a:p>
          <a:p>
            <a:r>
              <a:rPr lang="en-US" sz="1100" b="1" dirty="0"/>
              <a:t>🔹 Null Value Handling</a:t>
            </a:r>
          </a:p>
          <a:p>
            <a:pPr>
              <a:buFont typeface="Arial" panose="020B0604020202020204" pitchFamily="34" charset="0"/>
              <a:buChar char="•"/>
            </a:pPr>
            <a:r>
              <a:rPr lang="en-US" sz="1100" b="1" dirty="0"/>
              <a:t>Null Bitmap</a:t>
            </a:r>
            <a:r>
              <a:rPr lang="en-US" sz="1100" dirty="0"/>
              <a:t> </a:t>
            </a:r>
            <a:r>
              <a:rPr lang="as-IN" sz="1100" dirty="0"/>
              <a:t>ব্যবহার করা হয়</a:t>
            </a:r>
          </a:p>
          <a:p>
            <a:pPr>
              <a:buFont typeface="Arial" panose="020B0604020202020204" pitchFamily="34" charset="0"/>
              <a:buChar char="•"/>
            </a:pPr>
            <a:r>
              <a:rPr lang="as-IN" sz="1100" dirty="0"/>
              <a:t>প্রতিটি </a:t>
            </a:r>
            <a:r>
              <a:rPr lang="en-US" sz="1100" dirty="0"/>
              <a:t>field-</a:t>
            </a:r>
            <a:r>
              <a:rPr lang="as-IN" sz="1100" dirty="0"/>
              <a:t>এর </a:t>
            </a:r>
            <a:r>
              <a:rPr lang="en-US" sz="1100" dirty="0"/>
              <a:t>null status indicate </a:t>
            </a:r>
            <a:r>
              <a:rPr lang="as-IN" sz="1100" dirty="0"/>
              <a:t>করে</a:t>
            </a:r>
          </a:p>
          <a:p>
            <a:pPr>
              <a:buFont typeface="Arial" panose="020B0604020202020204" pitchFamily="34" charset="0"/>
              <a:buChar char="•"/>
            </a:pPr>
            <a:r>
              <a:rPr lang="en-US" sz="1100" dirty="0"/>
              <a:t>Example: Byte 20 → 0000 (</a:t>
            </a:r>
            <a:r>
              <a:rPr lang="as-IN" sz="1100" dirty="0"/>
              <a:t>সব </a:t>
            </a:r>
            <a:r>
              <a:rPr lang="en-US" sz="1100" dirty="0"/>
              <a:t>field non-null)</a:t>
            </a:r>
          </a:p>
          <a:p>
            <a:r>
              <a:rPr lang="en-US" sz="1100" dirty="0"/>
              <a:t>👉 </a:t>
            </a:r>
            <a:r>
              <a:rPr lang="as-IN" sz="1100" dirty="0"/>
              <a:t>ধরো তুই একটা </a:t>
            </a:r>
            <a:r>
              <a:rPr lang="en-US" sz="1100" dirty="0"/>
              <a:t>checklist </a:t>
            </a:r>
            <a:r>
              <a:rPr lang="as-IN" sz="1100" dirty="0"/>
              <a:t>রাখছো — কোন কোন </a:t>
            </a:r>
            <a:r>
              <a:rPr lang="en-US" sz="1100" dirty="0"/>
              <a:t>field </a:t>
            </a:r>
            <a:r>
              <a:rPr lang="as-IN" sz="1100" dirty="0"/>
              <a:t>আছে, কোনটা </a:t>
            </a:r>
            <a:r>
              <a:rPr lang="en-US" sz="1100" dirty="0"/>
              <a:t>missing</a:t>
            </a:r>
            <a:endParaRPr lang="en-US" sz="1100" dirty="0">
              <a:effectLst/>
            </a:endParaRPr>
          </a:p>
        </p:txBody>
      </p:sp>
      <p:graphicFrame>
        <p:nvGraphicFramePr>
          <p:cNvPr id="6" name="Table 5"/>
          <p:cNvGraphicFramePr>
            <a:graphicFrameLocks noGrp="1"/>
          </p:cNvGraphicFramePr>
          <p:nvPr>
            <p:extLst>
              <p:ext uri="{D42A27DB-BD31-4B8C-83A1-F6EECF244321}">
                <p14:modId xmlns:p14="http://schemas.microsoft.com/office/powerpoint/2010/main" val="2047252192"/>
              </p:ext>
            </p:extLst>
          </p:nvPr>
        </p:nvGraphicFramePr>
        <p:xfrm>
          <a:off x="436320" y="4139263"/>
          <a:ext cx="7661274" cy="1411830"/>
        </p:xfrm>
        <a:graphic>
          <a:graphicData uri="http://schemas.openxmlformats.org/drawingml/2006/table">
            <a:tbl>
              <a:tblPr>
                <a:tableStyleId>{775DCB02-9BB8-47FD-8907-85C794F793BA}</a:tableStyleId>
              </a:tblPr>
              <a:tblGrid>
                <a:gridCol w="3830637">
                  <a:extLst>
                    <a:ext uri="{9D8B030D-6E8A-4147-A177-3AD203B41FA5}">
                      <a16:colId xmlns:a16="http://schemas.microsoft.com/office/drawing/2014/main" val="277451278"/>
                    </a:ext>
                  </a:extLst>
                </a:gridCol>
                <a:gridCol w="3830637">
                  <a:extLst>
                    <a:ext uri="{9D8B030D-6E8A-4147-A177-3AD203B41FA5}">
                      <a16:colId xmlns:a16="http://schemas.microsoft.com/office/drawing/2014/main" val="4001672086"/>
                    </a:ext>
                  </a:extLst>
                </a:gridCol>
              </a:tblGrid>
              <a:tr h="214577">
                <a:tc>
                  <a:txBody>
                    <a:bodyPr/>
                    <a:lstStyle/>
                    <a:p>
                      <a:r>
                        <a:rPr lang="en-US" sz="1100" dirty="0">
                          <a:effectLst/>
                        </a:rPr>
                        <a:t>Byte Range</a:t>
                      </a:r>
                    </a:p>
                  </a:txBody>
                  <a:tcPr anchor="ctr"/>
                </a:tc>
                <a:tc>
                  <a:txBody>
                    <a:bodyPr/>
                    <a:lstStyle/>
                    <a:p>
                      <a:r>
                        <a:rPr lang="en-US" sz="1100">
                          <a:effectLst/>
                        </a:rPr>
                        <a:t>Content</a:t>
                      </a:r>
                    </a:p>
                  </a:txBody>
                  <a:tcPr anchor="ctr"/>
                </a:tc>
                <a:extLst>
                  <a:ext uri="{0D108BD9-81ED-4DB2-BD59-A6C34878D82A}">
                    <a16:rowId xmlns:a16="http://schemas.microsoft.com/office/drawing/2014/main" val="3578687269"/>
                  </a:ext>
                </a:extLst>
              </a:tr>
              <a:tr h="214577">
                <a:tc>
                  <a:txBody>
                    <a:bodyPr/>
                    <a:lstStyle/>
                    <a:p>
                      <a:r>
                        <a:rPr lang="en-US" sz="1100" dirty="0">
                          <a:effectLst/>
                        </a:rPr>
                        <a:t>0–4</a:t>
                      </a:r>
                    </a:p>
                  </a:txBody>
                  <a:tcPr anchor="ctr"/>
                </a:tc>
                <a:tc>
                  <a:txBody>
                    <a:bodyPr/>
                    <a:lstStyle/>
                    <a:p>
                      <a:r>
                        <a:rPr lang="en-US" sz="1100">
                          <a:effectLst/>
                        </a:rPr>
                        <a:t>Record Header (21, 5)</a:t>
                      </a:r>
                    </a:p>
                  </a:txBody>
                  <a:tcPr anchor="ctr"/>
                </a:tc>
                <a:extLst>
                  <a:ext uri="{0D108BD9-81ED-4DB2-BD59-A6C34878D82A}">
                    <a16:rowId xmlns:a16="http://schemas.microsoft.com/office/drawing/2014/main" val="2481708145"/>
                  </a:ext>
                </a:extLst>
              </a:tr>
              <a:tr h="214577">
                <a:tc>
                  <a:txBody>
                    <a:bodyPr/>
                    <a:lstStyle/>
                    <a:p>
                      <a:r>
                        <a:rPr lang="en-US" sz="1100" dirty="0">
                          <a:effectLst/>
                        </a:rPr>
                        <a:t>4–20</a:t>
                      </a:r>
                    </a:p>
                  </a:txBody>
                  <a:tcPr anchor="ctr"/>
                </a:tc>
                <a:tc>
                  <a:txBody>
                    <a:bodyPr/>
                    <a:lstStyle/>
                    <a:p>
                      <a:r>
                        <a:rPr lang="en-US" sz="1100">
                          <a:effectLst/>
                        </a:rPr>
                        <a:t>Fixed fields (ID, salary, offset info)</a:t>
                      </a:r>
                    </a:p>
                  </a:txBody>
                  <a:tcPr anchor="ctr"/>
                </a:tc>
                <a:extLst>
                  <a:ext uri="{0D108BD9-81ED-4DB2-BD59-A6C34878D82A}">
                    <a16:rowId xmlns:a16="http://schemas.microsoft.com/office/drawing/2014/main" val="3949389115"/>
                  </a:ext>
                </a:extLst>
              </a:tr>
              <a:tr h="214577">
                <a:tc>
                  <a:txBody>
                    <a:bodyPr/>
                    <a:lstStyle/>
                    <a:p>
                      <a:r>
                        <a:rPr lang="en-US" sz="1100" dirty="0">
                          <a:effectLst/>
                        </a:rPr>
                        <a:t>20</a:t>
                      </a:r>
                    </a:p>
                  </a:txBody>
                  <a:tcPr anchor="ctr"/>
                </a:tc>
                <a:tc>
                  <a:txBody>
                    <a:bodyPr/>
                    <a:lstStyle/>
                    <a:p>
                      <a:r>
                        <a:rPr lang="en-US" sz="1100" dirty="0">
                          <a:effectLst/>
                        </a:rPr>
                        <a:t>Null bitmap (0000)</a:t>
                      </a:r>
                    </a:p>
                  </a:txBody>
                  <a:tcPr anchor="ctr"/>
                </a:tc>
                <a:extLst>
                  <a:ext uri="{0D108BD9-81ED-4DB2-BD59-A6C34878D82A}">
                    <a16:rowId xmlns:a16="http://schemas.microsoft.com/office/drawing/2014/main" val="598921671"/>
                  </a:ext>
                </a:extLst>
              </a:tr>
              <a:tr h="375510">
                <a:tc>
                  <a:txBody>
                    <a:bodyPr/>
                    <a:lstStyle/>
                    <a:p>
                      <a:r>
                        <a:rPr lang="en-US" sz="1100" dirty="0">
                          <a:effectLst/>
                        </a:rPr>
                        <a:t>21–45</a:t>
                      </a:r>
                    </a:p>
                  </a:txBody>
                  <a:tcPr anchor="ctr"/>
                </a:tc>
                <a:tc>
                  <a:txBody>
                    <a:bodyPr/>
                    <a:lstStyle/>
                    <a:p>
                      <a:r>
                        <a:rPr lang="en-US" sz="1100" dirty="0">
                          <a:effectLst/>
                        </a:rPr>
                        <a:t>Variable fields (Srinivasan, Comp. Sci.)</a:t>
                      </a:r>
                    </a:p>
                  </a:txBody>
                  <a:tcPr anchor="ctr"/>
                </a:tc>
                <a:extLst>
                  <a:ext uri="{0D108BD9-81ED-4DB2-BD59-A6C34878D82A}">
                    <a16:rowId xmlns:a16="http://schemas.microsoft.com/office/drawing/2014/main" val="281549642"/>
                  </a:ext>
                </a:extLst>
              </a:tr>
            </a:tbl>
          </a:graphicData>
        </a:graphic>
      </p:graphicFrame>
    </p:spTree>
    <p:extLst>
      <p:ext uri="{BB962C8B-B14F-4D97-AF65-F5344CB8AC3E}">
        <p14:creationId xmlns:p14="http://schemas.microsoft.com/office/powerpoint/2010/main" val="3779034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a:extLst>
              <a:ext uri="{FF2B5EF4-FFF2-40B4-BE49-F238E27FC236}">
                <a16:creationId xmlns:a16="http://schemas.microsoft.com/office/drawing/2014/main" id="{C76C3333-53AE-4B99-A283-DF0FABC6116F}"/>
              </a:ext>
            </a:extLst>
          </p:cNvPr>
          <p:cNvSpPr>
            <a:spLocks noGrp="1" noChangeArrowheads="1"/>
          </p:cNvSpPr>
          <p:nvPr>
            <p:ph type="title"/>
          </p:nvPr>
        </p:nvSpPr>
        <p:spPr>
          <a:xfrm>
            <a:off x="687467" y="338142"/>
            <a:ext cx="8627985" cy="457200"/>
          </a:xfrm>
        </p:spPr>
        <p:txBody>
          <a:bodyPr/>
          <a:lstStyle/>
          <a:p>
            <a:pPr>
              <a:defRPr/>
            </a:pPr>
            <a:r>
              <a:rPr lang="en-US" altLang="en-US" sz="2700" dirty="0">
                <a:effectLst>
                  <a:outerShdw blurRad="38100" dist="38100" dir="2700000" algn="tl">
                    <a:srgbClr val="C0C0C0"/>
                  </a:outerShdw>
                </a:effectLst>
              </a:rPr>
              <a:t>Variable-Length Records: Slotted Page Structure</a:t>
            </a:r>
          </a:p>
        </p:txBody>
      </p:sp>
      <p:sp>
        <p:nvSpPr>
          <p:cNvPr id="90115" name="Rectangle 3">
            <a:extLst>
              <a:ext uri="{FF2B5EF4-FFF2-40B4-BE49-F238E27FC236}">
                <a16:creationId xmlns:a16="http://schemas.microsoft.com/office/drawing/2014/main" id="{89C70259-E6A3-4EBA-80A2-237FC0E12C2E}"/>
              </a:ext>
            </a:extLst>
          </p:cNvPr>
          <p:cNvSpPr>
            <a:spLocks noGrp="1" noChangeArrowheads="1"/>
          </p:cNvSpPr>
          <p:nvPr>
            <p:ph type="body" idx="1"/>
          </p:nvPr>
        </p:nvSpPr>
        <p:spPr>
          <a:xfrm>
            <a:off x="843379" y="3065463"/>
            <a:ext cx="7430609" cy="3438525"/>
          </a:xfrm>
        </p:spPr>
        <p:txBody>
          <a:bodyPr/>
          <a:lstStyle/>
          <a:p>
            <a:r>
              <a:rPr lang="en-US" altLang="en-US" b="1" dirty="0">
                <a:solidFill>
                  <a:srgbClr val="002060"/>
                </a:solidFill>
              </a:rPr>
              <a:t>Slotted page</a:t>
            </a:r>
            <a:r>
              <a:rPr lang="en-US" altLang="en-US" dirty="0">
                <a:solidFill>
                  <a:srgbClr val="002060"/>
                </a:solidFill>
              </a:rPr>
              <a:t> </a:t>
            </a:r>
            <a:r>
              <a:rPr lang="en-US" altLang="en-US" dirty="0"/>
              <a:t>header contains:</a:t>
            </a:r>
          </a:p>
          <a:p>
            <a:pPr lvl="1"/>
            <a:r>
              <a:rPr lang="en-US" altLang="en-US" dirty="0"/>
              <a:t>number of record entries</a:t>
            </a:r>
          </a:p>
          <a:p>
            <a:pPr lvl="1"/>
            <a:r>
              <a:rPr lang="en-US" altLang="en-US" dirty="0"/>
              <a:t>end of free space in the block</a:t>
            </a:r>
          </a:p>
          <a:p>
            <a:pPr lvl="1"/>
            <a:r>
              <a:rPr lang="en-US" altLang="en-US" dirty="0"/>
              <a:t>location and size of each record</a:t>
            </a:r>
          </a:p>
          <a:p>
            <a:r>
              <a:rPr lang="en-US" altLang="en-US" dirty="0"/>
              <a:t>Records can be moved around within a page to keep them contiguous with no empty space between them; entry in the header must be updated.</a:t>
            </a:r>
          </a:p>
          <a:p>
            <a:r>
              <a:rPr lang="en-US" altLang="en-US" dirty="0"/>
              <a:t>Pointers should not point directly to record — instead they should point to the entry for the record in header.</a:t>
            </a:r>
          </a:p>
        </p:txBody>
      </p:sp>
      <p:pic>
        <p:nvPicPr>
          <p:cNvPr id="90116" name="Picture 10">
            <a:extLst>
              <a:ext uri="{FF2B5EF4-FFF2-40B4-BE49-F238E27FC236}">
                <a16:creationId xmlns:a16="http://schemas.microsoft.com/office/drawing/2014/main" id="{F694B84F-B2F1-4444-A933-01994CEFE6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3015" y="1155738"/>
            <a:ext cx="5103812" cy="1733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44061" y="0"/>
            <a:ext cx="8203223" cy="1446550"/>
          </a:xfrm>
          <a:prstGeom prst="rect">
            <a:avLst/>
          </a:prstGeom>
        </p:spPr>
        <p:txBody>
          <a:bodyPr wrap="square">
            <a:spAutoFit/>
          </a:bodyPr>
          <a:lstStyle/>
          <a:p>
            <a:r>
              <a:rPr lang="en-US" sz="1100" b="1" dirty="0"/>
              <a:t>Slotted Page Structure: Variable-Length Record Management</a:t>
            </a:r>
          </a:p>
          <a:p>
            <a:r>
              <a:rPr lang="en-US" sz="1100" b="1" dirty="0"/>
              <a:t>🔹 </a:t>
            </a:r>
            <a:r>
              <a:rPr lang="as-IN" sz="1100" b="1" dirty="0"/>
              <a:t>কেন দরকার?</a:t>
            </a:r>
          </a:p>
          <a:p>
            <a:r>
              <a:rPr lang="en-US" sz="1100" dirty="0"/>
              <a:t>Variable-length record (</a:t>
            </a:r>
            <a:r>
              <a:rPr lang="as-IN" sz="1100" dirty="0"/>
              <a:t>যেমন </a:t>
            </a:r>
            <a:r>
              <a:rPr lang="en-US" sz="1100" dirty="0"/>
              <a:t>name, address) store </a:t>
            </a:r>
            <a:r>
              <a:rPr lang="as-IN" sz="1100" dirty="0"/>
              <a:t>করতে গেলে:</a:t>
            </a:r>
          </a:p>
          <a:p>
            <a:pPr>
              <a:buFont typeface="Arial" panose="020B0604020202020204" pitchFamily="34" charset="0"/>
              <a:buChar char="•"/>
            </a:pPr>
            <a:r>
              <a:rPr lang="en-US" sz="1100" dirty="0"/>
              <a:t>Fixed offset-based access </a:t>
            </a:r>
            <a:r>
              <a:rPr lang="as-IN" sz="1100" dirty="0"/>
              <a:t>কাজ করে না</a:t>
            </a:r>
          </a:p>
          <a:p>
            <a:pPr>
              <a:buFont typeface="Arial" panose="020B0604020202020204" pitchFamily="34" charset="0"/>
              <a:buChar char="•"/>
            </a:pPr>
            <a:r>
              <a:rPr lang="en-US" sz="1100" dirty="0"/>
              <a:t>Record delete/insert </a:t>
            </a:r>
            <a:r>
              <a:rPr lang="as-IN" sz="1100" dirty="0"/>
              <a:t>করলে </a:t>
            </a:r>
            <a:r>
              <a:rPr lang="en-US" sz="1100" dirty="0"/>
              <a:t>gap </a:t>
            </a:r>
            <a:r>
              <a:rPr lang="as-IN" sz="1100" dirty="0"/>
              <a:t>পড়ে</a:t>
            </a:r>
          </a:p>
          <a:p>
            <a:pPr>
              <a:buFont typeface="Arial" panose="020B0604020202020204" pitchFamily="34" charset="0"/>
              <a:buChar char="•"/>
            </a:pPr>
            <a:r>
              <a:rPr lang="as-IN" sz="1100" dirty="0"/>
              <a:t>তাই </a:t>
            </a:r>
            <a:r>
              <a:rPr lang="en-US" sz="1100" dirty="0"/>
              <a:t>smart layout </a:t>
            </a:r>
            <a:r>
              <a:rPr lang="as-IN" sz="1100" dirty="0"/>
              <a:t>দরকার → </a:t>
            </a:r>
            <a:r>
              <a:rPr lang="en-US" sz="1100" dirty="0"/>
              <a:t>slotted page structure</a:t>
            </a:r>
          </a:p>
          <a:p>
            <a:r>
              <a:rPr lang="en-US" sz="1100" b="1" dirty="0"/>
              <a:t>🔧 Page Layout Breakdown</a:t>
            </a:r>
          </a:p>
          <a:p>
            <a:r>
              <a:rPr lang="en-US" sz="1100" b="1" dirty="0"/>
              <a:t>🧱 1. Block Header (Page-</a:t>
            </a:r>
            <a:r>
              <a:rPr lang="as-IN" sz="1100" b="1" dirty="0"/>
              <a:t>এর শুরুতে)</a:t>
            </a:r>
            <a:endParaRPr lang="as-IN" sz="1100" b="1" dirty="0">
              <a:effectLst/>
            </a:endParaRPr>
          </a:p>
        </p:txBody>
      </p:sp>
      <p:graphicFrame>
        <p:nvGraphicFramePr>
          <p:cNvPr id="3" name="Table 2"/>
          <p:cNvGraphicFramePr>
            <a:graphicFrameLocks noGrp="1"/>
          </p:cNvGraphicFramePr>
          <p:nvPr>
            <p:extLst>
              <p:ext uri="{D42A27DB-BD31-4B8C-83A1-F6EECF244321}">
                <p14:modId xmlns:p14="http://schemas.microsoft.com/office/powerpoint/2010/main" val="492028534"/>
              </p:ext>
            </p:extLst>
          </p:nvPr>
        </p:nvGraphicFramePr>
        <p:xfrm>
          <a:off x="585788" y="1577962"/>
          <a:ext cx="7661274" cy="1148231"/>
        </p:xfrm>
        <a:graphic>
          <a:graphicData uri="http://schemas.openxmlformats.org/drawingml/2006/table">
            <a:tbl>
              <a:tblPr>
                <a:tableStyleId>{775DCB02-9BB8-47FD-8907-85C794F793BA}</a:tableStyleId>
              </a:tblPr>
              <a:tblGrid>
                <a:gridCol w="3830637">
                  <a:extLst>
                    <a:ext uri="{9D8B030D-6E8A-4147-A177-3AD203B41FA5}">
                      <a16:colId xmlns:a16="http://schemas.microsoft.com/office/drawing/2014/main" val="2698715160"/>
                    </a:ext>
                  </a:extLst>
                </a:gridCol>
                <a:gridCol w="3830637">
                  <a:extLst>
                    <a:ext uri="{9D8B030D-6E8A-4147-A177-3AD203B41FA5}">
                      <a16:colId xmlns:a16="http://schemas.microsoft.com/office/drawing/2014/main" val="3134440441"/>
                    </a:ext>
                  </a:extLst>
                </a:gridCol>
              </a:tblGrid>
              <a:tr h="211995">
                <a:tc>
                  <a:txBody>
                    <a:bodyPr/>
                    <a:lstStyle/>
                    <a:p>
                      <a:r>
                        <a:rPr lang="en-US" sz="1100" dirty="0">
                          <a:effectLst/>
                        </a:rPr>
                        <a:t>Component</a:t>
                      </a:r>
                    </a:p>
                  </a:txBody>
                  <a:tcPr anchor="ctr"/>
                </a:tc>
                <a:tc>
                  <a:txBody>
                    <a:bodyPr/>
                    <a:lstStyle/>
                    <a:p>
                      <a:r>
                        <a:rPr lang="as-IN" sz="1100">
                          <a:effectLst/>
                        </a:rPr>
                        <a:t>কাজ</a:t>
                      </a:r>
                    </a:p>
                  </a:txBody>
                  <a:tcPr anchor="ctr"/>
                </a:tc>
                <a:extLst>
                  <a:ext uri="{0D108BD9-81ED-4DB2-BD59-A6C34878D82A}">
                    <a16:rowId xmlns:a16="http://schemas.microsoft.com/office/drawing/2014/main" val="1045252632"/>
                  </a:ext>
                </a:extLst>
              </a:tr>
              <a:tr h="211995">
                <a:tc>
                  <a:txBody>
                    <a:bodyPr/>
                    <a:lstStyle/>
                    <a:p>
                      <a:r>
                        <a:rPr lang="en-US" sz="1100" dirty="0">
                          <a:effectLst/>
                        </a:rPr>
                        <a:t># Entries</a:t>
                      </a:r>
                    </a:p>
                  </a:txBody>
                  <a:tcPr anchor="ctr"/>
                </a:tc>
                <a:tc>
                  <a:txBody>
                    <a:bodyPr/>
                    <a:lstStyle/>
                    <a:p>
                      <a:r>
                        <a:rPr lang="as-IN" sz="1100">
                          <a:effectLst/>
                        </a:rPr>
                        <a:t>কতগুলো </a:t>
                      </a:r>
                      <a:r>
                        <a:rPr lang="en-US" sz="1100">
                          <a:effectLst/>
                        </a:rPr>
                        <a:t>record </a:t>
                      </a:r>
                      <a:r>
                        <a:rPr lang="as-IN" sz="1100">
                          <a:effectLst/>
                        </a:rPr>
                        <a:t>আছে</a:t>
                      </a:r>
                    </a:p>
                  </a:txBody>
                  <a:tcPr anchor="ctr"/>
                </a:tc>
                <a:extLst>
                  <a:ext uri="{0D108BD9-81ED-4DB2-BD59-A6C34878D82A}">
                    <a16:rowId xmlns:a16="http://schemas.microsoft.com/office/drawing/2014/main" val="3086900857"/>
                  </a:ext>
                </a:extLst>
              </a:tr>
              <a:tr h="211995">
                <a:tc>
                  <a:txBody>
                    <a:bodyPr/>
                    <a:lstStyle/>
                    <a:p>
                      <a:r>
                        <a:rPr lang="en-US" sz="1100" dirty="0">
                          <a:effectLst/>
                        </a:rPr>
                        <a:t>End of Free Space</a:t>
                      </a:r>
                    </a:p>
                  </a:txBody>
                  <a:tcPr anchor="ctr"/>
                </a:tc>
                <a:tc>
                  <a:txBody>
                    <a:bodyPr/>
                    <a:lstStyle/>
                    <a:p>
                      <a:r>
                        <a:rPr lang="en-US" sz="1100">
                          <a:effectLst/>
                        </a:rPr>
                        <a:t>free space </a:t>
                      </a:r>
                      <a:r>
                        <a:rPr lang="as-IN" sz="1100">
                          <a:effectLst/>
                        </a:rPr>
                        <a:t>কোথায় শেষ হয়েছে</a:t>
                      </a:r>
                    </a:p>
                  </a:txBody>
                  <a:tcPr anchor="ctr"/>
                </a:tc>
                <a:extLst>
                  <a:ext uri="{0D108BD9-81ED-4DB2-BD59-A6C34878D82A}">
                    <a16:rowId xmlns:a16="http://schemas.microsoft.com/office/drawing/2014/main" val="2645124281"/>
                  </a:ext>
                </a:extLst>
              </a:tr>
              <a:tr h="370991">
                <a:tc>
                  <a:txBody>
                    <a:bodyPr/>
                    <a:lstStyle/>
                    <a:p>
                      <a:r>
                        <a:rPr lang="en-US" sz="1100" dirty="0">
                          <a:effectLst/>
                        </a:rPr>
                        <a:t>Location + Size</a:t>
                      </a:r>
                    </a:p>
                  </a:txBody>
                  <a:tcPr anchor="ctr"/>
                </a:tc>
                <a:tc>
                  <a:txBody>
                    <a:bodyPr/>
                    <a:lstStyle/>
                    <a:p>
                      <a:r>
                        <a:rPr lang="as-IN" sz="1100" dirty="0">
                          <a:effectLst/>
                        </a:rPr>
                        <a:t>প্রতিটি </a:t>
                      </a:r>
                      <a:r>
                        <a:rPr lang="en-US" sz="1100" dirty="0">
                          <a:effectLst/>
                        </a:rPr>
                        <a:t>record </a:t>
                      </a:r>
                      <a:r>
                        <a:rPr lang="as-IN" sz="1100" dirty="0">
                          <a:effectLst/>
                        </a:rPr>
                        <a:t>কোথায় আছে + কত বড়</a:t>
                      </a:r>
                    </a:p>
                  </a:txBody>
                  <a:tcPr anchor="ctr"/>
                </a:tc>
                <a:extLst>
                  <a:ext uri="{0D108BD9-81ED-4DB2-BD59-A6C34878D82A}">
                    <a16:rowId xmlns:a16="http://schemas.microsoft.com/office/drawing/2014/main" val="1348190497"/>
                  </a:ext>
                </a:extLst>
              </a:tr>
            </a:tbl>
          </a:graphicData>
        </a:graphic>
      </p:graphicFrame>
      <p:sp>
        <p:nvSpPr>
          <p:cNvPr id="4" name="Rectangle 3"/>
          <p:cNvSpPr/>
          <p:nvPr/>
        </p:nvSpPr>
        <p:spPr>
          <a:xfrm>
            <a:off x="465991" y="2857605"/>
            <a:ext cx="8176847" cy="3539430"/>
          </a:xfrm>
          <a:prstGeom prst="rect">
            <a:avLst/>
          </a:prstGeom>
        </p:spPr>
        <p:txBody>
          <a:bodyPr wrap="square">
            <a:spAutoFit/>
          </a:bodyPr>
          <a:lstStyle/>
          <a:p>
            <a:r>
              <a:rPr lang="en-US" dirty="0"/>
              <a:t>👉 Header = index table → record access efficient </a:t>
            </a:r>
            <a:r>
              <a:rPr lang="as-IN" dirty="0"/>
              <a:t>হয়</a:t>
            </a:r>
          </a:p>
          <a:p>
            <a:r>
              <a:rPr lang="en-US" b="1" dirty="0"/>
              <a:t>📦 2. Record Storage Area</a:t>
            </a:r>
          </a:p>
          <a:p>
            <a:pPr>
              <a:buFont typeface="Arial" panose="020B0604020202020204" pitchFamily="34" charset="0"/>
              <a:buChar char="•"/>
            </a:pPr>
            <a:r>
              <a:rPr lang="en-US" dirty="0"/>
              <a:t>Actual record-</a:t>
            </a:r>
            <a:r>
              <a:rPr lang="as-IN" dirty="0"/>
              <a:t>গুলো </a:t>
            </a:r>
            <a:r>
              <a:rPr lang="en-US" dirty="0"/>
              <a:t>page-</a:t>
            </a:r>
            <a:r>
              <a:rPr lang="as-IN" dirty="0"/>
              <a:t>এর শেষে থেকে শুরু হয়</a:t>
            </a:r>
          </a:p>
          <a:p>
            <a:pPr>
              <a:buFont typeface="Arial" panose="020B0604020202020204" pitchFamily="34" charset="0"/>
              <a:buChar char="•"/>
            </a:pPr>
            <a:r>
              <a:rPr lang="as-IN" dirty="0"/>
              <a:t>নতুন </a:t>
            </a:r>
            <a:r>
              <a:rPr lang="en-US" dirty="0"/>
              <a:t>record insert </a:t>
            </a:r>
            <a:r>
              <a:rPr lang="as-IN" dirty="0"/>
              <a:t>করলে → </a:t>
            </a:r>
            <a:r>
              <a:rPr lang="en-US" dirty="0"/>
              <a:t>free space </a:t>
            </a:r>
            <a:r>
              <a:rPr lang="as-IN" dirty="0"/>
              <a:t>থেকে </a:t>
            </a:r>
            <a:r>
              <a:rPr lang="en-US" dirty="0"/>
              <a:t>grow </a:t>
            </a:r>
            <a:r>
              <a:rPr lang="as-IN" dirty="0"/>
              <a:t>করে</a:t>
            </a:r>
          </a:p>
          <a:p>
            <a:pPr>
              <a:buFont typeface="Arial" panose="020B0604020202020204" pitchFamily="34" charset="0"/>
              <a:buChar char="•"/>
            </a:pPr>
            <a:r>
              <a:rPr lang="en-US" dirty="0"/>
              <a:t>Delete </a:t>
            </a:r>
            <a:r>
              <a:rPr lang="as-IN" dirty="0"/>
              <a:t>করলে → </a:t>
            </a:r>
            <a:r>
              <a:rPr lang="en-US" dirty="0"/>
              <a:t>gap </a:t>
            </a:r>
            <a:r>
              <a:rPr lang="as-IN" dirty="0"/>
              <a:t>পড়ে → </a:t>
            </a:r>
            <a:r>
              <a:rPr lang="en-US" dirty="0"/>
              <a:t>later compact </a:t>
            </a:r>
            <a:r>
              <a:rPr lang="as-IN" dirty="0"/>
              <a:t>করা যায়</a:t>
            </a:r>
          </a:p>
          <a:p>
            <a:r>
              <a:rPr lang="en-US" b="1" dirty="0"/>
              <a:t>🧵 3. Free Space</a:t>
            </a:r>
          </a:p>
          <a:p>
            <a:pPr>
              <a:buFont typeface="Arial" panose="020B0604020202020204" pitchFamily="34" charset="0"/>
              <a:buChar char="•"/>
            </a:pPr>
            <a:r>
              <a:rPr lang="en-US" dirty="0"/>
              <a:t>Header </a:t>
            </a:r>
            <a:r>
              <a:rPr lang="as-IN" dirty="0"/>
              <a:t>আর </a:t>
            </a:r>
            <a:r>
              <a:rPr lang="en-US" dirty="0"/>
              <a:t>record-</a:t>
            </a:r>
            <a:r>
              <a:rPr lang="as-IN" dirty="0"/>
              <a:t>এর মাঝে থাকে</a:t>
            </a:r>
          </a:p>
          <a:p>
            <a:pPr>
              <a:buFont typeface="Arial" panose="020B0604020202020204" pitchFamily="34" charset="0"/>
              <a:buChar char="•"/>
            </a:pPr>
            <a:r>
              <a:rPr lang="en-US" dirty="0"/>
              <a:t>Insert/delete </a:t>
            </a:r>
            <a:r>
              <a:rPr lang="as-IN" dirty="0"/>
              <a:t>করলে এই জায়গা </a:t>
            </a:r>
            <a:r>
              <a:rPr lang="en-US" dirty="0"/>
              <a:t>adjust </a:t>
            </a:r>
            <a:r>
              <a:rPr lang="as-IN" dirty="0"/>
              <a:t>হয়</a:t>
            </a:r>
          </a:p>
          <a:p>
            <a:pPr>
              <a:buFont typeface="Arial" panose="020B0604020202020204" pitchFamily="34" charset="0"/>
              <a:buChar char="•"/>
            </a:pPr>
            <a:r>
              <a:rPr lang="en-US" dirty="0"/>
              <a:t>End of Free Space pointer </a:t>
            </a:r>
            <a:r>
              <a:rPr lang="as-IN" dirty="0"/>
              <a:t>দিয়ে </a:t>
            </a:r>
            <a:r>
              <a:rPr lang="en-US" dirty="0"/>
              <a:t>track </a:t>
            </a:r>
            <a:r>
              <a:rPr lang="as-IN" dirty="0"/>
              <a:t>করা হয়</a:t>
            </a:r>
          </a:p>
          <a:p>
            <a:r>
              <a:rPr lang="en-US" b="1" dirty="0"/>
              <a:t>🔁 Record Movement</a:t>
            </a:r>
          </a:p>
          <a:p>
            <a:pPr>
              <a:buFont typeface="Arial" panose="020B0604020202020204" pitchFamily="34" charset="0"/>
              <a:buChar char="•"/>
            </a:pPr>
            <a:r>
              <a:rPr lang="en-US" dirty="0"/>
              <a:t>Record delete/insertion </a:t>
            </a:r>
            <a:r>
              <a:rPr lang="as-IN" dirty="0"/>
              <a:t>করলে → </a:t>
            </a:r>
            <a:r>
              <a:rPr lang="en-US" dirty="0"/>
              <a:t>record-</a:t>
            </a:r>
            <a:r>
              <a:rPr lang="as-IN" dirty="0"/>
              <a:t>গুলো </a:t>
            </a:r>
            <a:r>
              <a:rPr lang="en-US" dirty="0"/>
              <a:t>move </a:t>
            </a:r>
            <a:r>
              <a:rPr lang="as-IN" dirty="0"/>
              <a:t>করা যায়</a:t>
            </a:r>
          </a:p>
          <a:p>
            <a:pPr>
              <a:buFont typeface="Arial" panose="020B0604020202020204" pitchFamily="34" charset="0"/>
              <a:buChar char="•"/>
            </a:pPr>
            <a:r>
              <a:rPr lang="en-US" dirty="0"/>
              <a:t>Header-</a:t>
            </a:r>
            <a:r>
              <a:rPr lang="as-IN" dirty="0"/>
              <a:t>এর </a:t>
            </a:r>
            <a:r>
              <a:rPr lang="en-US" dirty="0"/>
              <a:t>pointer update </a:t>
            </a:r>
            <a:r>
              <a:rPr lang="as-IN" dirty="0"/>
              <a:t>করতে হয়</a:t>
            </a:r>
          </a:p>
          <a:p>
            <a:pPr>
              <a:buFont typeface="Arial" panose="020B0604020202020204" pitchFamily="34" charset="0"/>
              <a:buChar char="•"/>
            </a:pPr>
            <a:r>
              <a:rPr lang="en-US" dirty="0"/>
              <a:t>External pointer </a:t>
            </a:r>
            <a:r>
              <a:rPr lang="as-IN" dirty="0"/>
              <a:t>কখনো </a:t>
            </a:r>
            <a:r>
              <a:rPr lang="en-US" dirty="0"/>
              <a:t>record-</a:t>
            </a:r>
            <a:r>
              <a:rPr lang="as-IN" dirty="0"/>
              <a:t>এ </a:t>
            </a:r>
            <a:r>
              <a:rPr lang="en-US" dirty="0"/>
              <a:t>directly point </a:t>
            </a:r>
            <a:r>
              <a:rPr lang="as-IN" dirty="0"/>
              <a:t>করে না → </a:t>
            </a:r>
            <a:r>
              <a:rPr lang="en-US" dirty="0"/>
              <a:t>header entry-</a:t>
            </a:r>
            <a:r>
              <a:rPr lang="as-IN" dirty="0"/>
              <a:t>তে </a:t>
            </a:r>
            <a:r>
              <a:rPr lang="en-US" dirty="0"/>
              <a:t>point </a:t>
            </a:r>
            <a:r>
              <a:rPr lang="as-IN" dirty="0"/>
              <a:t>করে</a:t>
            </a:r>
          </a:p>
          <a:p>
            <a:r>
              <a:rPr lang="en-US" dirty="0"/>
              <a:t>👉 </a:t>
            </a:r>
            <a:r>
              <a:rPr lang="as-IN" dirty="0"/>
              <a:t>এতে </a:t>
            </a:r>
            <a:r>
              <a:rPr lang="en-US" dirty="0"/>
              <a:t>record move </a:t>
            </a:r>
            <a:r>
              <a:rPr lang="as-IN" dirty="0"/>
              <a:t>করলেও </a:t>
            </a:r>
            <a:r>
              <a:rPr lang="en-US" dirty="0"/>
              <a:t>pointer break </a:t>
            </a:r>
            <a:r>
              <a:rPr lang="as-IN" dirty="0"/>
              <a:t>হয় না</a:t>
            </a:r>
            <a:endParaRPr lang="as-IN" dirty="0">
              <a:effectLst/>
            </a:endParaRPr>
          </a:p>
        </p:txBody>
      </p:sp>
    </p:spTree>
    <p:extLst>
      <p:ext uri="{BB962C8B-B14F-4D97-AF65-F5344CB8AC3E}">
        <p14:creationId xmlns:p14="http://schemas.microsoft.com/office/powerpoint/2010/main" val="37472087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F18C1-BD2E-4B39-B110-F2F02CBE42FC}"/>
              </a:ext>
            </a:extLst>
          </p:cNvPr>
          <p:cNvSpPr>
            <a:spLocks noGrp="1"/>
          </p:cNvSpPr>
          <p:nvPr>
            <p:ph type="title"/>
          </p:nvPr>
        </p:nvSpPr>
        <p:spPr/>
        <p:txBody>
          <a:bodyPr/>
          <a:lstStyle/>
          <a:p>
            <a:r>
              <a:rPr lang="en-IN" dirty="0"/>
              <a:t>Storing Large Objects</a:t>
            </a:r>
          </a:p>
        </p:txBody>
      </p:sp>
      <p:sp>
        <p:nvSpPr>
          <p:cNvPr id="3" name="Content Placeholder 2">
            <a:extLst>
              <a:ext uri="{FF2B5EF4-FFF2-40B4-BE49-F238E27FC236}">
                <a16:creationId xmlns:a16="http://schemas.microsoft.com/office/drawing/2014/main" id="{8447491D-30F5-4220-98ED-F4DC61CD8449}"/>
              </a:ext>
            </a:extLst>
          </p:cNvPr>
          <p:cNvSpPr>
            <a:spLocks noGrp="1"/>
          </p:cNvSpPr>
          <p:nvPr>
            <p:ph idx="1"/>
          </p:nvPr>
        </p:nvSpPr>
        <p:spPr/>
        <p:txBody>
          <a:bodyPr/>
          <a:lstStyle/>
          <a:p>
            <a:r>
              <a:rPr lang="en-IN" dirty="0"/>
              <a:t>E.g</a:t>
            </a:r>
            <a:r>
              <a:rPr lang="en-IN" dirty="0" smtClean="0"/>
              <a:t>., </a:t>
            </a:r>
            <a:r>
              <a:rPr lang="en-IN" dirty="0"/>
              <a:t>blob/</a:t>
            </a:r>
            <a:r>
              <a:rPr lang="en-IN" dirty="0" err="1"/>
              <a:t>clob</a:t>
            </a:r>
            <a:r>
              <a:rPr lang="en-IN" dirty="0"/>
              <a:t> types</a:t>
            </a:r>
          </a:p>
          <a:p>
            <a:r>
              <a:rPr lang="en-IN" dirty="0"/>
              <a:t>Records must be smaller than pages</a:t>
            </a:r>
          </a:p>
          <a:p>
            <a:r>
              <a:rPr lang="en-IN" dirty="0"/>
              <a:t>Alternatives:</a:t>
            </a:r>
          </a:p>
          <a:p>
            <a:pPr lvl="1"/>
            <a:r>
              <a:rPr lang="en-IN" dirty="0"/>
              <a:t>Store as files in file systems</a:t>
            </a:r>
          </a:p>
          <a:p>
            <a:pPr lvl="1"/>
            <a:r>
              <a:rPr lang="en-IN" dirty="0"/>
              <a:t>Store as files managed by database</a:t>
            </a:r>
          </a:p>
          <a:p>
            <a:pPr lvl="1"/>
            <a:r>
              <a:rPr lang="en-IN" dirty="0"/>
              <a:t>Break into pieces and store in multiple tuples in separate relation</a:t>
            </a:r>
          </a:p>
          <a:p>
            <a:pPr lvl="2"/>
            <a:r>
              <a:rPr lang="en-IN" dirty="0"/>
              <a:t>PostgreSQL TOAST</a:t>
            </a:r>
          </a:p>
        </p:txBody>
      </p:sp>
    </p:spTree>
    <p:extLst>
      <p:ext uri="{BB962C8B-B14F-4D97-AF65-F5344CB8AC3E}">
        <p14:creationId xmlns:p14="http://schemas.microsoft.com/office/powerpoint/2010/main" val="139697241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a:extLst>
              <a:ext uri="{FF2B5EF4-FFF2-40B4-BE49-F238E27FC236}">
                <a16:creationId xmlns:a16="http://schemas.microsoft.com/office/drawing/2014/main" id="{CD661752-6D5D-4C06-8C65-4072717CE78B}"/>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Organization of Records in Files</a:t>
            </a:r>
          </a:p>
        </p:txBody>
      </p:sp>
      <p:sp>
        <p:nvSpPr>
          <p:cNvPr id="92163" name="Rectangle 3">
            <a:extLst>
              <a:ext uri="{FF2B5EF4-FFF2-40B4-BE49-F238E27FC236}">
                <a16:creationId xmlns:a16="http://schemas.microsoft.com/office/drawing/2014/main" id="{4808D252-6480-4FF6-B632-437EDA2418DF}"/>
              </a:ext>
            </a:extLst>
          </p:cNvPr>
          <p:cNvSpPr>
            <a:spLocks noGrp="1" noChangeArrowheads="1"/>
          </p:cNvSpPr>
          <p:nvPr>
            <p:ph type="body" idx="1"/>
          </p:nvPr>
        </p:nvSpPr>
        <p:spPr>
          <a:xfrm>
            <a:off x="768350" y="1193800"/>
            <a:ext cx="7700947" cy="4867635"/>
          </a:xfrm>
        </p:spPr>
        <p:txBody>
          <a:bodyPr/>
          <a:lstStyle/>
          <a:p>
            <a:r>
              <a:rPr lang="en-US" altLang="en-US" b="1" dirty="0">
                <a:solidFill>
                  <a:srgbClr val="002060"/>
                </a:solidFill>
              </a:rPr>
              <a:t>Heap</a:t>
            </a:r>
            <a:r>
              <a:rPr lang="en-US" altLang="en-US" b="1" dirty="0"/>
              <a:t> </a:t>
            </a:r>
            <a:r>
              <a:rPr lang="en-US" altLang="en-US" dirty="0"/>
              <a:t>– record can be placed anywhere in the file where there is space</a:t>
            </a:r>
          </a:p>
          <a:p>
            <a:r>
              <a:rPr lang="en-US" altLang="en-US" b="1" dirty="0">
                <a:solidFill>
                  <a:srgbClr val="002060"/>
                </a:solidFill>
              </a:rPr>
              <a:t>Sequential</a:t>
            </a:r>
            <a:r>
              <a:rPr lang="en-US" altLang="en-US" b="1" dirty="0">
                <a:solidFill>
                  <a:schemeClr val="tx2"/>
                </a:solidFill>
              </a:rPr>
              <a:t> </a:t>
            </a:r>
            <a:r>
              <a:rPr lang="en-US" altLang="en-US" dirty="0"/>
              <a:t>– store records in sequential order, based on the value of the search key of each record</a:t>
            </a:r>
          </a:p>
          <a:p>
            <a:r>
              <a:rPr lang="en-US" altLang="en-US" dirty="0"/>
              <a:t>In a  </a:t>
            </a:r>
            <a:r>
              <a:rPr lang="en-US" altLang="en-US" b="1" dirty="0" err="1">
                <a:solidFill>
                  <a:srgbClr val="002060"/>
                </a:solidFill>
              </a:rPr>
              <a:t>multitable</a:t>
            </a:r>
            <a:r>
              <a:rPr lang="en-US" altLang="en-US" b="1" dirty="0">
                <a:solidFill>
                  <a:srgbClr val="002060"/>
                </a:solidFill>
              </a:rPr>
              <a:t> clustering file organization </a:t>
            </a:r>
            <a:r>
              <a:rPr lang="en-US" altLang="en-US" dirty="0">
                <a:solidFill>
                  <a:srgbClr val="002060"/>
                </a:solidFill>
              </a:rPr>
              <a:t> </a:t>
            </a:r>
            <a:r>
              <a:rPr lang="en-US" altLang="en-US" dirty="0"/>
              <a:t>records of several different relations can be stored in the same file</a:t>
            </a:r>
          </a:p>
          <a:p>
            <a:pPr lvl="1"/>
            <a:r>
              <a:rPr lang="en-US" altLang="en-US" dirty="0"/>
              <a:t>Motivation: store related records on the same block to minimize I/O</a:t>
            </a:r>
          </a:p>
          <a:p>
            <a:r>
              <a:rPr lang="en-US" altLang="en-US" b="1" dirty="0">
                <a:solidFill>
                  <a:srgbClr val="002060"/>
                </a:solidFill>
              </a:rPr>
              <a:t>B</a:t>
            </a:r>
            <a:r>
              <a:rPr lang="en-US" altLang="en-US" b="1" baseline="30000" dirty="0">
                <a:solidFill>
                  <a:srgbClr val="002060"/>
                </a:solidFill>
              </a:rPr>
              <a:t>+</a:t>
            </a:r>
            <a:r>
              <a:rPr lang="en-US" altLang="en-US" b="1" dirty="0">
                <a:solidFill>
                  <a:srgbClr val="002060"/>
                </a:solidFill>
              </a:rPr>
              <a:t>-tree file organization</a:t>
            </a:r>
          </a:p>
          <a:p>
            <a:pPr lvl="1"/>
            <a:r>
              <a:rPr lang="en-US" altLang="en-US" dirty="0">
                <a:solidFill>
                  <a:schemeClr val="accent4">
                    <a:lumMod val="95000"/>
                    <a:lumOff val="5000"/>
                  </a:schemeClr>
                </a:solidFill>
              </a:rPr>
              <a:t>Ordered storage even with inserts/deletes</a:t>
            </a:r>
          </a:p>
          <a:p>
            <a:pPr lvl="1"/>
            <a:r>
              <a:rPr lang="en-US" altLang="en-US" dirty="0">
                <a:solidFill>
                  <a:schemeClr val="accent4">
                    <a:lumMod val="95000"/>
                    <a:lumOff val="5000"/>
                  </a:schemeClr>
                </a:solidFill>
              </a:rPr>
              <a:t>More on this in Chapter 14</a:t>
            </a:r>
          </a:p>
          <a:p>
            <a:r>
              <a:rPr lang="en-US" altLang="en-US" b="1" dirty="0">
                <a:solidFill>
                  <a:srgbClr val="002060"/>
                </a:solidFill>
              </a:rPr>
              <a:t>Hashing</a:t>
            </a:r>
            <a:r>
              <a:rPr lang="en-US" altLang="en-US" dirty="0"/>
              <a:t> – a hash function computed on search key; the result specifies in which block of the file the record should be placed</a:t>
            </a:r>
          </a:p>
          <a:p>
            <a:pPr lvl="1"/>
            <a:r>
              <a:rPr lang="en-US" altLang="en-US" dirty="0"/>
              <a:t>More on this in Chapter 14</a:t>
            </a:r>
          </a:p>
          <a:p>
            <a:endParaRPr lang="en-US" alt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1C99F-2FB0-4CCB-90E4-2C4846F41627}"/>
              </a:ext>
            </a:extLst>
          </p:cNvPr>
          <p:cNvSpPr>
            <a:spLocks noGrp="1"/>
          </p:cNvSpPr>
          <p:nvPr>
            <p:ph type="title"/>
          </p:nvPr>
        </p:nvSpPr>
        <p:spPr/>
        <p:txBody>
          <a:bodyPr/>
          <a:lstStyle/>
          <a:p>
            <a:r>
              <a:rPr lang="en-IN" dirty="0"/>
              <a:t>Heap File Organization</a:t>
            </a:r>
          </a:p>
        </p:txBody>
      </p:sp>
      <p:sp>
        <p:nvSpPr>
          <p:cNvPr id="3" name="Content Placeholder 2">
            <a:extLst>
              <a:ext uri="{FF2B5EF4-FFF2-40B4-BE49-F238E27FC236}">
                <a16:creationId xmlns:a16="http://schemas.microsoft.com/office/drawing/2014/main" id="{1073BD8A-474A-4BC0-8DF8-2859E40A2438}"/>
              </a:ext>
            </a:extLst>
          </p:cNvPr>
          <p:cNvSpPr>
            <a:spLocks noGrp="1"/>
          </p:cNvSpPr>
          <p:nvPr>
            <p:ph idx="1"/>
          </p:nvPr>
        </p:nvSpPr>
        <p:spPr>
          <a:xfrm>
            <a:off x="814388" y="1093788"/>
            <a:ext cx="7661275" cy="4903787"/>
          </a:xfrm>
        </p:spPr>
        <p:txBody>
          <a:bodyPr/>
          <a:lstStyle/>
          <a:p>
            <a:r>
              <a:rPr lang="en-IN" dirty="0"/>
              <a:t>Records can be placed anywhere in the file where there is free space</a:t>
            </a:r>
          </a:p>
          <a:p>
            <a:r>
              <a:rPr lang="en-IN" dirty="0"/>
              <a:t>Records usually do not move once allocated</a:t>
            </a:r>
          </a:p>
          <a:p>
            <a:r>
              <a:rPr lang="en-IN" dirty="0"/>
              <a:t>Important to be able to efficiently find free space within file</a:t>
            </a:r>
          </a:p>
          <a:p>
            <a:r>
              <a:rPr lang="en-IN" b="1" dirty="0">
                <a:solidFill>
                  <a:srgbClr val="002060"/>
                </a:solidFill>
              </a:rPr>
              <a:t>Free-space map</a:t>
            </a:r>
          </a:p>
          <a:p>
            <a:pPr lvl="1"/>
            <a:r>
              <a:rPr lang="en-IN" dirty="0">
                <a:solidFill>
                  <a:schemeClr val="accent4"/>
                </a:solidFill>
              </a:rPr>
              <a:t>Array with 1 entry per block.  Each entry is a few bits to a byte, and records fraction of block that is free</a:t>
            </a:r>
          </a:p>
          <a:p>
            <a:pPr lvl="1"/>
            <a:r>
              <a:rPr lang="en-IN" dirty="0">
                <a:solidFill>
                  <a:schemeClr val="accent4"/>
                </a:solidFill>
              </a:rPr>
              <a:t>In example below, 3 bits per block, value divided by 8 indicates fraction of block that is free</a:t>
            </a:r>
            <a:br>
              <a:rPr lang="en-IN" dirty="0">
                <a:solidFill>
                  <a:schemeClr val="accent4"/>
                </a:solidFill>
              </a:rPr>
            </a:br>
            <a:r>
              <a:rPr lang="en-IN" dirty="0">
                <a:solidFill>
                  <a:schemeClr val="accent4"/>
                </a:solidFill>
              </a:rPr>
              <a:t/>
            </a:r>
            <a:br>
              <a:rPr lang="en-IN" dirty="0">
                <a:solidFill>
                  <a:schemeClr val="accent4"/>
                </a:solidFill>
              </a:rPr>
            </a:br>
            <a:endParaRPr lang="en-IN" dirty="0">
              <a:solidFill>
                <a:schemeClr val="accent4"/>
              </a:solidFill>
            </a:endParaRPr>
          </a:p>
          <a:p>
            <a:pPr lvl="1"/>
            <a:r>
              <a:rPr lang="en-IN" dirty="0">
                <a:solidFill>
                  <a:schemeClr val="accent4"/>
                </a:solidFill>
              </a:rPr>
              <a:t>Can have second-level free-space map</a:t>
            </a:r>
          </a:p>
          <a:p>
            <a:pPr lvl="1"/>
            <a:r>
              <a:rPr lang="en-IN" dirty="0">
                <a:solidFill>
                  <a:schemeClr val="accent4"/>
                </a:solidFill>
              </a:rPr>
              <a:t>In example below, each entry stores maximum from 4 entries of first-level free-space map</a:t>
            </a:r>
          </a:p>
          <a:p>
            <a:pPr marL="457200" lvl="1" indent="0">
              <a:buNone/>
            </a:pPr>
            <a:endParaRPr lang="en-IN" dirty="0">
              <a:solidFill>
                <a:schemeClr val="accent4"/>
              </a:solidFill>
            </a:endParaRPr>
          </a:p>
          <a:p>
            <a:r>
              <a:rPr lang="en-IN" dirty="0">
                <a:solidFill>
                  <a:schemeClr val="accent4"/>
                </a:solidFill>
              </a:rPr>
              <a:t>Free space map written to disk periodically, OK to have wrong (old) values for some entries (will be detected and fixed)</a:t>
            </a:r>
          </a:p>
        </p:txBody>
      </p:sp>
      <p:pic>
        <p:nvPicPr>
          <p:cNvPr id="4" name="Picture 3">
            <a:extLst>
              <a:ext uri="{FF2B5EF4-FFF2-40B4-BE49-F238E27FC236}">
                <a16:creationId xmlns:a16="http://schemas.microsoft.com/office/drawing/2014/main" id="{F9AD693F-0ACF-4245-8328-5BDC50A20A3D}"/>
              </a:ext>
            </a:extLst>
          </p:cNvPr>
          <p:cNvPicPr>
            <a:picLocks noChangeAspect="1"/>
          </p:cNvPicPr>
          <p:nvPr/>
        </p:nvPicPr>
        <p:blipFill>
          <a:blip r:embed="rId2"/>
          <a:stretch>
            <a:fillRect/>
          </a:stretch>
        </p:blipFill>
        <p:spPr>
          <a:xfrm>
            <a:off x="2446255" y="3758697"/>
            <a:ext cx="4251489" cy="459931"/>
          </a:xfrm>
          <a:prstGeom prst="rect">
            <a:avLst/>
          </a:prstGeom>
        </p:spPr>
      </p:pic>
      <p:pic>
        <p:nvPicPr>
          <p:cNvPr id="5" name="Picture 4">
            <a:extLst>
              <a:ext uri="{FF2B5EF4-FFF2-40B4-BE49-F238E27FC236}">
                <a16:creationId xmlns:a16="http://schemas.microsoft.com/office/drawing/2014/main" id="{6699ACCB-35C7-4D87-96BB-EA690394D029}"/>
              </a:ext>
            </a:extLst>
          </p:cNvPr>
          <p:cNvPicPr>
            <a:picLocks noChangeAspect="1"/>
          </p:cNvPicPr>
          <p:nvPr/>
        </p:nvPicPr>
        <p:blipFill>
          <a:blip r:embed="rId3"/>
          <a:stretch>
            <a:fillRect/>
          </a:stretch>
        </p:blipFill>
        <p:spPr>
          <a:xfrm>
            <a:off x="3771900" y="5146999"/>
            <a:ext cx="1238887" cy="484543"/>
          </a:xfrm>
          <a:prstGeom prst="rect">
            <a:avLst/>
          </a:prstGeom>
        </p:spPr>
      </p:pic>
    </p:spTree>
    <p:extLst>
      <p:ext uri="{BB962C8B-B14F-4D97-AF65-F5344CB8AC3E}">
        <p14:creationId xmlns:p14="http://schemas.microsoft.com/office/powerpoint/2010/main" val="293905112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23191" y="67951"/>
            <a:ext cx="8071339" cy="1815882"/>
          </a:xfrm>
          <a:prstGeom prst="rect">
            <a:avLst/>
          </a:prstGeom>
        </p:spPr>
        <p:txBody>
          <a:bodyPr wrap="square">
            <a:spAutoFit/>
          </a:bodyPr>
          <a:lstStyle/>
          <a:p>
            <a:r>
              <a:rPr lang="en-US" b="1" dirty="0"/>
              <a:t>🧠 Heap File Organization: Overview</a:t>
            </a:r>
          </a:p>
          <a:p>
            <a:r>
              <a:rPr lang="en-US" b="1" dirty="0"/>
              <a:t>🔹 </a:t>
            </a:r>
            <a:r>
              <a:rPr lang="as-IN" b="1" dirty="0"/>
              <a:t>কী হয় এখানে?</a:t>
            </a:r>
          </a:p>
          <a:p>
            <a:pPr>
              <a:buFont typeface="Arial" panose="020B0604020202020204" pitchFamily="34" charset="0"/>
              <a:buChar char="•"/>
            </a:pPr>
            <a:r>
              <a:rPr lang="en-US" dirty="0"/>
              <a:t>Record-</a:t>
            </a:r>
            <a:r>
              <a:rPr lang="as-IN" dirty="0"/>
              <a:t>গুলো </a:t>
            </a:r>
            <a:r>
              <a:rPr lang="as-IN" b="1" dirty="0"/>
              <a:t>যেকোনো খালি জায়গায়</a:t>
            </a:r>
            <a:r>
              <a:rPr lang="as-IN" dirty="0"/>
              <a:t> রাখা যায়</a:t>
            </a:r>
          </a:p>
          <a:p>
            <a:pPr>
              <a:buFont typeface="Arial" panose="020B0604020202020204" pitchFamily="34" charset="0"/>
              <a:buChar char="•"/>
            </a:pPr>
            <a:r>
              <a:rPr lang="as-IN" dirty="0"/>
              <a:t>একবার জায়গা পেলে </a:t>
            </a:r>
            <a:r>
              <a:rPr lang="en-US" dirty="0"/>
              <a:t>record </a:t>
            </a:r>
            <a:r>
              <a:rPr lang="as-IN" dirty="0"/>
              <a:t>সাধারণত </a:t>
            </a:r>
            <a:r>
              <a:rPr lang="en-US" dirty="0"/>
              <a:t>move </a:t>
            </a:r>
            <a:r>
              <a:rPr lang="as-IN" dirty="0"/>
              <a:t>হয় না</a:t>
            </a:r>
          </a:p>
          <a:p>
            <a:pPr>
              <a:buFont typeface="Arial" panose="020B0604020202020204" pitchFamily="34" charset="0"/>
              <a:buChar char="•"/>
            </a:pPr>
            <a:r>
              <a:rPr lang="as-IN" dirty="0"/>
              <a:t>তাই </a:t>
            </a:r>
            <a:r>
              <a:rPr lang="en-US" b="1" dirty="0"/>
              <a:t>free space </a:t>
            </a:r>
            <a:r>
              <a:rPr lang="as-IN" b="1" dirty="0"/>
              <a:t>খুঁজে বের করা</a:t>
            </a:r>
            <a:r>
              <a:rPr lang="as-IN" dirty="0"/>
              <a:t> </a:t>
            </a:r>
            <a:r>
              <a:rPr lang="en-US" dirty="0"/>
              <a:t>efficient </a:t>
            </a:r>
            <a:r>
              <a:rPr lang="as-IN" dirty="0"/>
              <a:t>হতে হবে</a:t>
            </a:r>
          </a:p>
          <a:p>
            <a:r>
              <a:rPr lang="en-US" b="1" dirty="0"/>
              <a:t>🔧 Free-Space Map: </a:t>
            </a:r>
            <a:r>
              <a:rPr lang="as-IN" b="1" dirty="0"/>
              <a:t>খালি জায়গার খোঁজ রাখার কৌশল</a:t>
            </a:r>
          </a:p>
          <a:p>
            <a:r>
              <a:rPr lang="en-US" b="1" dirty="0"/>
              <a:t>🔸 First-Level Map</a:t>
            </a:r>
            <a:endParaRPr lang="en-US" b="1" dirty="0">
              <a:effectLst/>
            </a:endParaRPr>
          </a:p>
        </p:txBody>
      </p:sp>
      <p:graphicFrame>
        <p:nvGraphicFramePr>
          <p:cNvPr id="3" name="Table 2"/>
          <p:cNvGraphicFramePr>
            <a:graphicFrameLocks noGrp="1"/>
          </p:cNvGraphicFramePr>
          <p:nvPr>
            <p:extLst>
              <p:ext uri="{D42A27DB-BD31-4B8C-83A1-F6EECF244321}">
                <p14:modId xmlns:p14="http://schemas.microsoft.com/office/powerpoint/2010/main" val="2187671961"/>
              </p:ext>
            </p:extLst>
          </p:nvPr>
        </p:nvGraphicFramePr>
        <p:xfrm>
          <a:off x="752841" y="1966583"/>
          <a:ext cx="7661274" cy="2103120"/>
        </p:xfrm>
        <a:graphic>
          <a:graphicData uri="http://schemas.openxmlformats.org/drawingml/2006/table">
            <a:tbl>
              <a:tblPr>
                <a:tableStyleId>{775DCB02-9BB8-47FD-8907-85C794F793BA}</a:tableStyleId>
              </a:tblPr>
              <a:tblGrid>
                <a:gridCol w="3830637">
                  <a:extLst>
                    <a:ext uri="{9D8B030D-6E8A-4147-A177-3AD203B41FA5}">
                      <a16:colId xmlns:a16="http://schemas.microsoft.com/office/drawing/2014/main" val="3352199565"/>
                    </a:ext>
                  </a:extLst>
                </a:gridCol>
                <a:gridCol w="3830637">
                  <a:extLst>
                    <a:ext uri="{9D8B030D-6E8A-4147-A177-3AD203B41FA5}">
                      <a16:colId xmlns:a16="http://schemas.microsoft.com/office/drawing/2014/main" val="2725158671"/>
                    </a:ext>
                  </a:extLst>
                </a:gridCol>
              </a:tblGrid>
              <a:tr h="365760">
                <a:tc>
                  <a:txBody>
                    <a:bodyPr/>
                    <a:lstStyle/>
                    <a:p>
                      <a:r>
                        <a:rPr lang="as-IN" sz="1800">
                          <a:effectLst/>
                        </a:rPr>
                        <a:t>বৈশিষ্ট্য</a:t>
                      </a:r>
                    </a:p>
                  </a:txBody>
                  <a:tcPr anchor="ctr"/>
                </a:tc>
                <a:tc>
                  <a:txBody>
                    <a:bodyPr/>
                    <a:lstStyle/>
                    <a:p>
                      <a:r>
                        <a:rPr lang="as-IN" sz="1800">
                          <a:effectLst/>
                        </a:rPr>
                        <a:t>ব্যাখ্যা</a:t>
                      </a:r>
                    </a:p>
                  </a:txBody>
                  <a:tcPr anchor="ctr"/>
                </a:tc>
                <a:extLst>
                  <a:ext uri="{0D108BD9-81ED-4DB2-BD59-A6C34878D82A}">
                    <a16:rowId xmlns:a16="http://schemas.microsoft.com/office/drawing/2014/main" val="842411372"/>
                  </a:ext>
                </a:extLst>
              </a:tr>
              <a:tr h="365760">
                <a:tc>
                  <a:txBody>
                    <a:bodyPr/>
                    <a:lstStyle/>
                    <a:p>
                      <a:r>
                        <a:rPr lang="as-IN" sz="1800">
                          <a:effectLst/>
                        </a:rPr>
                        <a:t>প্রতিটি </a:t>
                      </a:r>
                      <a:r>
                        <a:rPr lang="en-US" sz="1800">
                          <a:effectLst/>
                        </a:rPr>
                        <a:t>block-</a:t>
                      </a:r>
                      <a:r>
                        <a:rPr lang="as-IN" sz="1800">
                          <a:effectLst/>
                        </a:rPr>
                        <a:t>এর জন্য 1 </a:t>
                      </a:r>
                      <a:r>
                        <a:rPr lang="en-US" sz="1800">
                          <a:effectLst/>
                        </a:rPr>
                        <a:t>entry</a:t>
                      </a:r>
                    </a:p>
                  </a:txBody>
                  <a:tcPr anchor="ctr"/>
                </a:tc>
                <a:tc>
                  <a:txBody>
                    <a:bodyPr/>
                    <a:lstStyle/>
                    <a:p>
                      <a:endParaRPr lang="en-US" sz="1800"/>
                    </a:p>
                  </a:txBody>
                  <a:tcPr/>
                </a:tc>
                <a:extLst>
                  <a:ext uri="{0D108BD9-81ED-4DB2-BD59-A6C34878D82A}">
                    <a16:rowId xmlns:a16="http://schemas.microsoft.com/office/drawing/2014/main" val="85864409"/>
                  </a:ext>
                </a:extLst>
              </a:tr>
              <a:tr h="365760">
                <a:tc>
                  <a:txBody>
                    <a:bodyPr/>
                    <a:lstStyle/>
                    <a:p>
                      <a:r>
                        <a:rPr lang="en-US" sz="1800">
                          <a:effectLst/>
                        </a:rPr>
                        <a:t>Entry = 3 bits → মান 0–7</a:t>
                      </a:r>
                    </a:p>
                  </a:txBody>
                  <a:tcPr anchor="ctr"/>
                </a:tc>
                <a:tc>
                  <a:txBody>
                    <a:bodyPr/>
                    <a:lstStyle/>
                    <a:p>
                      <a:endParaRPr lang="en-US" sz="1800"/>
                    </a:p>
                  </a:txBody>
                  <a:tcPr/>
                </a:tc>
                <a:extLst>
                  <a:ext uri="{0D108BD9-81ED-4DB2-BD59-A6C34878D82A}">
                    <a16:rowId xmlns:a16="http://schemas.microsoft.com/office/drawing/2014/main" val="1169967871"/>
                  </a:ext>
                </a:extLst>
              </a:tr>
              <a:tr h="640080">
                <a:tc>
                  <a:txBody>
                    <a:bodyPr/>
                    <a:lstStyle/>
                    <a:p>
                      <a:r>
                        <a:rPr lang="as-IN" sz="1800">
                          <a:effectLst/>
                        </a:rPr>
                        <a:t>মান ÷ 8 = </a:t>
                      </a:r>
                      <a:r>
                        <a:rPr lang="en-US" sz="1800">
                          <a:effectLst/>
                        </a:rPr>
                        <a:t>block-</a:t>
                      </a:r>
                      <a:r>
                        <a:rPr lang="as-IN" sz="1800">
                          <a:effectLst/>
                        </a:rPr>
                        <a:t>এর খালি অংশের অনুপাত</a:t>
                      </a:r>
                    </a:p>
                  </a:txBody>
                  <a:tcPr anchor="ctr"/>
                </a:tc>
                <a:tc>
                  <a:txBody>
                    <a:bodyPr/>
                    <a:lstStyle/>
                    <a:p>
                      <a:endParaRPr lang="en-US" sz="1800"/>
                    </a:p>
                  </a:txBody>
                  <a:tcPr/>
                </a:tc>
                <a:extLst>
                  <a:ext uri="{0D108BD9-81ED-4DB2-BD59-A6C34878D82A}">
                    <a16:rowId xmlns:a16="http://schemas.microsoft.com/office/drawing/2014/main" val="100027973"/>
                  </a:ext>
                </a:extLst>
              </a:tr>
              <a:tr h="365760">
                <a:tc>
                  <a:txBody>
                    <a:bodyPr/>
                    <a:lstStyle/>
                    <a:p>
                      <a:r>
                        <a:rPr lang="en-US" sz="1800">
                          <a:effectLst/>
                        </a:rPr>
                        <a:t>Example:</a:t>
                      </a:r>
                    </a:p>
                  </a:txBody>
                  <a:tcPr anchor="ctr"/>
                </a:tc>
                <a:tc>
                  <a:txBody>
                    <a:bodyPr/>
                    <a:lstStyle/>
                    <a:p>
                      <a:endParaRPr lang="en-US" sz="1800" dirty="0"/>
                    </a:p>
                  </a:txBody>
                  <a:tcPr/>
                </a:tc>
                <a:extLst>
                  <a:ext uri="{0D108BD9-81ED-4DB2-BD59-A6C34878D82A}">
                    <a16:rowId xmlns:a16="http://schemas.microsoft.com/office/drawing/2014/main" val="461893647"/>
                  </a:ext>
                </a:extLst>
              </a:tr>
            </a:tbl>
          </a:graphicData>
        </a:graphic>
      </p:graphicFrame>
      <p:sp>
        <p:nvSpPr>
          <p:cNvPr id="4" name="Rectangle 1"/>
          <p:cNvSpPr>
            <a:spLocks noChangeArrowheads="1"/>
          </p:cNvSpPr>
          <p:nvPr/>
        </p:nvSpPr>
        <p:spPr bwMode="auto">
          <a:xfrm>
            <a:off x="281354" y="4356510"/>
            <a:ext cx="6720109" cy="1046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chemeClr val="tx1"/>
                </a:solidFill>
                <a:effectLst/>
                <a:latin typeface="Arial" panose="020B0604020202020204" pitchFamily="34" charset="0"/>
              </a:rPr>
              <a:t>Code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chemeClr val="tx1"/>
                </a:solidFill>
                <a:effectLst/>
                <a:latin typeface="Arial Unicode MS"/>
              </a:rPr>
              <a:t>4 2 1 4 7 3 6 5 1 2 0 1 1 0 5 6 </a:t>
            </a:r>
            <a:endParaRPr kumimoji="0" lang="en-US" altLang="en-US" sz="11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chemeClr val="tx1"/>
                </a:solidFill>
                <a:effectLst/>
                <a:latin typeface="Arial" panose="020B0604020202020204" pitchFamily="34" charset="0"/>
              </a:rPr>
              <a:t>👉 </a:t>
            </a:r>
            <a:r>
              <a:rPr kumimoji="0" lang="bn-IN" altLang="en-US" sz="1100" b="0" i="0" u="none" strike="noStrike" cap="none" normalizeH="0" baseline="0" dirty="0" smtClean="0">
                <a:ln>
                  <a:noFill/>
                </a:ln>
                <a:solidFill>
                  <a:schemeClr val="tx1"/>
                </a:solidFill>
                <a:effectLst/>
                <a:latin typeface="Arial" panose="020B0604020202020204" pitchFamily="34" charset="0"/>
                <a:cs typeface="Vrinda"/>
              </a:rPr>
              <a:t>ধরো </a:t>
            </a:r>
            <a:r>
              <a:rPr kumimoji="0" lang="en-US" altLang="en-US" sz="1100" b="0" i="0" u="none" strike="noStrike" cap="none" normalizeH="0" baseline="0" dirty="0" smtClean="0">
                <a:ln>
                  <a:noFill/>
                </a:ln>
                <a:solidFill>
                  <a:schemeClr val="tx1"/>
                </a:solidFill>
                <a:effectLst/>
                <a:latin typeface="Arial" panose="020B0604020202020204" pitchFamily="34" charset="0"/>
              </a:rPr>
              <a:t>block 0-</a:t>
            </a:r>
            <a:r>
              <a:rPr kumimoji="0" lang="bn-IN" altLang="en-US" sz="1100" b="0" i="0" u="none" strike="noStrike" cap="none" normalizeH="0" baseline="0" dirty="0" smtClean="0">
                <a:ln>
                  <a:noFill/>
                </a:ln>
                <a:solidFill>
                  <a:schemeClr val="tx1"/>
                </a:solidFill>
                <a:effectLst/>
                <a:latin typeface="Arial" panose="020B0604020202020204" pitchFamily="34" charset="0"/>
                <a:cs typeface="Vrinda"/>
              </a:rPr>
              <a:t>এর মান </a:t>
            </a:r>
            <a:r>
              <a:rPr kumimoji="0" lang="en-US" altLang="en-US" sz="1100" b="0" i="0" u="none" strike="noStrike" cap="none" normalizeH="0" baseline="0" dirty="0" smtClean="0">
                <a:ln>
                  <a:noFill/>
                </a:ln>
                <a:solidFill>
                  <a:schemeClr val="tx1"/>
                </a:solidFill>
                <a:effectLst/>
                <a:latin typeface="Arial" panose="020B0604020202020204" pitchFamily="34" charset="0"/>
              </a:rPr>
              <a:t>4 → </a:t>
            </a:r>
            <a:r>
              <a:rPr kumimoji="0" lang="bn-IN" altLang="en-US" sz="1100" b="0" i="0" u="none" strike="noStrike" cap="none" normalizeH="0" baseline="0" dirty="0" smtClean="0">
                <a:ln>
                  <a:noFill/>
                </a:ln>
                <a:solidFill>
                  <a:schemeClr val="tx1"/>
                </a:solidFill>
                <a:effectLst/>
                <a:latin typeface="Arial" panose="020B0604020202020204" pitchFamily="34" charset="0"/>
                <a:cs typeface="Vrinda"/>
              </a:rPr>
              <a:t>খালি </a:t>
            </a:r>
            <a:r>
              <a:rPr kumimoji="0" lang="en-US" altLang="en-US" sz="1100" b="0" i="0" u="none" strike="noStrike" cap="none" normalizeH="0" baseline="0" dirty="0" smtClean="0">
                <a:ln>
                  <a:noFill/>
                </a:ln>
                <a:solidFill>
                  <a:schemeClr val="tx1"/>
                </a:solidFill>
                <a:effectLst/>
                <a:latin typeface="Arial" panose="020B0604020202020204" pitchFamily="34" charset="0"/>
              </a:rPr>
              <a:t>fraction = 4/8 = 50% → block 4-</a:t>
            </a:r>
            <a:r>
              <a:rPr kumimoji="0" lang="bn-IN" altLang="en-US" sz="1100" b="0" i="0" u="none" strike="noStrike" cap="none" normalizeH="0" baseline="0" dirty="0" smtClean="0">
                <a:ln>
                  <a:noFill/>
                </a:ln>
                <a:solidFill>
                  <a:schemeClr val="tx1"/>
                </a:solidFill>
                <a:effectLst/>
                <a:latin typeface="Arial" panose="020B0604020202020204" pitchFamily="34" charset="0"/>
                <a:cs typeface="Vrinda"/>
              </a:rPr>
              <a:t>এর মান </a:t>
            </a:r>
            <a:r>
              <a:rPr kumimoji="0" lang="en-US" altLang="en-US" sz="1100" b="0" i="0" u="none" strike="noStrike" cap="none" normalizeH="0" baseline="0" dirty="0" smtClean="0">
                <a:ln>
                  <a:noFill/>
                </a:ln>
                <a:solidFill>
                  <a:schemeClr val="tx1"/>
                </a:solidFill>
                <a:effectLst/>
                <a:latin typeface="Arial" panose="020B0604020202020204" pitchFamily="34" charset="0"/>
              </a:rPr>
              <a:t>7 → </a:t>
            </a:r>
            <a:r>
              <a:rPr kumimoji="0" lang="bn-IN" altLang="en-US" sz="1100" b="0" i="0" u="none" strike="noStrike" cap="none" normalizeH="0" baseline="0" dirty="0" smtClean="0">
                <a:ln>
                  <a:noFill/>
                </a:ln>
                <a:solidFill>
                  <a:schemeClr val="tx1"/>
                </a:solidFill>
                <a:effectLst/>
                <a:latin typeface="Arial" panose="020B0604020202020204" pitchFamily="34" charset="0"/>
                <a:cs typeface="Vrinda"/>
              </a:rPr>
              <a:t>খালি </a:t>
            </a:r>
            <a:r>
              <a:rPr kumimoji="0" lang="en-US" altLang="en-US" sz="1100" b="0" i="0" u="none" strike="noStrike" cap="none" normalizeH="0" baseline="0" dirty="0" smtClean="0">
                <a:ln>
                  <a:noFill/>
                </a:ln>
                <a:solidFill>
                  <a:schemeClr val="tx1"/>
                </a:solidFill>
                <a:effectLst/>
                <a:latin typeface="Arial" panose="020B0604020202020204" pitchFamily="34" charset="0"/>
              </a:rPr>
              <a:t>fraction = 7/8 = 87.5%</a:t>
            </a:r>
            <a:endParaRPr kumimoji="0" lang="en-US" altLang="en-US" sz="11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smtClean="0">
                <a:ln>
                  <a:noFill/>
                </a:ln>
                <a:solidFill>
                  <a:schemeClr val="tx1"/>
                </a:solidFill>
                <a:effectLst/>
                <a:latin typeface="Arial" panose="020B0604020202020204" pitchFamily="34" charset="0"/>
              </a:rPr>
              <a:t>🔸 Second-Level Map</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174999012"/>
              </p:ext>
            </p:extLst>
          </p:nvPr>
        </p:nvGraphicFramePr>
        <p:xfrm>
          <a:off x="752841" y="5262928"/>
          <a:ext cx="7661274" cy="1310824"/>
        </p:xfrm>
        <a:graphic>
          <a:graphicData uri="http://schemas.openxmlformats.org/drawingml/2006/table">
            <a:tbl>
              <a:tblPr>
                <a:tableStyleId>{775DCB02-9BB8-47FD-8907-85C794F793BA}</a:tableStyleId>
              </a:tblPr>
              <a:tblGrid>
                <a:gridCol w="3830637">
                  <a:extLst>
                    <a:ext uri="{9D8B030D-6E8A-4147-A177-3AD203B41FA5}">
                      <a16:colId xmlns:a16="http://schemas.microsoft.com/office/drawing/2014/main" val="3914698308"/>
                    </a:ext>
                  </a:extLst>
                </a:gridCol>
                <a:gridCol w="3830637">
                  <a:extLst>
                    <a:ext uri="{9D8B030D-6E8A-4147-A177-3AD203B41FA5}">
                      <a16:colId xmlns:a16="http://schemas.microsoft.com/office/drawing/2014/main" val="619784883"/>
                    </a:ext>
                  </a:extLst>
                </a:gridCol>
              </a:tblGrid>
              <a:tr h="226475">
                <a:tc>
                  <a:txBody>
                    <a:bodyPr/>
                    <a:lstStyle/>
                    <a:p>
                      <a:r>
                        <a:rPr lang="as-IN" sz="1100" dirty="0">
                          <a:effectLst/>
                        </a:rPr>
                        <a:t>বৈশিষ্ট্য</a:t>
                      </a:r>
                    </a:p>
                  </a:txBody>
                  <a:tcPr anchor="ctr"/>
                </a:tc>
                <a:tc>
                  <a:txBody>
                    <a:bodyPr/>
                    <a:lstStyle/>
                    <a:p>
                      <a:r>
                        <a:rPr lang="as-IN" sz="1100">
                          <a:effectLst/>
                        </a:rPr>
                        <a:t>ব্যাখ্যা</a:t>
                      </a:r>
                    </a:p>
                  </a:txBody>
                  <a:tcPr anchor="ctr"/>
                </a:tc>
                <a:extLst>
                  <a:ext uri="{0D108BD9-81ED-4DB2-BD59-A6C34878D82A}">
                    <a16:rowId xmlns:a16="http://schemas.microsoft.com/office/drawing/2014/main" val="4040788772"/>
                  </a:ext>
                </a:extLst>
              </a:tr>
              <a:tr h="396332">
                <a:tc>
                  <a:txBody>
                    <a:bodyPr/>
                    <a:lstStyle/>
                    <a:p>
                      <a:r>
                        <a:rPr lang="as-IN" sz="1100" dirty="0">
                          <a:effectLst/>
                        </a:rPr>
                        <a:t>4টি </a:t>
                      </a:r>
                      <a:r>
                        <a:rPr lang="en-US" sz="1100" dirty="0">
                          <a:effectLst/>
                        </a:rPr>
                        <a:t>first-level entry-</a:t>
                      </a:r>
                      <a:r>
                        <a:rPr lang="as-IN" sz="1100" dirty="0">
                          <a:effectLst/>
                        </a:rPr>
                        <a:t>এর মধ্যে </a:t>
                      </a:r>
                      <a:r>
                        <a:rPr lang="en-US" sz="1100" dirty="0">
                          <a:effectLst/>
                        </a:rPr>
                        <a:t>max value </a:t>
                      </a:r>
                      <a:r>
                        <a:rPr lang="as-IN" sz="1100" dirty="0">
                          <a:effectLst/>
                        </a:rPr>
                        <a:t>রাখা হয়</a:t>
                      </a:r>
                    </a:p>
                  </a:txBody>
                  <a:tcPr anchor="ctr"/>
                </a:tc>
                <a:tc>
                  <a:txBody>
                    <a:bodyPr/>
                    <a:lstStyle/>
                    <a:p>
                      <a:endParaRPr lang="en-US" sz="1100"/>
                    </a:p>
                  </a:txBody>
                  <a:tcPr/>
                </a:tc>
                <a:extLst>
                  <a:ext uri="{0D108BD9-81ED-4DB2-BD59-A6C34878D82A}">
                    <a16:rowId xmlns:a16="http://schemas.microsoft.com/office/drawing/2014/main" val="1219351324"/>
                  </a:ext>
                </a:extLst>
              </a:tr>
              <a:tr h="396332">
                <a:tc>
                  <a:txBody>
                    <a:bodyPr/>
                    <a:lstStyle/>
                    <a:p>
                      <a:r>
                        <a:rPr lang="en-US" sz="1100" dirty="0">
                          <a:effectLst/>
                        </a:rPr>
                        <a:t>Faster lookup — </a:t>
                      </a:r>
                      <a:r>
                        <a:rPr lang="as-IN" sz="1100" dirty="0">
                          <a:effectLst/>
                        </a:rPr>
                        <a:t>কোন </a:t>
                      </a:r>
                      <a:r>
                        <a:rPr lang="en-US" sz="1100" dirty="0">
                          <a:effectLst/>
                        </a:rPr>
                        <a:t>group-</a:t>
                      </a:r>
                      <a:r>
                        <a:rPr lang="as-IN" sz="1100" dirty="0">
                          <a:effectLst/>
                        </a:rPr>
                        <a:t>এ বেশি খালি জায়গা আছে</a:t>
                      </a:r>
                    </a:p>
                  </a:txBody>
                  <a:tcPr anchor="ctr"/>
                </a:tc>
                <a:tc>
                  <a:txBody>
                    <a:bodyPr/>
                    <a:lstStyle/>
                    <a:p>
                      <a:endParaRPr lang="en-US" sz="1100"/>
                    </a:p>
                  </a:txBody>
                  <a:tcPr/>
                </a:tc>
                <a:extLst>
                  <a:ext uri="{0D108BD9-81ED-4DB2-BD59-A6C34878D82A}">
                    <a16:rowId xmlns:a16="http://schemas.microsoft.com/office/drawing/2014/main" val="1500391305"/>
                  </a:ext>
                </a:extLst>
              </a:tr>
              <a:tr h="226475">
                <a:tc>
                  <a:txBody>
                    <a:bodyPr/>
                    <a:lstStyle/>
                    <a:p>
                      <a:r>
                        <a:rPr lang="en-US" sz="1100" dirty="0">
                          <a:effectLst/>
                        </a:rPr>
                        <a:t>Example:</a:t>
                      </a:r>
                    </a:p>
                  </a:txBody>
                  <a:tcPr anchor="ctr"/>
                </a:tc>
                <a:tc>
                  <a:txBody>
                    <a:bodyPr/>
                    <a:lstStyle/>
                    <a:p>
                      <a:endParaRPr lang="en-US" sz="1100" dirty="0"/>
                    </a:p>
                  </a:txBody>
                  <a:tcPr/>
                </a:tc>
                <a:extLst>
                  <a:ext uri="{0D108BD9-81ED-4DB2-BD59-A6C34878D82A}">
                    <a16:rowId xmlns:a16="http://schemas.microsoft.com/office/drawing/2014/main" val="3234520006"/>
                  </a:ext>
                </a:extLst>
              </a:tr>
            </a:tbl>
          </a:graphicData>
        </a:graphic>
      </p:graphicFrame>
    </p:spTree>
    <p:extLst>
      <p:ext uri="{BB962C8B-B14F-4D97-AF65-F5344CB8AC3E}">
        <p14:creationId xmlns:p14="http://schemas.microsoft.com/office/powerpoint/2010/main" val="12398600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263769" y="1043979"/>
            <a:ext cx="4812536"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chemeClr val="tx1"/>
                </a:solidFill>
                <a:effectLst/>
                <a:latin typeface="Arial" panose="020B0604020202020204" pitchFamily="34" charset="0"/>
              </a:rPr>
              <a:t>Code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chemeClr val="tx1"/>
                </a:solidFill>
                <a:effectLst/>
                <a:latin typeface="Arial Unicode MS"/>
              </a:rPr>
              <a:t>4 7 2 6 </a:t>
            </a:r>
            <a:endParaRPr kumimoji="0" lang="en-US" altLang="en-US" sz="11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chemeClr val="tx1"/>
                </a:solidFill>
                <a:effectLst/>
                <a:latin typeface="Arial" panose="020B0604020202020204" pitchFamily="34" charset="0"/>
              </a:rPr>
              <a:t>👉 1st group (4,2,1,4) → max = 4 → 2nd group (7,3,6,5) → max = 7</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smtClean="0">
                <a:ln>
                  <a:noFill/>
                </a:ln>
                <a:solidFill>
                  <a:schemeClr val="tx1"/>
                </a:solidFill>
                <a:effectLst/>
                <a:latin typeface="Arial" panose="020B0604020202020204" pitchFamily="34" charset="0"/>
              </a:rPr>
              <a:t>🔸 Practical Notes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smtClean="0">
                <a:ln>
                  <a:noFill/>
                </a:ln>
                <a:solidFill>
                  <a:schemeClr val="tx1"/>
                </a:solidFill>
                <a:effectLst/>
                <a:latin typeface="Arial" panose="020B0604020202020204" pitchFamily="34" charset="0"/>
              </a:rPr>
              <a:t>Map periodically disk-</a:t>
            </a:r>
            <a:r>
              <a:rPr kumimoji="0" lang="bn-IN" altLang="en-US" sz="1100" b="0" i="0" u="none" strike="noStrike" cap="none" normalizeH="0" baseline="0" dirty="0" smtClean="0">
                <a:ln>
                  <a:noFill/>
                </a:ln>
                <a:solidFill>
                  <a:schemeClr val="tx1"/>
                </a:solidFill>
                <a:effectLst/>
                <a:latin typeface="Arial" panose="020B0604020202020204" pitchFamily="34" charset="0"/>
                <a:cs typeface="Vrinda"/>
              </a:rPr>
              <a:t>এ লেখা হয়</a:t>
            </a:r>
            <a:endParaRPr kumimoji="0" lang="en-US" altLang="en-US" sz="11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bn-IN" altLang="en-US" sz="1100" b="0" i="0" u="none" strike="noStrike" cap="none" normalizeH="0" baseline="0" dirty="0" smtClean="0">
                <a:ln>
                  <a:noFill/>
                </a:ln>
                <a:solidFill>
                  <a:schemeClr val="tx1"/>
                </a:solidFill>
                <a:effectLst/>
                <a:latin typeface="Arial" panose="020B0604020202020204" pitchFamily="34" charset="0"/>
                <a:cs typeface="Vrinda"/>
              </a:rPr>
              <a:t>কিছু </a:t>
            </a:r>
            <a:r>
              <a:rPr kumimoji="0" lang="en-US" altLang="en-US" sz="1100" b="0" i="0" u="none" strike="noStrike" cap="none" normalizeH="0" baseline="0" dirty="0" smtClean="0">
                <a:ln>
                  <a:noFill/>
                </a:ln>
                <a:solidFill>
                  <a:schemeClr val="tx1"/>
                </a:solidFill>
                <a:effectLst/>
                <a:latin typeface="Arial" panose="020B0604020202020204" pitchFamily="34" charset="0"/>
                <a:cs typeface="Vrinda"/>
              </a:rPr>
              <a:t>entry </a:t>
            </a:r>
            <a:r>
              <a:rPr kumimoji="0" lang="bn-IN" altLang="en-US" sz="1100" b="0" i="0" u="none" strike="noStrike" cap="none" normalizeH="0" baseline="0" dirty="0" smtClean="0">
                <a:ln>
                  <a:noFill/>
                </a:ln>
                <a:solidFill>
                  <a:schemeClr val="tx1"/>
                </a:solidFill>
                <a:effectLst/>
                <a:latin typeface="Arial" panose="020B0604020202020204" pitchFamily="34" charset="0"/>
                <a:cs typeface="Vrinda"/>
              </a:rPr>
              <a:t>ভুল থাকলেও সমস্যা নেই </a:t>
            </a:r>
            <a:r>
              <a:rPr kumimoji="0" lang="en-US" altLang="en-US" sz="1100" b="0" i="0" u="none" strike="noStrike" cap="none" normalizeH="0" baseline="0" dirty="0" smtClean="0">
                <a:ln>
                  <a:noFill/>
                </a:ln>
                <a:solidFill>
                  <a:schemeClr val="tx1"/>
                </a:solidFill>
                <a:effectLst/>
                <a:latin typeface="Arial" panose="020B0604020202020204" pitchFamily="34" charset="0"/>
                <a:cs typeface="Vrinda"/>
              </a:rPr>
              <a:t>— insert time-</a:t>
            </a:r>
            <a:r>
              <a:rPr kumimoji="0" lang="bn-IN" altLang="en-US" sz="1100" b="0" i="0" u="none" strike="noStrike" cap="none" normalizeH="0" baseline="0" dirty="0" smtClean="0">
                <a:ln>
                  <a:noFill/>
                </a:ln>
                <a:solidFill>
                  <a:schemeClr val="tx1"/>
                </a:solidFill>
                <a:effectLst/>
                <a:latin typeface="Arial" panose="020B0604020202020204" pitchFamily="34" charset="0"/>
                <a:cs typeface="Vrinda"/>
              </a:rPr>
              <a:t>এ </a:t>
            </a:r>
            <a:r>
              <a:rPr kumimoji="0" lang="en-US" altLang="en-US" sz="1100" b="0" i="0" u="none" strike="noStrike" cap="none" normalizeH="0" baseline="0" dirty="0" smtClean="0">
                <a:ln>
                  <a:noFill/>
                </a:ln>
                <a:solidFill>
                  <a:schemeClr val="tx1"/>
                </a:solidFill>
                <a:effectLst/>
                <a:latin typeface="Arial" panose="020B0604020202020204" pitchFamily="34" charset="0"/>
                <a:cs typeface="Vrinda"/>
              </a:rPr>
              <a:t>detect </a:t>
            </a:r>
            <a:r>
              <a:rPr kumimoji="0" lang="bn-IN" altLang="en-US" sz="1100" b="0" i="0" u="none" strike="noStrike" cap="none" normalizeH="0" baseline="0" dirty="0" smtClean="0">
                <a:ln>
                  <a:noFill/>
                </a:ln>
                <a:solidFill>
                  <a:schemeClr val="tx1"/>
                </a:solidFill>
                <a:effectLst/>
                <a:latin typeface="Arial" panose="020B0604020202020204" pitchFamily="34" charset="0"/>
                <a:cs typeface="Vrinda"/>
              </a:rPr>
              <a:t>করে </a:t>
            </a:r>
            <a:r>
              <a:rPr kumimoji="0" lang="en-US" altLang="en-US" sz="1100" b="0" i="0" u="none" strike="noStrike" cap="none" normalizeH="0" baseline="0" dirty="0" smtClean="0">
                <a:ln>
                  <a:noFill/>
                </a:ln>
                <a:solidFill>
                  <a:schemeClr val="tx1"/>
                </a:solidFill>
                <a:effectLst/>
                <a:latin typeface="Arial" panose="020B0604020202020204" pitchFamily="34" charset="0"/>
                <a:cs typeface="Vrinda"/>
              </a:rPr>
              <a:t>fix </a:t>
            </a:r>
            <a:r>
              <a:rPr kumimoji="0" lang="bn-IN" altLang="en-US" sz="1100" b="0" i="0" u="none" strike="noStrike" cap="none" normalizeH="0" baseline="0" dirty="0" smtClean="0">
                <a:ln>
                  <a:noFill/>
                </a:ln>
                <a:solidFill>
                  <a:schemeClr val="tx1"/>
                </a:solidFill>
                <a:effectLst/>
                <a:latin typeface="Arial" panose="020B0604020202020204" pitchFamily="34" charset="0"/>
                <a:cs typeface="Vrinda"/>
              </a:rPr>
              <a:t>করা যায়</a:t>
            </a:r>
            <a:endParaRPr kumimoji="0" lang="en-US" altLang="en-US" sz="11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19696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a:extLst>
              <a:ext uri="{FF2B5EF4-FFF2-40B4-BE49-F238E27FC236}">
                <a16:creationId xmlns:a16="http://schemas.microsoft.com/office/drawing/2014/main" id="{8961343C-9DCE-41B6-83FD-AF636EC64C8F}"/>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Sequential File Organization</a:t>
            </a:r>
          </a:p>
        </p:txBody>
      </p:sp>
      <p:sp>
        <p:nvSpPr>
          <p:cNvPr id="94211" name="Rectangle 3">
            <a:extLst>
              <a:ext uri="{FF2B5EF4-FFF2-40B4-BE49-F238E27FC236}">
                <a16:creationId xmlns:a16="http://schemas.microsoft.com/office/drawing/2014/main" id="{5D31A57C-3D93-4733-8DEA-422D3C6A5A99}"/>
              </a:ext>
            </a:extLst>
          </p:cNvPr>
          <p:cNvSpPr>
            <a:spLocks noGrp="1" noChangeArrowheads="1"/>
          </p:cNvSpPr>
          <p:nvPr>
            <p:ph type="body" idx="1"/>
          </p:nvPr>
        </p:nvSpPr>
        <p:spPr>
          <a:xfrm>
            <a:off x="814388" y="1093788"/>
            <a:ext cx="6724650" cy="1333500"/>
          </a:xfrm>
        </p:spPr>
        <p:txBody>
          <a:bodyPr/>
          <a:lstStyle/>
          <a:p>
            <a:r>
              <a:rPr lang="en-US" altLang="en-US" dirty="0"/>
              <a:t>Suitable for applications that require sequential processing of the entire file </a:t>
            </a:r>
          </a:p>
          <a:p>
            <a:r>
              <a:rPr lang="en-US" altLang="en-US" dirty="0"/>
              <a:t>The records in the file are ordered by a </a:t>
            </a:r>
            <a:r>
              <a:rPr lang="en-US" altLang="en-US" dirty="0">
                <a:solidFill>
                  <a:srgbClr val="002060"/>
                </a:solidFill>
              </a:rPr>
              <a:t>search-key</a:t>
            </a:r>
          </a:p>
        </p:txBody>
      </p:sp>
      <p:pic>
        <p:nvPicPr>
          <p:cNvPr id="94212" name="Picture 11">
            <a:extLst>
              <a:ext uri="{FF2B5EF4-FFF2-40B4-BE49-F238E27FC236}">
                <a16:creationId xmlns:a16="http://schemas.microsoft.com/office/drawing/2014/main" id="{9759213F-D318-4553-BE18-85B78FE780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3110" y="2210215"/>
            <a:ext cx="5426075" cy="3611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a:extLst>
              <a:ext uri="{FF2B5EF4-FFF2-40B4-BE49-F238E27FC236}">
                <a16:creationId xmlns:a16="http://schemas.microsoft.com/office/drawing/2014/main" id="{C3C53EFA-B3D6-4C50-B2C6-C8B05B887C3D}"/>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Sequential File Organization (Cont.)</a:t>
            </a:r>
          </a:p>
        </p:txBody>
      </p:sp>
      <p:sp>
        <p:nvSpPr>
          <p:cNvPr id="96259" name="Rectangle 3">
            <a:extLst>
              <a:ext uri="{FF2B5EF4-FFF2-40B4-BE49-F238E27FC236}">
                <a16:creationId xmlns:a16="http://schemas.microsoft.com/office/drawing/2014/main" id="{93F2AC50-E56B-4614-A322-7C69BACB2739}"/>
              </a:ext>
            </a:extLst>
          </p:cNvPr>
          <p:cNvSpPr>
            <a:spLocks noGrp="1" noChangeArrowheads="1"/>
          </p:cNvSpPr>
          <p:nvPr>
            <p:ph type="body" idx="1"/>
          </p:nvPr>
        </p:nvSpPr>
        <p:spPr>
          <a:xfrm>
            <a:off x="768350" y="1122363"/>
            <a:ext cx="8445500" cy="3976687"/>
          </a:xfrm>
        </p:spPr>
        <p:txBody>
          <a:bodyPr/>
          <a:lstStyle/>
          <a:p>
            <a:r>
              <a:rPr lang="en-US" altLang="en-US" dirty="0"/>
              <a:t>Deletion – use pointer chains</a:t>
            </a:r>
          </a:p>
          <a:p>
            <a:r>
              <a:rPr lang="en-US" altLang="en-US" dirty="0"/>
              <a:t>Insertion –locate the position where the record is to be inserted</a:t>
            </a:r>
          </a:p>
          <a:p>
            <a:pPr lvl="1"/>
            <a:r>
              <a:rPr lang="en-US" altLang="en-US" dirty="0"/>
              <a:t>if there is free space insert there </a:t>
            </a:r>
          </a:p>
          <a:p>
            <a:pPr lvl="1"/>
            <a:r>
              <a:rPr lang="en-US" altLang="en-US" dirty="0"/>
              <a:t>if no free space, insert the record in an </a:t>
            </a:r>
            <a:r>
              <a:rPr lang="en-US" altLang="en-US" dirty="0">
                <a:solidFill>
                  <a:srgbClr val="002060"/>
                </a:solidFill>
              </a:rPr>
              <a:t>overflow block</a:t>
            </a:r>
          </a:p>
          <a:p>
            <a:pPr lvl="1"/>
            <a:r>
              <a:rPr lang="en-US" altLang="en-US" dirty="0"/>
              <a:t>In either case, pointer chain must be updated</a:t>
            </a:r>
          </a:p>
          <a:p>
            <a:r>
              <a:rPr lang="en-US" altLang="en-US" dirty="0"/>
              <a:t>Need to reorganize the file</a:t>
            </a:r>
            <a:br>
              <a:rPr lang="en-US" altLang="en-US" dirty="0"/>
            </a:br>
            <a:r>
              <a:rPr lang="en-US" altLang="en-US" dirty="0"/>
              <a:t> from time to time to restore</a:t>
            </a:r>
            <a:br>
              <a:rPr lang="en-US" altLang="en-US" dirty="0"/>
            </a:br>
            <a:r>
              <a:rPr lang="en-US" altLang="en-US" dirty="0"/>
              <a:t> sequential order</a:t>
            </a:r>
          </a:p>
        </p:txBody>
      </p:sp>
      <p:pic>
        <p:nvPicPr>
          <p:cNvPr id="96260" name="Picture 11">
            <a:extLst>
              <a:ext uri="{FF2B5EF4-FFF2-40B4-BE49-F238E27FC236}">
                <a16:creationId xmlns:a16="http://schemas.microsoft.com/office/drawing/2014/main" id="{A47C8099-0E08-48EA-9787-BD27C85E7C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1800" y="3006725"/>
            <a:ext cx="4708525" cy="345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0970" y="0"/>
            <a:ext cx="9012115" cy="3554819"/>
          </a:xfrm>
          <a:prstGeom prst="rect">
            <a:avLst/>
          </a:prstGeom>
        </p:spPr>
        <p:txBody>
          <a:bodyPr wrap="square">
            <a:spAutoFit/>
          </a:bodyPr>
          <a:lstStyle/>
          <a:p>
            <a:r>
              <a:rPr lang="en-US" sz="1100" b="1" dirty="0"/>
              <a:t>🧠 Sequential File Organization: </a:t>
            </a:r>
            <a:r>
              <a:rPr lang="as-IN" sz="1100" b="1" dirty="0"/>
              <a:t>কীভাবে কাজ করে?</a:t>
            </a:r>
          </a:p>
          <a:p>
            <a:r>
              <a:rPr lang="en-US" sz="1100" b="1" dirty="0"/>
              <a:t>🔹 </a:t>
            </a:r>
            <a:r>
              <a:rPr lang="as-IN" sz="1100" b="1" dirty="0"/>
              <a:t>মূল ধারণা:</a:t>
            </a:r>
          </a:p>
          <a:p>
            <a:pPr>
              <a:buFont typeface="Arial" panose="020B0604020202020204" pitchFamily="34" charset="0"/>
              <a:buChar char="•"/>
            </a:pPr>
            <a:r>
              <a:rPr lang="en-US" sz="1100" dirty="0"/>
              <a:t>Record-</a:t>
            </a:r>
            <a:r>
              <a:rPr lang="as-IN" sz="1100" dirty="0"/>
              <a:t>গুলো </a:t>
            </a:r>
            <a:r>
              <a:rPr lang="en-US" sz="1100" b="1" dirty="0"/>
              <a:t>sorted order</a:t>
            </a:r>
            <a:r>
              <a:rPr lang="en-US" sz="1100" dirty="0"/>
              <a:t>-</a:t>
            </a:r>
            <a:r>
              <a:rPr lang="as-IN" sz="1100" dirty="0"/>
              <a:t>এ থাকে (</a:t>
            </a:r>
            <a:r>
              <a:rPr lang="en-US" sz="1100" dirty="0"/>
              <a:t>e.g. ID </a:t>
            </a:r>
            <a:r>
              <a:rPr lang="as-IN" sz="1100" dirty="0"/>
              <a:t>অনুযায়ী)</a:t>
            </a:r>
          </a:p>
          <a:p>
            <a:pPr>
              <a:buFont typeface="Arial" panose="020B0604020202020204" pitchFamily="34" charset="0"/>
              <a:buChar char="•"/>
            </a:pPr>
            <a:r>
              <a:rPr lang="en-US" sz="1100" dirty="0"/>
              <a:t>Insert/delete </a:t>
            </a:r>
            <a:r>
              <a:rPr lang="as-IN" sz="1100" dirty="0"/>
              <a:t>করলে </a:t>
            </a:r>
            <a:r>
              <a:rPr lang="en-US" sz="1100" b="1" dirty="0"/>
              <a:t>pointer chain</a:t>
            </a:r>
            <a:r>
              <a:rPr lang="en-US" sz="1100" dirty="0"/>
              <a:t> </a:t>
            </a:r>
            <a:r>
              <a:rPr lang="as-IN" sz="1100" dirty="0"/>
              <a:t>দিয়ে </a:t>
            </a:r>
            <a:r>
              <a:rPr lang="en-US" sz="1100" dirty="0"/>
              <a:t>link manage </a:t>
            </a:r>
            <a:r>
              <a:rPr lang="as-IN" sz="1100" dirty="0"/>
              <a:t>করতে হয়</a:t>
            </a:r>
          </a:p>
          <a:p>
            <a:pPr>
              <a:buFont typeface="Arial" panose="020B0604020202020204" pitchFamily="34" charset="0"/>
              <a:buChar char="•"/>
            </a:pPr>
            <a:r>
              <a:rPr lang="en-US" sz="1100" dirty="0"/>
              <a:t>Periodically </a:t>
            </a:r>
            <a:r>
              <a:rPr lang="en-US" sz="1100" b="1" dirty="0"/>
              <a:t>reorganization</a:t>
            </a:r>
            <a:r>
              <a:rPr lang="en-US" sz="1100" dirty="0"/>
              <a:t> </a:t>
            </a:r>
            <a:r>
              <a:rPr lang="as-IN" sz="1100" dirty="0"/>
              <a:t>দরকার হয় </a:t>
            </a:r>
            <a:r>
              <a:rPr lang="en-US" sz="1100" dirty="0"/>
              <a:t>sequential order restore </a:t>
            </a:r>
            <a:r>
              <a:rPr lang="as-IN" sz="1100" dirty="0"/>
              <a:t>করতে</a:t>
            </a:r>
          </a:p>
          <a:p>
            <a:r>
              <a:rPr lang="en-US" sz="1100" b="1" dirty="0"/>
              <a:t>🔧 Deletion Strategy</a:t>
            </a:r>
          </a:p>
          <a:p>
            <a:pPr>
              <a:buFont typeface="Arial" panose="020B0604020202020204" pitchFamily="34" charset="0"/>
              <a:buChar char="•"/>
            </a:pPr>
            <a:r>
              <a:rPr lang="en-US" sz="1100" dirty="0"/>
              <a:t>Record delete </a:t>
            </a:r>
            <a:r>
              <a:rPr lang="as-IN" sz="1100" dirty="0"/>
              <a:t>করলে → </a:t>
            </a:r>
            <a:r>
              <a:rPr lang="en-US" sz="1100" dirty="0"/>
              <a:t>pointer chain adjust </a:t>
            </a:r>
            <a:r>
              <a:rPr lang="as-IN" sz="1100" dirty="0"/>
              <a:t>করতে হয়</a:t>
            </a:r>
          </a:p>
          <a:p>
            <a:pPr>
              <a:buFont typeface="Arial" panose="020B0604020202020204" pitchFamily="34" charset="0"/>
              <a:buChar char="•"/>
            </a:pPr>
            <a:r>
              <a:rPr lang="en-US" sz="1100" dirty="0"/>
              <a:t>Deleted record-</a:t>
            </a:r>
            <a:r>
              <a:rPr lang="as-IN" sz="1100" dirty="0"/>
              <a:t>এর </a:t>
            </a:r>
            <a:r>
              <a:rPr lang="en-US" sz="1100" dirty="0"/>
              <a:t>pointer </a:t>
            </a:r>
            <a:r>
              <a:rPr lang="as-IN" sz="1100" dirty="0"/>
              <a:t>আগের </a:t>
            </a:r>
            <a:r>
              <a:rPr lang="en-US" sz="1100" dirty="0"/>
              <a:t>record </a:t>
            </a:r>
            <a:r>
              <a:rPr lang="as-IN" sz="1100" dirty="0"/>
              <a:t>থেকে পরের </a:t>
            </a:r>
            <a:r>
              <a:rPr lang="en-US" sz="1100" dirty="0"/>
              <a:t>record-</a:t>
            </a:r>
            <a:r>
              <a:rPr lang="as-IN" sz="1100" dirty="0"/>
              <a:t>এ </a:t>
            </a:r>
            <a:r>
              <a:rPr lang="en-US" sz="1100" dirty="0"/>
              <a:t>redirect </a:t>
            </a:r>
            <a:r>
              <a:rPr lang="as-IN" sz="1100" dirty="0"/>
              <a:t>হয়</a:t>
            </a:r>
          </a:p>
          <a:p>
            <a:pPr>
              <a:buFont typeface="Arial" panose="020B0604020202020204" pitchFamily="34" charset="0"/>
              <a:buChar char="•"/>
            </a:pPr>
            <a:r>
              <a:rPr lang="en-US" sz="1100" dirty="0"/>
              <a:t>Physical space free </a:t>
            </a:r>
            <a:r>
              <a:rPr lang="as-IN" sz="1100" dirty="0"/>
              <a:t>হয় না, কিন্তু </a:t>
            </a:r>
            <a:r>
              <a:rPr lang="en-US" sz="1100" dirty="0"/>
              <a:t>logical link </a:t>
            </a:r>
            <a:r>
              <a:rPr lang="as-IN" sz="1100" dirty="0"/>
              <a:t>ঠিক রাখতে হয়</a:t>
            </a:r>
          </a:p>
          <a:p>
            <a:r>
              <a:rPr lang="en-US" sz="1100" dirty="0"/>
              <a:t>👉 </a:t>
            </a:r>
            <a:r>
              <a:rPr lang="as-IN" sz="1100" dirty="0"/>
              <a:t>ধরো তুই একটা নামের তালিকা থেকে মাঝের নাম মুছলে → আগের নাম থেকে পরের নামের দিকে </a:t>
            </a:r>
            <a:r>
              <a:rPr lang="en-US" sz="1100" dirty="0"/>
              <a:t>arrow adjust </a:t>
            </a:r>
            <a:r>
              <a:rPr lang="as-IN" sz="1100" dirty="0"/>
              <a:t>করতে হয়</a:t>
            </a:r>
          </a:p>
          <a:p>
            <a:r>
              <a:rPr lang="en-US" sz="1100" b="1" dirty="0"/>
              <a:t>🆕 Insertion Strategy</a:t>
            </a:r>
          </a:p>
          <a:p>
            <a:r>
              <a:rPr lang="en-US" sz="1100" b="1" dirty="0"/>
              <a:t>Step-by-step:</a:t>
            </a:r>
          </a:p>
          <a:p>
            <a:pPr>
              <a:buFont typeface="+mj-lt"/>
              <a:buAutoNum type="arabicPeriod"/>
            </a:pPr>
            <a:r>
              <a:rPr lang="en-US" sz="1100" b="1" dirty="0"/>
              <a:t>Position </a:t>
            </a:r>
            <a:r>
              <a:rPr lang="as-IN" sz="1100" b="1" dirty="0"/>
              <a:t>খুঁজে বের করো</a:t>
            </a:r>
            <a:r>
              <a:rPr lang="as-IN" sz="1100" dirty="0"/>
              <a:t> → </a:t>
            </a:r>
            <a:r>
              <a:rPr lang="en-US" sz="1100" dirty="0"/>
              <a:t>sorted order </a:t>
            </a:r>
            <a:r>
              <a:rPr lang="as-IN" sz="1100" dirty="0"/>
              <a:t>অনুযায়ী</a:t>
            </a:r>
          </a:p>
          <a:p>
            <a:pPr>
              <a:buFont typeface="+mj-lt"/>
              <a:buAutoNum type="arabicPeriod"/>
            </a:pPr>
            <a:r>
              <a:rPr lang="en-US" sz="1100" b="1" dirty="0"/>
              <a:t>Free space </a:t>
            </a:r>
            <a:r>
              <a:rPr lang="as-IN" sz="1100" b="1" dirty="0"/>
              <a:t>থাকলে</a:t>
            </a:r>
            <a:r>
              <a:rPr lang="as-IN" sz="1100" dirty="0"/>
              <a:t> → সেখানেই </a:t>
            </a:r>
            <a:r>
              <a:rPr lang="en-US" sz="1100" dirty="0"/>
              <a:t>insert </a:t>
            </a:r>
            <a:r>
              <a:rPr lang="as-IN" sz="1100" dirty="0"/>
              <a:t>করো</a:t>
            </a:r>
          </a:p>
          <a:p>
            <a:pPr>
              <a:buFont typeface="+mj-lt"/>
              <a:buAutoNum type="arabicPeriod"/>
            </a:pPr>
            <a:r>
              <a:rPr lang="en-US" sz="1100" b="1" dirty="0"/>
              <a:t>Free space </a:t>
            </a:r>
            <a:r>
              <a:rPr lang="as-IN" sz="1100" b="1" dirty="0"/>
              <a:t>না থাকলে</a:t>
            </a:r>
            <a:r>
              <a:rPr lang="as-IN" sz="1100" dirty="0"/>
              <a:t> → </a:t>
            </a:r>
            <a:r>
              <a:rPr lang="en-US" sz="1100" dirty="0"/>
              <a:t>overflow block-</a:t>
            </a:r>
            <a:r>
              <a:rPr lang="as-IN" sz="1100" dirty="0"/>
              <a:t>এ </a:t>
            </a:r>
            <a:r>
              <a:rPr lang="en-US" sz="1100" dirty="0"/>
              <a:t>insert </a:t>
            </a:r>
            <a:r>
              <a:rPr lang="as-IN" sz="1100" dirty="0"/>
              <a:t>করো</a:t>
            </a:r>
          </a:p>
          <a:p>
            <a:pPr>
              <a:buFont typeface="+mj-lt"/>
              <a:buAutoNum type="arabicPeriod"/>
            </a:pPr>
            <a:r>
              <a:rPr lang="en-US" sz="1100" b="1" dirty="0"/>
              <a:t>Pointer chain update </a:t>
            </a:r>
            <a:r>
              <a:rPr lang="as-IN" sz="1100" b="1" dirty="0"/>
              <a:t>করো</a:t>
            </a:r>
            <a:r>
              <a:rPr lang="as-IN" sz="1100" dirty="0"/>
              <a:t> → যেন </a:t>
            </a:r>
            <a:r>
              <a:rPr lang="en-US" sz="1100" dirty="0"/>
              <a:t>logical order </a:t>
            </a:r>
            <a:r>
              <a:rPr lang="as-IN" sz="1100" dirty="0"/>
              <a:t>ঠিক থাকে</a:t>
            </a:r>
          </a:p>
          <a:p>
            <a:r>
              <a:rPr lang="en-US" sz="1100" dirty="0"/>
              <a:t>👉 Example:</a:t>
            </a:r>
          </a:p>
          <a:p>
            <a:pPr>
              <a:buFont typeface="Arial" panose="020B0604020202020204" pitchFamily="34" charset="0"/>
              <a:buChar char="•"/>
            </a:pPr>
            <a:r>
              <a:rPr lang="en-US" sz="1100" dirty="0"/>
              <a:t>Main table full → </a:t>
            </a:r>
            <a:r>
              <a:rPr lang="as-IN" sz="1100" dirty="0"/>
              <a:t>নতুন </a:t>
            </a:r>
            <a:r>
              <a:rPr lang="en-US" sz="1100" dirty="0"/>
              <a:t>record (ID 32222, Verdi) overflow block-</a:t>
            </a:r>
            <a:r>
              <a:rPr lang="as-IN" sz="1100" dirty="0"/>
              <a:t>এ যায়</a:t>
            </a:r>
          </a:p>
          <a:p>
            <a:pPr>
              <a:buFont typeface="Arial" panose="020B0604020202020204" pitchFamily="34" charset="0"/>
              <a:buChar char="•"/>
            </a:pPr>
            <a:r>
              <a:rPr lang="en-US" sz="1100" dirty="0"/>
              <a:t>Pointer chain update </a:t>
            </a:r>
            <a:r>
              <a:rPr lang="as-IN" sz="1100" dirty="0"/>
              <a:t>হয় → যেন </a:t>
            </a:r>
            <a:r>
              <a:rPr lang="en-US" sz="1100" dirty="0"/>
              <a:t>Verdi logically Mozart-</a:t>
            </a:r>
            <a:r>
              <a:rPr lang="as-IN" sz="1100" dirty="0"/>
              <a:t>এর পরে </a:t>
            </a:r>
            <a:r>
              <a:rPr lang="as-IN" sz="1100" dirty="0" smtClean="0"/>
              <a:t>থাকে</a:t>
            </a:r>
            <a:endParaRPr lang="en-US" sz="1100" dirty="0" smtClean="0"/>
          </a:p>
          <a:p>
            <a:r>
              <a:rPr lang="en-US" b="1" dirty="0" smtClean="0">
                <a:effectLst/>
              </a:rPr>
              <a:t>Overflow Block:</a:t>
            </a:r>
            <a:endParaRPr lang="as-IN" b="1" dirty="0">
              <a:effectLst/>
            </a:endParaRPr>
          </a:p>
        </p:txBody>
      </p:sp>
      <p:graphicFrame>
        <p:nvGraphicFramePr>
          <p:cNvPr id="3" name="Table 2"/>
          <p:cNvGraphicFramePr>
            <a:graphicFrameLocks noGrp="1"/>
          </p:cNvGraphicFramePr>
          <p:nvPr>
            <p:extLst>
              <p:ext uri="{D42A27DB-BD31-4B8C-83A1-F6EECF244321}">
                <p14:modId xmlns:p14="http://schemas.microsoft.com/office/powerpoint/2010/main" val="585686876"/>
              </p:ext>
            </p:extLst>
          </p:nvPr>
        </p:nvGraphicFramePr>
        <p:xfrm>
          <a:off x="840765" y="3554819"/>
          <a:ext cx="7661274" cy="1457457"/>
        </p:xfrm>
        <a:graphic>
          <a:graphicData uri="http://schemas.openxmlformats.org/drawingml/2006/table">
            <a:tbl>
              <a:tblPr>
                <a:tableStyleId>{775DCB02-9BB8-47FD-8907-85C794F793BA}</a:tableStyleId>
              </a:tblPr>
              <a:tblGrid>
                <a:gridCol w="3830637">
                  <a:extLst>
                    <a:ext uri="{9D8B030D-6E8A-4147-A177-3AD203B41FA5}">
                      <a16:colId xmlns:a16="http://schemas.microsoft.com/office/drawing/2014/main" val="3514444663"/>
                    </a:ext>
                  </a:extLst>
                </a:gridCol>
                <a:gridCol w="3830637">
                  <a:extLst>
                    <a:ext uri="{9D8B030D-6E8A-4147-A177-3AD203B41FA5}">
                      <a16:colId xmlns:a16="http://schemas.microsoft.com/office/drawing/2014/main" val="3458299453"/>
                    </a:ext>
                  </a:extLst>
                </a:gridCol>
              </a:tblGrid>
              <a:tr h="178914">
                <a:tc>
                  <a:txBody>
                    <a:bodyPr/>
                    <a:lstStyle/>
                    <a:p>
                      <a:r>
                        <a:rPr lang="as-IN" sz="1100" dirty="0">
                          <a:effectLst/>
                        </a:rPr>
                        <a:t>বৈশিষ্ট্য</a:t>
                      </a:r>
                    </a:p>
                  </a:txBody>
                  <a:tcPr anchor="ctr"/>
                </a:tc>
                <a:tc>
                  <a:txBody>
                    <a:bodyPr/>
                    <a:lstStyle/>
                    <a:p>
                      <a:r>
                        <a:rPr lang="as-IN" sz="1100">
                          <a:effectLst/>
                        </a:rPr>
                        <a:t>ব্যাখ্যা</a:t>
                      </a:r>
                    </a:p>
                  </a:txBody>
                  <a:tcPr anchor="ctr"/>
                </a:tc>
                <a:extLst>
                  <a:ext uri="{0D108BD9-81ED-4DB2-BD59-A6C34878D82A}">
                    <a16:rowId xmlns:a16="http://schemas.microsoft.com/office/drawing/2014/main" val="329047073"/>
                  </a:ext>
                </a:extLst>
              </a:tr>
              <a:tr h="178914">
                <a:tc>
                  <a:txBody>
                    <a:bodyPr/>
                    <a:lstStyle/>
                    <a:p>
                      <a:r>
                        <a:rPr lang="en-US" sz="1100" dirty="0">
                          <a:effectLst/>
                        </a:rPr>
                        <a:t>Main block full </a:t>
                      </a:r>
                      <a:r>
                        <a:rPr lang="as-IN" sz="1100" dirty="0">
                          <a:effectLst/>
                        </a:rPr>
                        <a:t>হলে</a:t>
                      </a:r>
                    </a:p>
                  </a:txBody>
                  <a:tcPr anchor="ctr"/>
                </a:tc>
                <a:tc>
                  <a:txBody>
                    <a:bodyPr/>
                    <a:lstStyle/>
                    <a:p>
                      <a:r>
                        <a:rPr lang="en-US" sz="1100">
                          <a:effectLst/>
                        </a:rPr>
                        <a:t>নতুন record overflow block-এ যায়</a:t>
                      </a:r>
                    </a:p>
                  </a:txBody>
                  <a:tcPr anchor="ctr"/>
                </a:tc>
                <a:extLst>
                  <a:ext uri="{0D108BD9-81ED-4DB2-BD59-A6C34878D82A}">
                    <a16:rowId xmlns:a16="http://schemas.microsoft.com/office/drawing/2014/main" val="2983457712"/>
                  </a:ext>
                </a:extLst>
              </a:tr>
              <a:tr h="313099">
                <a:tc>
                  <a:txBody>
                    <a:bodyPr/>
                    <a:lstStyle/>
                    <a:p>
                      <a:r>
                        <a:rPr lang="en-US" sz="1100" dirty="0">
                          <a:effectLst/>
                        </a:rPr>
                        <a:t>Logical order pointer </a:t>
                      </a:r>
                      <a:r>
                        <a:rPr lang="en-US" sz="1100" dirty="0" err="1">
                          <a:effectLst/>
                        </a:rPr>
                        <a:t>দিয়ে</a:t>
                      </a:r>
                      <a:r>
                        <a:rPr lang="en-US" sz="1100" dirty="0">
                          <a:effectLst/>
                        </a:rPr>
                        <a:t> maintain </a:t>
                      </a:r>
                      <a:r>
                        <a:rPr lang="en-US" sz="1100" dirty="0" err="1">
                          <a:effectLst/>
                        </a:rPr>
                        <a:t>হয়</a:t>
                      </a:r>
                      <a:endParaRPr lang="en-US" sz="1100" dirty="0">
                        <a:effectLst/>
                      </a:endParaRPr>
                    </a:p>
                  </a:txBody>
                  <a:tcPr anchor="ctr"/>
                </a:tc>
                <a:tc>
                  <a:txBody>
                    <a:bodyPr/>
                    <a:lstStyle/>
                    <a:p>
                      <a:endParaRPr lang="en-US" sz="1100"/>
                    </a:p>
                  </a:txBody>
                  <a:tcPr/>
                </a:tc>
                <a:extLst>
                  <a:ext uri="{0D108BD9-81ED-4DB2-BD59-A6C34878D82A}">
                    <a16:rowId xmlns:a16="http://schemas.microsoft.com/office/drawing/2014/main" val="1290401803"/>
                  </a:ext>
                </a:extLst>
              </a:tr>
              <a:tr h="313099">
                <a:tc>
                  <a:txBody>
                    <a:bodyPr/>
                    <a:lstStyle/>
                    <a:p>
                      <a:r>
                        <a:rPr lang="en-US" sz="1100" dirty="0">
                          <a:effectLst/>
                        </a:rPr>
                        <a:t>Performance degrade </a:t>
                      </a:r>
                      <a:r>
                        <a:rPr lang="as-IN" sz="1100" dirty="0">
                          <a:effectLst/>
                        </a:rPr>
                        <a:t>হয় যদি </a:t>
                      </a:r>
                      <a:r>
                        <a:rPr lang="en-US" sz="1100" dirty="0">
                          <a:effectLst/>
                        </a:rPr>
                        <a:t>overflow </a:t>
                      </a:r>
                      <a:r>
                        <a:rPr lang="as-IN" sz="1100" dirty="0">
                          <a:effectLst/>
                        </a:rPr>
                        <a:t>বেশি হয়</a:t>
                      </a:r>
                    </a:p>
                  </a:txBody>
                  <a:tcPr anchor="ctr"/>
                </a:tc>
                <a:tc>
                  <a:txBody>
                    <a:bodyPr/>
                    <a:lstStyle/>
                    <a:p>
                      <a:endParaRPr lang="en-US" sz="1100"/>
                    </a:p>
                  </a:txBody>
                  <a:tcPr/>
                </a:tc>
                <a:extLst>
                  <a:ext uri="{0D108BD9-81ED-4DB2-BD59-A6C34878D82A}">
                    <a16:rowId xmlns:a16="http://schemas.microsoft.com/office/drawing/2014/main" val="4058932782"/>
                  </a:ext>
                </a:extLst>
              </a:tr>
              <a:tr h="313099">
                <a:tc>
                  <a:txBody>
                    <a:bodyPr/>
                    <a:lstStyle/>
                    <a:p>
                      <a:r>
                        <a:rPr lang="en-US" sz="1100" dirty="0">
                          <a:effectLst/>
                        </a:rPr>
                        <a:t>Periodic reorganization </a:t>
                      </a:r>
                      <a:r>
                        <a:rPr lang="as-IN" sz="1100" dirty="0">
                          <a:effectLst/>
                        </a:rPr>
                        <a:t>দরকার → </a:t>
                      </a:r>
                      <a:r>
                        <a:rPr lang="en-US" sz="1100" dirty="0">
                          <a:effectLst/>
                        </a:rPr>
                        <a:t>overflow </a:t>
                      </a:r>
                      <a:r>
                        <a:rPr lang="as-IN" sz="1100" dirty="0">
                          <a:effectLst/>
                        </a:rPr>
                        <a:t>কমাতে</a:t>
                      </a:r>
                    </a:p>
                  </a:txBody>
                  <a:tcPr anchor="ctr"/>
                </a:tc>
                <a:tc>
                  <a:txBody>
                    <a:bodyPr/>
                    <a:lstStyle/>
                    <a:p>
                      <a:endParaRPr lang="en-US" sz="1100" dirty="0"/>
                    </a:p>
                  </a:txBody>
                  <a:tcPr/>
                </a:tc>
                <a:extLst>
                  <a:ext uri="{0D108BD9-81ED-4DB2-BD59-A6C34878D82A}">
                    <a16:rowId xmlns:a16="http://schemas.microsoft.com/office/drawing/2014/main" val="3882027831"/>
                  </a:ext>
                </a:extLst>
              </a:tr>
            </a:tbl>
          </a:graphicData>
        </a:graphic>
      </p:graphicFrame>
      <p:sp>
        <p:nvSpPr>
          <p:cNvPr id="4" name="Rectangle 3"/>
          <p:cNvSpPr/>
          <p:nvPr/>
        </p:nvSpPr>
        <p:spPr>
          <a:xfrm>
            <a:off x="96592" y="5106090"/>
            <a:ext cx="8722093" cy="338554"/>
          </a:xfrm>
          <a:prstGeom prst="rect">
            <a:avLst/>
          </a:prstGeom>
        </p:spPr>
        <p:txBody>
          <a:bodyPr wrap="square">
            <a:spAutoFit/>
          </a:bodyPr>
          <a:lstStyle/>
          <a:p>
            <a:r>
              <a:rPr lang="en-US" dirty="0"/>
              <a:t>👉 </a:t>
            </a:r>
            <a:r>
              <a:rPr lang="as-IN" dirty="0"/>
              <a:t>ধরো তুই একটা </a:t>
            </a:r>
            <a:r>
              <a:rPr lang="en-US" dirty="0"/>
              <a:t>shelf full → </a:t>
            </a:r>
            <a:r>
              <a:rPr lang="as-IN" dirty="0"/>
              <a:t>নতুন বই পাশের </a:t>
            </a:r>
            <a:r>
              <a:rPr lang="en-US" dirty="0"/>
              <a:t>overflow shelf-</a:t>
            </a:r>
            <a:r>
              <a:rPr lang="as-IN" dirty="0"/>
              <a:t>এ রাখছো, কিন্তু </a:t>
            </a:r>
            <a:r>
              <a:rPr lang="en-US" dirty="0"/>
              <a:t>index </a:t>
            </a:r>
            <a:r>
              <a:rPr lang="as-IN" dirty="0"/>
              <a:t>ঠিক রাখছো</a:t>
            </a:r>
            <a:endParaRPr lang="en-US" dirty="0"/>
          </a:p>
        </p:txBody>
      </p:sp>
    </p:spTree>
    <p:extLst>
      <p:ext uri="{BB962C8B-B14F-4D97-AF65-F5344CB8AC3E}">
        <p14:creationId xmlns:p14="http://schemas.microsoft.com/office/powerpoint/2010/main" val="33959133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053" y="2116540"/>
            <a:ext cx="8976947" cy="1815882"/>
          </a:xfrm>
          <a:prstGeom prst="rect">
            <a:avLst/>
          </a:prstGeom>
        </p:spPr>
        <p:txBody>
          <a:bodyPr wrap="square">
            <a:spAutoFit/>
          </a:bodyPr>
          <a:lstStyle/>
          <a:p>
            <a:r>
              <a:rPr lang="en-US" b="1" dirty="0"/>
              <a:t>🧺 </a:t>
            </a:r>
            <a:r>
              <a:rPr lang="as-IN" b="1" dirty="0"/>
              <a:t>গল্প দিয়ে বুঝি:</a:t>
            </a:r>
          </a:p>
          <a:p>
            <a:r>
              <a:rPr lang="as-IN" dirty="0"/>
              <a:t>ধরো তুই একটা লাইব্রেরি চালাচ্ছো:</a:t>
            </a:r>
          </a:p>
          <a:p>
            <a:pPr>
              <a:buFont typeface="Arial" panose="020B0604020202020204" pitchFamily="34" charset="0"/>
              <a:buChar char="•"/>
            </a:pPr>
            <a:r>
              <a:rPr lang="as-IN" dirty="0"/>
              <a:t>বইগুলো </a:t>
            </a:r>
            <a:r>
              <a:rPr lang="en-US" dirty="0"/>
              <a:t>ID </a:t>
            </a:r>
            <a:r>
              <a:rPr lang="as-IN" dirty="0"/>
              <a:t>অনুযায়ী সাজানো</a:t>
            </a:r>
          </a:p>
          <a:p>
            <a:pPr>
              <a:buFont typeface="Arial" panose="020B0604020202020204" pitchFamily="34" charset="0"/>
              <a:buChar char="•"/>
            </a:pPr>
            <a:r>
              <a:rPr lang="as-IN" dirty="0"/>
              <a:t>কেউ একটা বই নিয়ে গেলে → আগের বই থেকে পরের বইয়ের দিকে </a:t>
            </a:r>
            <a:r>
              <a:rPr lang="en-US" dirty="0"/>
              <a:t>arrow adjust </a:t>
            </a:r>
            <a:r>
              <a:rPr lang="as-IN" dirty="0"/>
              <a:t>করো</a:t>
            </a:r>
          </a:p>
          <a:p>
            <a:pPr>
              <a:buFont typeface="Arial" panose="020B0604020202020204" pitchFamily="34" charset="0"/>
              <a:buChar char="•"/>
            </a:pPr>
            <a:r>
              <a:rPr lang="as-IN" dirty="0"/>
              <a:t>নতুন বই রাখার জায়গা না থাকলে → </a:t>
            </a:r>
            <a:r>
              <a:rPr lang="en-US" dirty="0"/>
              <a:t>overflow shelf-</a:t>
            </a:r>
            <a:r>
              <a:rPr lang="as-IN" dirty="0"/>
              <a:t>এ রাখো</a:t>
            </a:r>
          </a:p>
          <a:p>
            <a:pPr>
              <a:buFont typeface="Arial" panose="020B0604020202020204" pitchFamily="34" charset="0"/>
              <a:buChar char="•"/>
            </a:pPr>
            <a:r>
              <a:rPr lang="as-IN" dirty="0"/>
              <a:t>মাঝে মাঝে সব বই আবার সাজিয়ে </a:t>
            </a:r>
            <a:r>
              <a:rPr lang="en-US" dirty="0"/>
              <a:t>sequential order restore </a:t>
            </a:r>
            <a:r>
              <a:rPr lang="as-IN" dirty="0"/>
              <a:t>করো</a:t>
            </a:r>
          </a:p>
          <a:p>
            <a:r>
              <a:rPr lang="as-IN" dirty="0"/>
              <a:t>এইভাবে </a:t>
            </a:r>
            <a:r>
              <a:rPr lang="en-US" dirty="0"/>
              <a:t>sequential file organization </a:t>
            </a:r>
            <a:r>
              <a:rPr lang="as-IN" dirty="0"/>
              <a:t>কাজ করে — </a:t>
            </a:r>
            <a:r>
              <a:rPr lang="en-US" dirty="0"/>
              <a:t>sorted layout + pointer chain + overflow handling</a:t>
            </a:r>
            <a:endParaRPr lang="en-US" dirty="0">
              <a:effectLst/>
            </a:endParaRPr>
          </a:p>
        </p:txBody>
      </p:sp>
    </p:spTree>
    <p:extLst>
      <p:ext uri="{BB962C8B-B14F-4D97-AF65-F5344CB8AC3E}">
        <p14:creationId xmlns:p14="http://schemas.microsoft.com/office/powerpoint/2010/main" val="25192257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4" name="Rectangle 2">
            <a:extLst>
              <a:ext uri="{FF2B5EF4-FFF2-40B4-BE49-F238E27FC236}">
                <a16:creationId xmlns:a16="http://schemas.microsoft.com/office/drawing/2014/main" id="{1E0CDBBC-71C6-47C5-B89E-1BDF28D18652}"/>
              </a:ext>
            </a:extLst>
          </p:cNvPr>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Multitable Clustering File Organization</a:t>
            </a:r>
          </a:p>
        </p:txBody>
      </p:sp>
      <p:sp>
        <p:nvSpPr>
          <p:cNvPr id="98307" name="Rectangle 3">
            <a:extLst>
              <a:ext uri="{FF2B5EF4-FFF2-40B4-BE49-F238E27FC236}">
                <a16:creationId xmlns:a16="http://schemas.microsoft.com/office/drawing/2014/main" id="{C767BF78-D2D9-436C-985A-ECF7147D743E}"/>
              </a:ext>
            </a:extLst>
          </p:cNvPr>
          <p:cNvSpPr>
            <a:spLocks noChangeArrowheads="1"/>
          </p:cNvSpPr>
          <p:nvPr/>
        </p:nvSpPr>
        <p:spPr bwMode="auto">
          <a:xfrm>
            <a:off x="868363" y="1016000"/>
            <a:ext cx="67849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lang="en-US" altLang="en-US" sz="1800" dirty="0"/>
              <a:t>Store several relations in one file using a </a:t>
            </a:r>
            <a:r>
              <a:rPr lang="en-US" altLang="en-US" sz="1800" b="1" dirty="0" err="1">
                <a:solidFill>
                  <a:srgbClr val="002060"/>
                </a:solidFill>
              </a:rPr>
              <a:t>multitable</a:t>
            </a:r>
            <a:r>
              <a:rPr lang="en-US" altLang="en-US" sz="1800" b="1" dirty="0">
                <a:solidFill>
                  <a:srgbClr val="002060"/>
                </a:solidFill>
              </a:rPr>
              <a:t> clustering </a:t>
            </a:r>
            <a:r>
              <a:rPr lang="en-US" altLang="en-US" sz="1800" dirty="0"/>
              <a:t>file organization</a:t>
            </a:r>
          </a:p>
        </p:txBody>
      </p:sp>
      <p:sp>
        <p:nvSpPr>
          <p:cNvPr id="98311" name="Text Box 7">
            <a:extLst>
              <a:ext uri="{FF2B5EF4-FFF2-40B4-BE49-F238E27FC236}">
                <a16:creationId xmlns:a16="http://schemas.microsoft.com/office/drawing/2014/main" id="{A8C408CC-5E78-4F76-950F-93004534DCC4}"/>
              </a:ext>
            </a:extLst>
          </p:cNvPr>
          <p:cNvSpPr txBox="1">
            <a:spLocks noChangeArrowheads="1"/>
          </p:cNvSpPr>
          <p:nvPr/>
        </p:nvSpPr>
        <p:spPr bwMode="auto">
          <a:xfrm>
            <a:off x="1203325" y="1895475"/>
            <a:ext cx="1339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800" i="1" dirty="0"/>
              <a:t>department</a:t>
            </a:r>
          </a:p>
        </p:txBody>
      </p:sp>
      <p:sp>
        <p:nvSpPr>
          <p:cNvPr id="98312" name="Text Box 8">
            <a:extLst>
              <a:ext uri="{FF2B5EF4-FFF2-40B4-BE49-F238E27FC236}">
                <a16:creationId xmlns:a16="http://schemas.microsoft.com/office/drawing/2014/main" id="{997D0B1D-B44C-4ECF-9498-1849597FB48A}"/>
              </a:ext>
            </a:extLst>
          </p:cNvPr>
          <p:cNvSpPr txBox="1">
            <a:spLocks noChangeArrowheads="1"/>
          </p:cNvSpPr>
          <p:nvPr/>
        </p:nvSpPr>
        <p:spPr bwMode="auto">
          <a:xfrm>
            <a:off x="1263650" y="3238500"/>
            <a:ext cx="1123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800" i="1"/>
              <a:t>instructor</a:t>
            </a:r>
          </a:p>
        </p:txBody>
      </p:sp>
      <p:sp>
        <p:nvSpPr>
          <p:cNvPr id="98313" name="Text Box 9">
            <a:extLst>
              <a:ext uri="{FF2B5EF4-FFF2-40B4-BE49-F238E27FC236}">
                <a16:creationId xmlns:a16="http://schemas.microsoft.com/office/drawing/2014/main" id="{406E2E2B-92DC-4A3F-9645-D094BDCFAE67}"/>
              </a:ext>
            </a:extLst>
          </p:cNvPr>
          <p:cNvSpPr txBox="1">
            <a:spLocks noChangeArrowheads="1"/>
          </p:cNvSpPr>
          <p:nvPr/>
        </p:nvSpPr>
        <p:spPr bwMode="auto">
          <a:xfrm>
            <a:off x="728663" y="4738688"/>
            <a:ext cx="2203450"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800" dirty="0" err="1"/>
              <a:t>multitable</a:t>
            </a:r>
            <a:r>
              <a:rPr kumimoji="0" lang="en-US" altLang="en-US" sz="1800" dirty="0"/>
              <a:t> clustering</a:t>
            </a:r>
          </a:p>
          <a:p>
            <a:pPr>
              <a:spcBef>
                <a:spcPct val="0"/>
              </a:spcBef>
              <a:buClrTx/>
              <a:buSzTx/>
              <a:buFontTx/>
              <a:buNone/>
            </a:pPr>
            <a:r>
              <a:rPr kumimoji="0" lang="en-US" altLang="en-US" sz="1800" dirty="0"/>
              <a:t>of</a:t>
            </a:r>
            <a:r>
              <a:rPr kumimoji="0" lang="en-US" altLang="en-US" sz="1800" i="1" dirty="0"/>
              <a:t> department </a:t>
            </a:r>
            <a:r>
              <a:rPr kumimoji="0" lang="en-US" altLang="en-US" sz="1800" dirty="0"/>
              <a:t>and</a:t>
            </a:r>
            <a:r>
              <a:rPr kumimoji="0" lang="en-US" altLang="en-US" sz="1800" i="1" dirty="0"/>
              <a:t> </a:t>
            </a:r>
          </a:p>
          <a:p>
            <a:pPr>
              <a:spcBef>
                <a:spcPct val="0"/>
              </a:spcBef>
              <a:buClrTx/>
              <a:buSzTx/>
              <a:buFontTx/>
              <a:buNone/>
            </a:pPr>
            <a:r>
              <a:rPr kumimoji="0" lang="en-US" altLang="en-US" sz="1800" i="1" dirty="0"/>
              <a:t>instructor</a:t>
            </a:r>
          </a:p>
        </p:txBody>
      </p:sp>
      <p:pic>
        <p:nvPicPr>
          <p:cNvPr id="10" name="Graphic 9">
            <a:extLst>
              <a:ext uri="{FF2B5EF4-FFF2-40B4-BE49-F238E27FC236}">
                <a16:creationId xmlns:a16="http://schemas.microsoft.com/office/drawing/2014/main" id="{3FFF8798-6E6B-47E8-8BB9-C2576E506B61}"/>
              </a:ext>
            </a:extLst>
          </p:cNvPr>
          <p:cNvPicPr>
            <a:picLocks noChangeAspect="1"/>
          </p:cNvPicPr>
          <p:nvPr/>
        </p:nvPicPr>
        <p:blipFill rotWithShape="1">
          <a:blip r:embed="rId3">
            <a:extLst>
              <a:ext uri="{96DAC541-7B7A-43D3-8B79-37D633B846F1}">
                <asvg:svgBlip xmlns:asvg="http://schemas.microsoft.com/office/drawing/2016/SVG/main" xmlns="" r:embed="rId4"/>
              </a:ext>
            </a:extLst>
          </a:blip>
          <a:srcRect t="1" b="33413"/>
          <a:stretch/>
        </p:blipFill>
        <p:spPr>
          <a:xfrm>
            <a:off x="3117183" y="1481328"/>
            <a:ext cx="3383855" cy="1256022"/>
          </a:xfrm>
          <a:prstGeom prst="rect">
            <a:avLst/>
          </a:prstGeom>
        </p:spPr>
      </p:pic>
      <p:pic>
        <p:nvPicPr>
          <p:cNvPr id="11" name="Graphic 10">
            <a:extLst>
              <a:ext uri="{FF2B5EF4-FFF2-40B4-BE49-F238E27FC236}">
                <a16:creationId xmlns:a16="http://schemas.microsoft.com/office/drawing/2014/main" id="{50C245B3-E503-4226-969D-8E82216262E9}"/>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3193265" y="2896919"/>
            <a:ext cx="3633856" cy="1416588"/>
          </a:xfrm>
          <a:prstGeom prst="rect">
            <a:avLst/>
          </a:prstGeom>
        </p:spPr>
      </p:pic>
      <p:pic>
        <p:nvPicPr>
          <p:cNvPr id="12" name="Graphic 11">
            <a:extLst>
              <a:ext uri="{FF2B5EF4-FFF2-40B4-BE49-F238E27FC236}">
                <a16:creationId xmlns:a16="http://schemas.microsoft.com/office/drawing/2014/main" id="{6804855E-3CEB-48E5-B9FA-BCC8F0829A02}"/>
              </a:ext>
            </a:extLst>
          </p:cNvPr>
          <p:cNvPicPr>
            <a:picLocks noChangeAspect="1"/>
          </p:cNvPicPr>
          <p:nvPr/>
        </p:nvPicPr>
        <p:blipFill>
          <a:blip r:embed="rId7">
            <a:extLst>
              <a:ext uri="{96DAC541-7B7A-43D3-8B79-37D633B846F1}">
                <asvg:svgBlip xmlns:asvg="http://schemas.microsoft.com/office/drawing/2016/SVG/main" xmlns="" r:embed="rId8"/>
              </a:ext>
            </a:extLst>
          </a:blip>
          <a:stretch>
            <a:fillRect/>
          </a:stretch>
        </p:blipFill>
        <p:spPr>
          <a:xfrm>
            <a:off x="3286119" y="4638390"/>
            <a:ext cx="4155860" cy="1677595"/>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a:extLst>
              <a:ext uri="{FF2B5EF4-FFF2-40B4-BE49-F238E27FC236}">
                <a16:creationId xmlns:a16="http://schemas.microsoft.com/office/drawing/2014/main" id="{2761E86C-52C6-4666-890C-618804EBC77A}"/>
              </a:ext>
            </a:extLst>
          </p:cNvPr>
          <p:cNvSpPr>
            <a:spLocks noGrp="1" noChangeArrowheads="1"/>
          </p:cNvSpPr>
          <p:nvPr>
            <p:ph type="title"/>
          </p:nvPr>
        </p:nvSpPr>
        <p:spPr>
          <a:xfrm>
            <a:off x="939804" y="117475"/>
            <a:ext cx="8077200" cy="609600"/>
          </a:xfrm>
          <a:extLst>
            <a:ext uri="{909E8E84-426E-40dd-AFC4-6F175D3DCCD1}"/>
            <a:ext uri="{91240B29-F687-4f45-9708-019B960494DF}"/>
          </a:extLst>
        </p:spPr>
        <p:txBody>
          <a:bodyPr/>
          <a:lstStyle/>
          <a:p>
            <a:pPr>
              <a:defRPr/>
            </a:pPr>
            <a:r>
              <a:rPr lang="en-US" altLang="en-US" sz="2800" dirty="0">
                <a:effectLst>
                  <a:outerShdw blurRad="38100" dist="38100" dir="2700000" algn="tl">
                    <a:srgbClr val="C0C0C0"/>
                  </a:outerShdw>
                </a:effectLst>
              </a:rPr>
              <a:t>Multitable Clustering File Organization (cont.)</a:t>
            </a:r>
          </a:p>
        </p:txBody>
      </p:sp>
      <p:sp>
        <p:nvSpPr>
          <p:cNvPr id="100355" name="Rectangle 3">
            <a:extLst>
              <a:ext uri="{FF2B5EF4-FFF2-40B4-BE49-F238E27FC236}">
                <a16:creationId xmlns:a16="http://schemas.microsoft.com/office/drawing/2014/main" id="{5DE76852-4504-41F8-A327-27C6F05B7238}"/>
              </a:ext>
            </a:extLst>
          </p:cNvPr>
          <p:cNvSpPr>
            <a:spLocks noGrp="1" noChangeArrowheads="1"/>
          </p:cNvSpPr>
          <p:nvPr>
            <p:ph type="body" idx="1"/>
          </p:nvPr>
        </p:nvSpPr>
        <p:spPr>
          <a:xfrm>
            <a:off x="768350" y="1268413"/>
            <a:ext cx="7707313" cy="2282825"/>
          </a:xfrm>
        </p:spPr>
        <p:txBody>
          <a:bodyPr/>
          <a:lstStyle/>
          <a:p>
            <a:r>
              <a:rPr lang="en-US" altLang="en-US" dirty="0"/>
              <a:t>good for queries involving </a:t>
            </a:r>
            <a:r>
              <a:rPr lang="en-US" altLang="en-US" i="1" dirty="0"/>
              <a:t>department </a:t>
            </a:r>
            <a:r>
              <a:rPr lang="en-US" altLang="en-US" dirty="0"/>
              <a:t> </a:t>
            </a:r>
            <a:r>
              <a:rPr lang="en-IN" dirty="0"/>
              <a:t>⨝</a:t>
            </a:r>
            <a:r>
              <a:rPr lang="en-US" altLang="en-US" dirty="0"/>
              <a:t> </a:t>
            </a:r>
            <a:r>
              <a:rPr lang="en-US" altLang="en-US" i="1" dirty="0"/>
              <a:t>instructor</a:t>
            </a:r>
            <a:r>
              <a:rPr lang="en-US" altLang="en-US" dirty="0"/>
              <a:t>, and for queries involving one single department and its instructors</a:t>
            </a:r>
          </a:p>
          <a:p>
            <a:r>
              <a:rPr lang="en-US" altLang="en-US" dirty="0"/>
              <a:t>bad for queries involving only </a:t>
            </a:r>
            <a:r>
              <a:rPr lang="en-US" altLang="en-US" i="1" dirty="0"/>
              <a:t>department</a:t>
            </a:r>
          </a:p>
          <a:p>
            <a:r>
              <a:rPr lang="en-US" altLang="en-US" dirty="0"/>
              <a:t>results in variable size records</a:t>
            </a:r>
          </a:p>
          <a:p>
            <a:r>
              <a:rPr lang="en-US" altLang="en-US" dirty="0"/>
              <a:t>Can add pointer chains to link records of a particular relation</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17685" y="0"/>
            <a:ext cx="8976946" cy="2631490"/>
          </a:xfrm>
          <a:prstGeom prst="rect">
            <a:avLst/>
          </a:prstGeom>
        </p:spPr>
        <p:txBody>
          <a:bodyPr wrap="square">
            <a:spAutoFit/>
          </a:bodyPr>
          <a:lstStyle/>
          <a:p>
            <a:r>
              <a:rPr lang="en-US" sz="1100" b="1" dirty="0"/>
              <a:t>🧠 </a:t>
            </a:r>
            <a:r>
              <a:rPr lang="en-US" sz="1100" b="1" dirty="0" err="1"/>
              <a:t>Multitable</a:t>
            </a:r>
            <a:r>
              <a:rPr lang="en-US" sz="1100" b="1" dirty="0"/>
              <a:t> Clustering File Organization: </a:t>
            </a:r>
            <a:r>
              <a:rPr lang="as-IN" sz="1100" b="1" dirty="0"/>
              <a:t>কী?</a:t>
            </a:r>
          </a:p>
          <a:p>
            <a:r>
              <a:rPr lang="as-IN" sz="1100" dirty="0"/>
              <a:t>এটা এমন একটা </a:t>
            </a:r>
            <a:r>
              <a:rPr lang="en-US" sz="1100" dirty="0"/>
              <a:t>technique </a:t>
            </a:r>
            <a:r>
              <a:rPr lang="as-IN" sz="1100" dirty="0"/>
              <a:t>যেখানে </a:t>
            </a:r>
            <a:r>
              <a:rPr lang="as-IN" sz="1100" b="1" dirty="0"/>
              <a:t>একাধিক </a:t>
            </a:r>
            <a:r>
              <a:rPr lang="en-US" sz="1100" b="1" dirty="0"/>
              <a:t>relation/table</a:t>
            </a:r>
            <a:r>
              <a:rPr lang="en-US" sz="1100" dirty="0"/>
              <a:t>-</a:t>
            </a:r>
            <a:r>
              <a:rPr lang="as-IN" sz="1100" dirty="0"/>
              <a:t>এর </a:t>
            </a:r>
            <a:r>
              <a:rPr lang="en-US" sz="1100" dirty="0"/>
              <a:t>data </a:t>
            </a:r>
            <a:r>
              <a:rPr lang="as-IN" sz="1100" b="1" dirty="0"/>
              <a:t>একই </a:t>
            </a:r>
            <a:r>
              <a:rPr lang="en-US" sz="1100" b="1" dirty="0"/>
              <a:t>file/block</a:t>
            </a:r>
            <a:r>
              <a:rPr lang="en-US" sz="1100" dirty="0"/>
              <a:t>-</a:t>
            </a:r>
            <a:r>
              <a:rPr lang="as-IN" sz="1100" dirty="0"/>
              <a:t>এ </a:t>
            </a:r>
            <a:r>
              <a:rPr lang="en-US" sz="1100" dirty="0"/>
              <a:t>store </a:t>
            </a:r>
            <a:r>
              <a:rPr lang="as-IN" sz="1100" dirty="0"/>
              <a:t>করা হয় — </a:t>
            </a:r>
            <a:r>
              <a:rPr lang="en-US" sz="1100" dirty="0"/>
              <a:t>clustered </a:t>
            </a:r>
            <a:r>
              <a:rPr lang="as-IN" sz="1100" dirty="0"/>
              <a:t>ভাবে।</a:t>
            </a:r>
          </a:p>
          <a:p>
            <a:r>
              <a:rPr lang="en-US" sz="1100" b="1" dirty="0"/>
              <a:t>🔹 </a:t>
            </a:r>
            <a:r>
              <a:rPr lang="as-IN" sz="1100" b="1" dirty="0"/>
              <a:t>উদাহরণ দিয়ে বুঝি:</a:t>
            </a:r>
          </a:p>
          <a:p>
            <a:r>
              <a:rPr lang="as-IN" sz="1100" dirty="0"/>
              <a:t>ধরো আমাদের কাছে দুইটা </a:t>
            </a:r>
            <a:r>
              <a:rPr lang="en-US" sz="1100" dirty="0"/>
              <a:t>table </a:t>
            </a:r>
            <a:r>
              <a:rPr lang="as-IN" sz="1100" dirty="0"/>
              <a:t>আছে:</a:t>
            </a:r>
          </a:p>
          <a:p>
            <a:pPr>
              <a:buFont typeface="+mj-lt"/>
              <a:buAutoNum type="arabicPeriod"/>
            </a:pPr>
            <a:r>
              <a:rPr lang="en-US" sz="1100" b="1" dirty="0"/>
              <a:t>department</a:t>
            </a:r>
            <a:endParaRPr lang="en-US" sz="1100" dirty="0"/>
          </a:p>
          <a:p>
            <a:pPr marL="742950" lvl="1" indent="-285750">
              <a:buFont typeface="+mj-lt"/>
              <a:buAutoNum type="arabicPeriod"/>
            </a:pPr>
            <a:r>
              <a:rPr lang="en-US" sz="1100" dirty="0" err="1"/>
              <a:t>dept_name</a:t>
            </a:r>
            <a:r>
              <a:rPr lang="en-US" sz="1100" dirty="0"/>
              <a:t> | building | budget</a:t>
            </a:r>
          </a:p>
          <a:p>
            <a:pPr marL="742950" lvl="1" indent="-285750">
              <a:buFont typeface="+mj-lt"/>
              <a:buAutoNum type="arabicPeriod"/>
            </a:pPr>
            <a:r>
              <a:rPr lang="en-US" sz="1100" dirty="0"/>
              <a:t>Comp. Sci. | Taylor | 100000</a:t>
            </a:r>
          </a:p>
          <a:p>
            <a:pPr marL="742950" lvl="1" indent="-285750">
              <a:buFont typeface="+mj-lt"/>
              <a:buAutoNum type="arabicPeriod"/>
            </a:pPr>
            <a:r>
              <a:rPr lang="en-US" sz="1100" dirty="0"/>
              <a:t>Physics | Watson | 70000</a:t>
            </a:r>
          </a:p>
          <a:p>
            <a:pPr>
              <a:buFont typeface="+mj-lt"/>
              <a:buAutoNum type="arabicPeriod"/>
            </a:pPr>
            <a:r>
              <a:rPr lang="en-US" sz="1100" b="1" dirty="0"/>
              <a:t>instructor</a:t>
            </a:r>
            <a:endParaRPr lang="en-US" sz="1100" dirty="0"/>
          </a:p>
          <a:p>
            <a:pPr marL="742950" lvl="1" indent="-285750">
              <a:buFont typeface="+mj-lt"/>
              <a:buAutoNum type="arabicPeriod"/>
            </a:pPr>
            <a:r>
              <a:rPr lang="en-US" sz="1100" dirty="0"/>
              <a:t>ID | name | </a:t>
            </a:r>
            <a:r>
              <a:rPr lang="en-US" sz="1100" dirty="0" err="1"/>
              <a:t>dept_name</a:t>
            </a:r>
            <a:r>
              <a:rPr lang="en-US" sz="1100" dirty="0"/>
              <a:t> | salary</a:t>
            </a:r>
          </a:p>
          <a:p>
            <a:pPr marL="742950" lvl="1" indent="-285750">
              <a:buFont typeface="+mj-lt"/>
              <a:buAutoNum type="arabicPeriod"/>
            </a:pPr>
            <a:r>
              <a:rPr lang="en-US" sz="1100" dirty="0"/>
              <a:t>10101 | Srinivasan | Comp. Sci. | 65000</a:t>
            </a:r>
          </a:p>
          <a:p>
            <a:pPr marL="742950" lvl="1" indent="-285750">
              <a:buFont typeface="+mj-lt"/>
              <a:buAutoNum type="arabicPeriod"/>
            </a:pPr>
            <a:r>
              <a:rPr lang="en-US" sz="1100" dirty="0"/>
              <a:t>33456 | Gold | Physics | 87000</a:t>
            </a:r>
          </a:p>
          <a:p>
            <a:pPr marL="742950" lvl="1" indent="-285750">
              <a:buFont typeface="+mj-lt"/>
              <a:buAutoNum type="arabicPeriod"/>
            </a:pPr>
            <a:r>
              <a:rPr lang="en-US" sz="1100" dirty="0"/>
              <a:t>...</a:t>
            </a:r>
          </a:p>
          <a:p>
            <a:r>
              <a:rPr lang="en-US" sz="1100" b="1" dirty="0"/>
              <a:t>🔸 </a:t>
            </a:r>
            <a:r>
              <a:rPr lang="en-US" sz="1100" b="1" dirty="0" err="1"/>
              <a:t>Multitable</a:t>
            </a:r>
            <a:r>
              <a:rPr lang="en-US" sz="1100" b="1" dirty="0"/>
              <a:t> Clustering Layout:</a:t>
            </a:r>
          </a:p>
          <a:p>
            <a:r>
              <a:rPr lang="as-IN" sz="1100" dirty="0"/>
              <a:t>এখন আমরা এই দুইটা </a:t>
            </a:r>
            <a:r>
              <a:rPr lang="en-US" sz="1100" dirty="0"/>
              <a:t>table-</a:t>
            </a:r>
            <a:r>
              <a:rPr lang="as-IN" sz="1100" dirty="0"/>
              <a:t>এর </a:t>
            </a:r>
            <a:r>
              <a:rPr lang="en-US" sz="1100" dirty="0"/>
              <a:t>data </a:t>
            </a:r>
            <a:r>
              <a:rPr lang="en-US" sz="1100" b="1" dirty="0"/>
              <a:t>cluster </a:t>
            </a:r>
            <a:r>
              <a:rPr lang="as-IN" sz="1100" b="1" dirty="0"/>
              <a:t>করে</a:t>
            </a:r>
            <a:r>
              <a:rPr lang="as-IN" sz="1100" dirty="0"/>
              <a:t> রাখি:</a:t>
            </a:r>
            <a:endParaRPr lang="as-IN" sz="1100" dirty="0">
              <a:effectLst/>
            </a:endParaRPr>
          </a:p>
        </p:txBody>
      </p:sp>
      <p:sp>
        <p:nvSpPr>
          <p:cNvPr id="3" name="Rectangle 1"/>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4"/>
          <p:cNvSpPr/>
          <p:nvPr/>
        </p:nvSpPr>
        <p:spPr>
          <a:xfrm>
            <a:off x="671459" y="2631490"/>
            <a:ext cx="2222083" cy="338554"/>
          </a:xfrm>
          <a:prstGeom prst="rect">
            <a:avLst/>
          </a:prstGeom>
        </p:spPr>
        <p:txBody>
          <a:bodyPr wrap="none">
            <a:spAutoFit/>
          </a:bodyPr>
          <a:lstStyle/>
          <a:p>
            <a:r>
              <a:rPr lang="en-US" dirty="0"/>
              <a:t>✅ </a:t>
            </a:r>
            <a:r>
              <a:rPr lang="as-IN" dirty="0"/>
              <a:t>সুবিধা (</a:t>
            </a:r>
            <a:r>
              <a:rPr lang="en-US" dirty="0"/>
              <a:t>Advantages)</a:t>
            </a:r>
          </a:p>
        </p:txBody>
      </p:sp>
      <p:graphicFrame>
        <p:nvGraphicFramePr>
          <p:cNvPr id="6" name="Table 5"/>
          <p:cNvGraphicFramePr>
            <a:graphicFrameLocks noGrp="1"/>
          </p:cNvGraphicFramePr>
          <p:nvPr>
            <p:extLst>
              <p:ext uri="{D42A27DB-BD31-4B8C-83A1-F6EECF244321}">
                <p14:modId xmlns:p14="http://schemas.microsoft.com/office/powerpoint/2010/main" val="3865013335"/>
              </p:ext>
            </p:extLst>
          </p:nvPr>
        </p:nvGraphicFramePr>
        <p:xfrm>
          <a:off x="741363" y="3027611"/>
          <a:ext cx="6122424" cy="1088340"/>
        </p:xfrm>
        <a:graphic>
          <a:graphicData uri="http://schemas.openxmlformats.org/drawingml/2006/table">
            <a:tbl>
              <a:tblPr>
                <a:tableStyleId>{775DCB02-9BB8-47FD-8907-85C794F793BA}</a:tableStyleId>
              </a:tblPr>
              <a:tblGrid>
                <a:gridCol w="3061212">
                  <a:extLst>
                    <a:ext uri="{9D8B030D-6E8A-4147-A177-3AD203B41FA5}">
                      <a16:colId xmlns:a16="http://schemas.microsoft.com/office/drawing/2014/main" val="2159105540"/>
                    </a:ext>
                  </a:extLst>
                </a:gridCol>
                <a:gridCol w="3061212">
                  <a:extLst>
                    <a:ext uri="{9D8B030D-6E8A-4147-A177-3AD203B41FA5}">
                      <a16:colId xmlns:a16="http://schemas.microsoft.com/office/drawing/2014/main" val="3566414325"/>
                    </a:ext>
                  </a:extLst>
                </a:gridCol>
              </a:tblGrid>
              <a:tr h="230023">
                <a:tc>
                  <a:txBody>
                    <a:bodyPr/>
                    <a:lstStyle/>
                    <a:p>
                      <a:r>
                        <a:rPr lang="en-US" sz="1100" dirty="0">
                          <a:effectLst/>
                        </a:rPr>
                        <a:t>Scenario</a:t>
                      </a:r>
                    </a:p>
                  </a:txBody>
                  <a:tcPr anchor="ctr"/>
                </a:tc>
                <a:tc>
                  <a:txBody>
                    <a:bodyPr/>
                    <a:lstStyle/>
                    <a:p>
                      <a:r>
                        <a:rPr lang="en-US" sz="1100">
                          <a:effectLst/>
                        </a:rPr>
                        <a:t>Benefit</a:t>
                      </a:r>
                    </a:p>
                  </a:txBody>
                  <a:tcPr anchor="ctr"/>
                </a:tc>
                <a:extLst>
                  <a:ext uri="{0D108BD9-81ED-4DB2-BD59-A6C34878D82A}">
                    <a16:rowId xmlns:a16="http://schemas.microsoft.com/office/drawing/2014/main" val="2433048253"/>
                  </a:ext>
                </a:extLst>
              </a:tr>
              <a:tr h="402540">
                <a:tc>
                  <a:txBody>
                    <a:bodyPr/>
                    <a:lstStyle/>
                    <a:p>
                      <a:r>
                        <a:rPr lang="en-US" sz="1100" dirty="0">
                          <a:effectLst/>
                        </a:rPr>
                        <a:t>Join query: department ⋈ instructor</a:t>
                      </a:r>
                    </a:p>
                  </a:txBody>
                  <a:tcPr anchor="ctr"/>
                </a:tc>
                <a:tc>
                  <a:txBody>
                    <a:bodyPr/>
                    <a:lstStyle/>
                    <a:p>
                      <a:r>
                        <a:rPr lang="en-US" sz="1100">
                          <a:effectLst/>
                        </a:rPr>
                        <a:t>Faster access — clustered data একসাথে</a:t>
                      </a:r>
                    </a:p>
                  </a:txBody>
                  <a:tcPr anchor="ctr"/>
                </a:tc>
                <a:extLst>
                  <a:ext uri="{0D108BD9-81ED-4DB2-BD59-A6C34878D82A}">
                    <a16:rowId xmlns:a16="http://schemas.microsoft.com/office/drawing/2014/main" val="3838731379"/>
                  </a:ext>
                </a:extLst>
              </a:tr>
              <a:tr h="402540">
                <a:tc>
                  <a:txBody>
                    <a:bodyPr/>
                    <a:lstStyle/>
                    <a:p>
                      <a:r>
                        <a:rPr lang="en-US" sz="1100" dirty="0">
                          <a:effectLst/>
                        </a:rPr>
                        <a:t>Single department query: e.g. all instructors of Physics</a:t>
                      </a:r>
                    </a:p>
                  </a:txBody>
                  <a:tcPr anchor="ctr"/>
                </a:tc>
                <a:tc>
                  <a:txBody>
                    <a:bodyPr/>
                    <a:lstStyle/>
                    <a:p>
                      <a:r>
                        <a:rPr lang="en-US" sz="1100" dirty="0">
                          <a:effectLst/>
                        </a:rPr>
                        <a:t>Efficient — sequential block read suffice</a:t>
                      </a:r>
                    </a:p>
                  </a:txBody>
                  <a:tcPr anchor="ctr"/>
                </a:tc>
                <a:extLst>
                  <a:ext uri="{0D108BD9-81ED-4DB2-BD59-A6C34878D82A}">
                    <a16:rowId xmlns:a16="http://schemas.microsoft.com/office/drawing/2014/main" val="2061658244"/>
                  </a:ext>
                </a:extLst>
              </a:tr>
            </a:tbl>
          </a:graphicData>
        </a:graphic>
      </p:graphicFrame>
      <p:sp>
        <p:nvSpPr>
          <p:cNvPr id="7" name="Rectangle 6"/>
          <p:cNvSpPr/>
          <p:nvPr/>
        </p:nvSpPr>
        <p:spPr>
          <a:xfrm>
            <a:off x="741363" y="4173518"/>
            <a:ext cx="2696572" cy="338554"/>
          </a:xfrm>
          <a:prstGeom prst="rect">
            <a:avLst/>
          </a:prstGeom>
        </p:spPr>
        <p:txBody>
          <a:bodyPr wrap="none">
            <a:spAutoFit/>
          </a:bodyPr>
          <a:lstStyle/>
          <a:p>
            <a:r>
              <a:rPr lang="en-US" dirty="0"/>
              <a:t>❌ </a:t>
            </a:r>
            <a:r>
              <a:rPr lang="as-IN" dirty="0"/>
              <a:t>অসুবিধা (</a:t>
            </a:r>
            <a:r>
              <a:rPr lang="en-US" dirty="0"/>
              <a:t>Disadvantages)</a:t>
            </a:r>
          </a:p>
        </p:txBody>
      </p:sp>
      <p:graphicFrame>
        <p:nvGraphicFramePr>
          <p:cNvPr id="8" name="Table 7"/>
          <p:cNvGraphicFramePr>
            <a:graphicFrameLocks noGrp="1"/>
          </p:cNvGraphicFramePr>
          <p:nvPr>
            <p:extLst>
              <p:ext uri="{D42A27DB-BD31-4B8C-83A1-F6EECF244321}">
                <p14:modId xmlns:p14="http://schemas.microsoft.com/office/powerpoint/2010/main" val="2018631277"/>
              </p:ext>
            </p:extLst>
          </p:nvPr>
        </p:nvGraphicFramePr>
        <p:xfrm>
          <a:off x="563042" y="4569639"/>
          <a:ext cx="7661274" cy="1583601"/>
        </p:xfrm>
        <a:graphic>
          <a:graphicData uri="http://schemas.openxmlformats.org/drawingml/2006/table">
            <a:tbl>
              <a:tblPr>
                <a:tableStyleId>{775DCB02-9BB8-47FD-8907-85C794F793BA}</a:tableStyleId>
              </a:tblPr>
              <a:tblGrid>
                <a:gridCol w="3830637">
                  <a:extLst>
                    <a:ext uri="{9D8B030D-6E8A-4147-A177-3AD203B41FA5}">
                      <a16:colId xmlns:a16="http://schemas.microsoft.com/office/drawing/2014/main" val="389683797"/>
                    </a:ext>
                  </a:extLst>
                </a:gridCol>
                <a:gridCol w="3830637">
                  <a:extLst>
                    <a:ext uri="{9D8B030D-6E8A-4147-A177-3AD203B41FA5}">
                      <a16:colId xmlns:a16="http://schemas.microsoft.com/office/drawing/2014/main" val="1249965324"/>
                    </a:ext>
                  </a:extLst>
                </a:gridCol>
              </a:tblGrid>
              <a:tr h="252290">
                <a:tc>
                  <a:txBody>
                    <a:bodyPr/>
                    <a:lstStyle/>
                    <a:p>
                      <a:r>
                        <a:rPr lang="en-US" sz="1100" dirty="0">
                          <a:effectLst/>
                        </a:rPr>
                        <a:t>Scenario</a:t>
                      </a:r>
                    </a:p>
                  </a:txBody>
                  <a:tcPr anchor="ctr"/>
                </a:tc>
                <a:tc>
                  <a:txBody>
                    <a:bodyPr/>
                    <a:lstStyle/>
                    <a:p>
                      <a:r>
                        <a:rPr lang="en-US" sz="1100">
                          <a:effectLst/>
                        </a:rPr>
                        <a:t>Drawback</a:t>
                      </a:r>
                    </a:p>
                  </a:txBody>
                  <a:tcPr anchor="ctr"/>
                </a:tc>
                <a:extLst>
                  <a:ext uri="{0D108BD9-81ED-4DB2-BD59-A6C34878D82A}">
                    <a16:rowId xmlns:a16="http://schemas.microsoft.com/office/drawing/2014/main" val="1962008985"/>
                  </a:ext>
                </a:extLst>
              </a:tr>
              <a:tr h="441507">
                <a:tc>
                  <a:txBody>
                    <a:bodyPr/>
                    <a:lstStyle/>
                    <a:p>
                      <a:r>
                        <a:rPr lang="en-US" sz="1100" dirty="0">
                          <a:effectLst/>
                        </a:rPr>
                        <a:t>Only department query</a:t>
                      </a:r>
                    </a:p>
                  </a:txBody>
                  <a:tcPr anchor="ctr"/>
                </a:tc>
                <a:tc>
                  <a:txBody>
                    <a:bodyPr/>
                    <a:lstStyle/>
                    <a:p>
                      <a:r>
                        <a:rPr lang="en-US" sz="1100">
                          <a:effectLst/>
                        </a:rPr>
                        <a:t>Extra block read — instructor data skip </a:t>
                      </a:r>
                      <a:r>
                        <a:rPr lang="as-IN" sz="1100">
                          <a:effectLst/>
                        </a:rPr>
                        <a:t>করতে হয়</a:t>
                      </a:r>
                    </a:p>
                  </a:txBody>
                  <a:tcPr anchor="ctr"/>
                </a:tc>
                <a:extLst>
                  <a:ext uri="{0D108BD9-81ED-4DB2-BD59-A6C34878D82A}">
                    <a16:rowId xmlns:a16="http://schemas.microsoft.com/office/drawing/2014/main" val="1316483389"/>
                  </a:ext>
                </a:extLst>
              </a:tr>
              <a:tr h="441507">
                <a:tc>
                  <a:txBody>
                    <a:bodyPr/>
                    <a:lstStyle/>
                    <a:p>
                      <a:r>
                        <a:rPr lang="en-US" sz="1100" dirty="0">
                          <a:effectLst/>
                        </a:rPr>
                        <a:t>Variable record size</a:t>
                      </a:r>
                    </a:p>
                  </a:txBody>
                  <a:tcPr anchor="ctr"/>
                </a:tc>
                <a:tc>
                  <a:txBody>
                    <a:bodyPr/>
                    <a:lstStyle/>
                    <a:p>
                      <a:r>
                        <a:rPr lang="en-US" sz="1100" dirty="0">
                          <a:effectLst/>
                        </a:rPr>
                        <a:t>Compaction harder, fragmentation possible</a:t>
                      </a:r>
                    </a:p>
                  </a:txBody>
                  <a:tcPr anchor="ctr"/>
                </a:tc>
                <a:extLst>
                  <a:ext uri="{0D108BD9-81ED-4DB2-BD59-A6C34878D82A}">
                    <a16:rowId xmlns:a16="http://schemas.microsoft.com/office/drawing/2014/main" val="296870468"/>
                  </a:ext>
                </a:extLst>
              </a:tr>
              <a:tr h="441507">
                <a:tc>
                  <a:txBody>
                    <a:bodyPr/>
                    <a:lstStyle/>
                    <a:p>
                      <a:r>
                        <a:rPr lang="en-US" sz="1100" dirty="0">
                          <a:effectLst/>
                        </a:rPr>
                        <a:t>Pointer chain needed</a:t>
                      </a:r>
                    </a:p>
                  </a:txBody>
                  <a:tcPr anchor="ctr"/>
                </a:tc>
                <a:tc>
                  <a:txBody>
                    <a:bodyPr/>
                    <a:lstStyle/>
                    <a:p>
                      <a:r>
                        <a:rPr lang="as-IN" sz="1100" dirty="0">
                          <a:effectLst/>
                        </a:rPr>
                        <a:t>যদি </a:t>
                      </a:r>
                      <a:r>
                        <a:rPr lang="en-US" sz="1100" dirty="0">
                          <a:effectLst/>
                        </a:rPr>
                        <a:t>relation-wise traversal </a:t>
                      </a:r>
                      <a:r>
                        <a:rPr lang="as-IN" sz="1100" dirty="0">
                          <a:effectLst/>
                        </a:rPr>
                        <a:t>দরকার হয় → </a:t>
                      </a:r>
                      <a:r>
                        <a:rPr lang="en-US" sz="1100" dirty="0">
                          <a:effectLst/>
                        </a:rPr>
                        <a:t>extra linking overhead</a:t>
                      </a:r>
                    </a:p>
                  </a:txBody>
                  <a:tcPr anchor="ctr"/>
                </a:tc>
                <a:extLst>
                  <a:ext uri="{0D108BD9-81ED-4DB2-BD59-A6C34878D82A}">
                    <a16:rowId xmlns:a16="http://schemas.microsoft.com/office/drawing/2014/main" val="2348426258"/>
                  </a:ext>
                </a:extLst>
              </a:tr>
            </a:tbl>
          </a:graphicData>
        </a:graphic>
      </p:graphicFrame>
    </p:spTree>
    <p:extLst>
      <p:ext uri="{BB962C8B-B14F-4D97-AF65-F5344CB8AC3E}">
        <p14:creationId xmlns:p14="http://schemas.microsoft.com/office/powerpoint/2010/main" val="31700301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78BCA-59BB-4645-ADFD-BA7077CC730C}"/>
              </a:ext>
            </a:extLst>
          </p:cNvPr>
          <p:cNvSpPr>
            <a:spLocks noGrp="1"/>
          </p:cNvSpPr>
          <p:nvPr>
            <p:ph type="title"/>
          </p:nvPr>
        </p:nvSpPr>
        <p:spPr/>
        <p:txBody>
          <a:bodyPr/>
          <a:lstStyle/>
          <a:p>
            <a:r>
              <a:rPr lang="en-IN" dirty="0"/>
              <a:t>Partitioning</a:t>
            </a:r>
          </a:p>
        </p:txBody>
      </p:sp>
      <p:sp>
        <p:nvSpPr>
          <p:cNvPr id="3" name="Content Placeholder 2">
            <a:extLst>
              <a:ext uri="{FF2B5EF4-FFF2-40B4-BE49-F238E27FC236}">
                <a16:creationId xmlns:a16="http://schemas.microsoft.com/office/drawing/2014/main" id="{629B0A5E-214E-480B-959C-AEE1B25115DA}"/>
              </a:ext>
            </a:extLst>
          </p:cNvPr>
          <p:cNvSpPr>
            <a:spLocks noGrp="1"/>
          </p:cNvSpPr>
          <p:nvPr>
            <p:ph idx="1"/>
          </p:nvPr>
        </p:nvSpPr>
        <p:spPr>
          <a:xfrm>
            <a:off x="768350" y="1093788"/>
            <a:ext cx="7707313" cy="4903787"/>
          </a:xfrm>
        </p:spPr>
        <p:txBody>
          <a:bodyPr/>
          <a:lstStyle/>
          <a:p>
            <a:r>
              <a:rPr lang="en-IN" b="1" dirty="0">
                <a:solidFill>
                  <a:srgbClr val="002060"/>
                </a:solidFill>
              </a:rPr>
              <a:t>Table partitioning</a:t>
            </a:r>
            <a:r>
              <a:rPr lang="en-IN" dirty="0"/>
              <a:t>: Records in a relation can be partitioned into smaller relations that are stored separately</a:t>
            </a:r>
          </a:p>
          <a:p>
            <a:r>
              <a:rPr lang="en-IN" dirty="0"/>
              <a:t>E.g</a:t>
            </a:r>
            <a:r>
              <a:rPr lang="en-IN" dirty="0" smtClean="0"/>
              <a:t>., </a:t>
            </a:r>
            <a:r>
              <a:rPr lang="en-IN" i="1" dirty="0"/>
              <a:t>transaction </a:t>
            </a:r>
            <a:r>
              <a:rPr lang="en-IN" dirty="0"/>
              <a:t>relation may be partitioned into </a:t>
            </a:r>
            <a:br>
              <a:rPr lang="en-IN" dirty="0"/>
            </a:br>
            <a:r>
              <a:rPr lang="en-IN" dirty="0"/>
              <a:t>  </a:t>
            </a:r>
            <a:r>
              <a:rPr lang="en-IN" i="1" dirty="0"/>
              <a:t>transaction_2018, transaction_2019, etc.</a:t>
            </a:r>
          </a:p>
          <a:p>
            <a:r>
              <a:rPr lang="en-IN" dirty="0"/>
              <a:t>Queries written on </a:t>
            </a:r>
            <a:r>
              <a:rPr lang="en-IN" i="1" dirty="0"/>
              <a:t>transaction</a:t>
            </a:r>
            <a:r>
              <a:rPr lang="en-IN" dirty="0"/>
              <a:t> must access records in all partitions</a:t>
            </a:r>
          </a:p>
          <a:p>
            <a:pPr lvl="1"/>
            <a:r>
              <a:rPr lang="en-IN" dirty="0"/>
              <a:t>Unless query has a selection such as </a:t>
            </a:r>
            <a:r>
              <a:rPr lang="en-IN" i="1" dirty="0"/>
              <a:t>year=</a:t>
            </a:r>
            <a:r>
              <a:rPr lang="en-IN" dirty="0"/>
              <a:t>2019, in which case only one partition in needed</a:t>
            </a:r>
          </a:p>
          <a:p>
            <a:r>
              <a:rPr lang="en-IN" dirty="0"/>
              <a:t>Partitioning </a:t>
            </a:r>
          </a:p>
          <a:p>
            <a:pPr lvl="1"/>
            <a:r>
              <a:rPr lang="en-IN" dirty="0"/>
              <a:t>Reduces costs of some operations such as free space management</a:t>
            </a:r>
          </a:p>
          <a:p>
            <a:pPr lvl="1"/>
            <a:r>
              <a:rPr lang="en-IN" dirty="0"/>
              <a:t>Allows different partitions to be stored on different storage devices </a:t>
            </a:r>
          </a:p>
          <a:p>
            <a:pPr lvl="2"/>
            <a:r>
              <a:rPr lang="en-IN" dirty="0"/>
              <a:t>E.g</a:t>
            </a:r>
            <a:r>
              <a:rPr lang="en-IN" dirty="0" smtClean="0"/>
              <a:t>., </a:t>
            </a:r>
            <a:r>
              <a:rPr lang="en-IN" i="1" dirty="0"/>
              <a:t>transaction </a:t>
            </a:r>
            <a:r>
              <a:rPr lang="en-IN" dirty="0"/>
              <a:t>partition for current year on SSD, for older years on magnetic disk</a:t>
            </a:r>
          </a:p>
        </p:txBody>
      </p:sp>
    </p:spTree>
    <p:extLst>
      <p:ext uri="{BB962C8B-B14F-4D97-AF65-F5344CB8AC3E}">
        <p14:creationId xmlns:p14="http://schemas.microsoft.com/office/powerpoint/2010/main" val="356722065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a:extLst>
              <a:ext uri="{FF2B5EF4-FFF2-40B4-BE49-F238E27FC236}">
                <a16:creationId xmlns:a16="http://schemas.microsoft.com/office/drawing/2014/main" id="{6C427681-FE92-4716-B0D6-3C1132EC37B2}"/>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Data Dictionary Storage</a:t>
            </a:r>
          </a:p>
        </p:txBody>
      </p:sp>
      <p:sp>
        <p:nvSpPr>
          <p:cNvPr id="102403" name="Rectangle 3">
            <a:extLst>
              <a:ext uri="{FF2B5EF4-FFF2-40B4-BE49-F238E27FC236}">
                <a16:creationId xmlns:a16="http://schemas.microsoft.com/office/drawing/2014/main" id="{5F8AF8E1-0BFE-4988-B8AF-22B99F21E0C1}"/>
              </a:ext>
            </a:extLst>
          </p:cNvPr>
          <p:cNvSpPr>
            <a:spLocks noGrp="1" noChangeArrowheads="1"/>
          </p:cNvSpPr>
          <p:nvPr>
            <p:ph type="body" idx="1"/>
          </p:nvPr>
        </p:nvSpPr>
        <p:spPr>
          <a:xfrm>
            <a:off x="914400" y="1779588"/>
            <a:ext cx="7280275" cy="4527550"/>
          </a:xfrm>
        </p:spPr>
        <p:txBody>
          <a:bodyPr/>
          <a:lstStyle/>
          <a:p>
            <a:pPr>
              <a:lnSpc>
                <a:spcPct val="90000"/>
              </a:lnSpc>
            </a:pPr>
            <a:r>
              <a:rPr lang="en-US" altLang="en-US" dirty="0"/>
              <a:t>Information about relations</a:t>
            </a:r>
          </a:p>
          <a:p>
            <a:pPr lvl="1">
              <a:lnSpc>
                <a:spcPct val="90000"/>
              </a:lnSpc>
            </a:pPr>
            <a:r>
              <a:rPr lang="en-US" altLang="en-US" dirty="0"/>
              <a:t>names of relations</a:t>
            </a:r>
          </a:p>
          <a:p>
            <a:pPr lvl="1">
              <a:lnSpc>
                <a:spcPct val="90000"/>
              </a:lnSpc>
            </a:pPr>
            <a:r>
              <a:rPr lang="en-US" altLang="en-US" dirty="0"/>
              <a:t>names, types and lengths of attributes of each relation</a:t>
            </a:r>
          </a:p>
          <a:p>
            <a:pPr lvl="1">
              <a:lnSpc>
                <a:spcPct val="90000"/>
              </a:lnSpc>
            </a:pPr>
            <a:r>
              <a:rPr lang="en-US" altLang="en-US" dirty="0"/>
              <a:t>names and definitions of views</a:t>
            </a:r>
          </a:p>
          <a:p>
            <a:pPr lvl="1">
              <a:lnSpc>
                <a:spcPct val="90000"/>
              </a:lnSpc>
            </a:pPr>
            <a:r>
              <a:rPr lang="en-US" altLang="en-US" dirty="0"/>
              <a:t>integrity constraints</a:t>
            </a:r>
          </a:p>
          <a:p>
            <a:pPr>
              <a:lnSpc>
                <a:spcPct val="90000"/>
              </a:lnSpc>
            </a:pPr>
            <a:r>
              <a:rPr lang="en-US" altLang="en-US" dirty="0"/>
              <a:t>User and accounting information, including passwords</a:t>
            </a:r>
          </a:p>
          <a:p>
            <a:pPr>
              <a:lnSpc>
                <a:spcPct val="90000"/>
              </a:lnSpc>
            </a:pPr>
            <a:r>
              <a:rPr lang="en-US" altLang="en-US" dirty="0"/>
              <a:t>Statistical and descriptive data</a:t>
            </a:r>
          </a:p>
          <a:p>
            <a:pPr lvl="1">
              <a:lnSpc>
                <a:spcPct val="90000"/>
              </a:lnSpc>
            </a:pPr>
            <a:r>
              <a:rPr lang="en-US" altLang="en-US" dirty="0"/>
              <a:t>number of tuples in each relation</a:t>
            </a:r>
          </a:p>
          <a:p>
            <a:pPr>
              <a:lnSpc>
                <a:spcPct val="90000"/>
              </a:lnSpc>
            </a:pPr>
            <a:r>
              <a:rPr lang="en-US" altLang="en-US" dirty="0"/>
              <a:t>Physical file organization information</a:t>
            </a:r>
          </a:p>
          <a:p>
            <a:pPr lvl="1">
              <a:lnSpc>
                <a:spcPct val="90000"/>
              </a:lnSpc>
            </a:pPr>
            <a:r>
              <a:rPr lang="en-US" altLang="en-US" dirty="0"/>
              <a:t>How relation is stored (sequential/hash/…)</a:t>
            </a:r>
          </a:p>
          <a:p>
            <a:pPr lvl="1">
              <a:lnSpc>
                <a:spcPct val="90000"/>
              </a:lnSpc>
            </a:pPr>
            <a:r>
              <a:rPr lang="en-US" altLang="en-US" dirty="0"/>
              <a:t>Physical location of relation </a:t>
            </a:r>
          </a:p>
          <a:p>
            <a:pPr>
              <a:lnSpc>
                <a:spcPct val="90000"/>
              </a:lnSpc>
            </a:pPr>
            <a:r>
              <a:rPr lang="en-US" altLang="en-US" dirty="0"/>
              <a:t>Information about indices (Chapter 14) </a:t>
            </a:r>
          </a:p>
        </p:txBody>
      </p:sp>
      <p:sp>
        <p:nvSpPr>
          <p:cNvPr id="102404" name="Text Box 6">
            <a:extLst>
              <a:ext uri="{FF2B5EF4-FFF2-40B4-BE49-F238E27FC236}">
                <a16:creationId xmlns:a16="http://schemas.microsoft.com/office/drawing/2014/main" id="{38943F03-FAEF-41D0-8332-F8979FE58597}"/>
              </a:ext>
            </a:extLst>
          </p:cNvPr>
          <p:cNvSpPr txBox="1">
            <a:spLocks noChangeArrowheads="1"/>
          </p:cNvSpPr>
          <p:nvPr/>
        </p:nvSpPr>
        <p:spPr bwMode="auto">
          <a:xfrm>
            <a:off x="914400" y="1120973"/>
            <a:ext cx="6678613"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en-US" altLang="en-US" sz="1700" dirty="0"/>
              <a:t>The</a:t>
            </a:r>
            <a:r>
              <a:rPr kumimoji="0" lang="en-US" altLang="en-US" sz="1700" dirty="0">
                <a:solidFill>
                  <a:srgbClr val="000099"/>
                </a:solidFill>
              </a:rPr>
              <a:t> </a:t>
            </a:r>
            <a:r>
              <a:rPr kumimoji="0" lang="en-US" altLang="en-US" sz="1700" b="1" dirty="0">
                <a:solidFill>
                  <a:srgbClr val="002060"/>
                </a:solidFill>
              </a:rPr>
              <a:t>Data dictionary</a:t>
            </a:r>
            <a:r>
              <a:rPr kumimoji="0" lang="en-US" altLang="en-US" sz="1700" dirty="0">
                <a:solidFill>
                  <a:srgbClr val="002060"/>
                </a:solidFill>
              </a:rPr>
              <a:t> </a:t>
            </a:r>
            <a:r>
              <a:rPr kumimoji="0" lang="en-US" altLang="en-US" sz="1700" dirty="0"/>
              <a:t>(also called </a:t>
            </a:r>
            <a:r>
              <a:rPr kumimoji="0" lang="en-US" altLang="en-US" sz="1700" b="1" dirty="0">
                <a:solidFill>
                  <a:srgbClr val="002060"/>
                </a:solidFill>
              </a:rPr>
              <a:t>system catalog</a:t>
            </a:r>
            <a:r>
              <a:rPr kumimoji="0" lang="en-US" altLang="en-US" sz="1700" dirty="0"/>
              <a:t>) stores </a:t>
            </a:r>
            <a:r>
              <a:rPr kumimoji="0" lang="en-US" altLang="en-US" sz="1700" b="1" dirty="0">
                <a:solidFill>
                  <a:srgbClr val="002060"/>
                </a:solidFill>
              </a:rPr>
              <a:t>metadata</a:t>
            </a:r>
            <a:r>
              <a:rPr kumimoji="0" lang="en-US" altLang="en-US" sz="1700" dirty="0"/>
              <a:t>; that is, data about data, such as</a:t>
            </a:r>
          </a:p>
        </p:txBody>
      </p:sp>
    </p:spTree>
    <p:extLst>
      <p:ext uri="{BB962C8B-B14F-4D97-AF65-F5344CB8AC3E}">
        <p14:creationId xmlns:p14="http://schemas.microsoft.com/office/powerpoint/2010/main" val="251784794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EE94F84B-01EE-4596-897A-63559CB1C446}"/>
              </a:ext>
            </a:extLst>
          </p:cNvPr>
          <p:cNvSpPr>
            <a:spLocks noGrp="1" noChangeArrowheads="1"/>
          </p:cNvSpPr>
          <p:nvPr>
            <p:ph type="title"/>
          </p:nvPr>
        </p:nvSpPr>
        <p:spPr>
          <a:xfrm>
            <a:off x="882654" y="174627"/>
            <a:ext cx="8104188"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800" dirty="0">
                <a:effectLst/>
              </a:rPr>
              <a:t>Relational Representation of System Metadata</a:t>
            </a:r>
          </a:p>
        </p:txBody>
      </p:sp>
      <p:pic>
        <p:nvPicPr>
          <p:cNvPr id="104451" name="Picture 4">
            <a:extLst>
              <a:ext uri="{FF2B5EF4-FFF2-40B4-BE49-F238E27FC236}">
                <a16:creationId xmlns:a16="http://schemas.microsoft.com/office/drawing/2014/main" id="{31E46661-04BA-487C-A994-B5995C0261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4788" y="1522767"/>
            <a:ext cx="4864100" cy="4035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2" name="Rectangle 6">
            <a:extLst>
              <a:ext uri="{FF2B5EF4-FFF2-40B4-BE49-F238E27FC236}">
                <a16:creationId xmlns:a16="http://schemas.microsoft.com/office/drawing/2014/main" id="{3D2E2374-DDB3-4BA5-963B-D3E90138181B}"/>
              </a:ext>
            </a:extLst>
          </p:cNvPr>
          <p:cNvSpPr>
            <a:spLocks noGrp="1" noChangeArrowheads="1"/>
          </p:cNvSpPr>
          <p:nvPr>
            <p:ph type="body" idx="1"/>
          </p:nvPr>
        </p:nvSpPr>
        <p:spPr>
          <a:xfrm>
            <a:off x="939809" y="1384300"/>
            <a:ext cx="2419350" cy="4873625"/>
          </a:xfrm>
          <a:noFill/>
        </p:spPr>
        <p:txBody>
          <a:bodyPr/>
          <a:lstStyle/>
          <a:p>
            <a:r>
              <a:rPr lang="en-US" altLang="en-US" dirty="0"/>
              <a:t>Relational representation on disk</a:t>
            </a:r>
          </a:p>
          <a:p>
            <a:r>
              <a:rPr lang="en-US" altLang="en-US" dirty="0"/>
              <a:t>Specialized data structures designed for efficient access, in memory</a:t>
            </a:r>
          </a:p>
        </p:txBody>
      </p:sp>
    </p:spTree>
    <p:extLst>
      <p:ext uri="{BB962C8B-B14F-4D97-AF65-F5344CB8AC3E}">
        <p14:creationId xmlns:p14="http://schemas.microsoft.com/office/powerpoint/2010/main" val="409718931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a:extLst>
              <a:ext uri="{FF2B5EF4-FFF2-40B4-BE49-F238E27FC236}">
                <a16:creationId xmlns:a16="http://schemas.microsoft.com/office/drawing/2014/main" id="{5451E6B7-68DF-40D3-9416-41BD23A85083}"/>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Storage Access</a:t>
            </a:r>
          </a:p>
        </p:txBody>
      </p:sp>
      <p:sp>
        <p:nvSpPr>
          <p:cNvPr id="105475" name="Rectangle 3">
            <a:extLst>
              <a:ext uri="{FF2B5EF4-FFF2-40B4-BE49-F238E27FC236}">
                <a16:creationId xmlns:a16="http://schemas.microsoft.com/office/drawing/2014/main" id="{18504F6A-4FD6-4956-BB03-B1A50F8B6A22}"/>
              </a:ext>
            </a:extLst>
          </p:cNvPr>
          <p:cNvSpPr>
            <a:spLocks noGrp="1" noChangeArrowheads="1"/>
          </p:cNvSpPr>
          <p:nvPr>
            <p:ph idx="1"/>
          </p:nvPr>
        </p:nvSpPr>
        <p:spPr>
          <a:xfrm>
            <a:off x="814388" y="1093789"/>
            <a:ext cx="7661275" cy="2198052"/>
          </a:xfrm>
        </p:spPr>
        <p:txBody>
          <a:bodyPr/>
          <a:lstStyle/>
          <a:p>
            <a:r>
              <a:rPr lang="en-US" altLang="en-US" dirty="0"/>
              <a:t>Blocks are units of both storage allocation and data transfer.</a:t>
            </a:r>
          </a:p>
          <a:p>
            <a:r>
              <a:rPr lang="en-US" altLang="en-US" dirty="0"/>
              <a:t>Database system seeks to minimize the number of block transfers between the disk and memory.  We can reduce the number of disk accesses by keeping as many blocks as possible in main memory.</a:t>
            </a:r>
          </a:p>
          <a:p>
            <a:r>
              <a:rPr lang="en-US" altLang="en-US" b="1" dirty="0">
                <a:solidFill>
                  <a:srgbClr val="002060"/>
                </a:solidFill>
              </a:rPr>
              <a:t>Buffer</a:t>
            </a:r>
            <a:r>
              <a:rPr lang="en-US" altLang="en-US" b="1" dirty="0"/>
              <a:t> </a:t>
            </a:r>
            <a:r>
              <a:rPr lang="en-US" altLang="en-US" dirty="0"/>
              <a:t>– portion of main memory available to store copies of disk blocks.</a:t>
            </a:r>
          </a:p>
          <a:p>
            <a:r>
              <a:rPr lang="en-US" altLang="en-US" b="1" dirty="0">
                <a:solidFill>
                  <a:srgbClr val="002060"/>
                </a:solidFill>
              </a:rPr>
              <a:t>Buffer manager</a:t>
            </a:r>
            <a:r>
              <a:rPr lang="en-US" altLang="en-US" dirty="0">
                <a:solidFill>
                  <a:srgbClr val="002060"/>
                </a:solidFill>
              </a:rPr>
              <a:t> </a:t>
            </a:r>
            <a:r>
              <a:rPr lang="en-US" altLang="en-US" dirty="0"/>
              <a:t>– subsystem responsible for allocating buffer space in main memory.</a:t>
            </a:r>
          </a:p>
        </p:txBody>
      </p:sp>
      <p:pic>
        <p:nvPicPr>
          <p:cNvPr id="3" name="Picture 2"/>
          <p:cNvPicPr>
            <a:picLocks noChangeAspect="1"/>
          </p:cNvPicPr>
          <p:nvPr/>
        </p:nvPicPr>
        <p:blipFill>
          <a:blip r:embed="rId3"/>
          <a:stretch>
            <a:fillRect/>
          </a:stretch>
        </p:blipFill>
        <p:spPr>
          <a:xfrm>
            <a:off x="2426208" y="3448798"/>
            <a:ext cx="3934206" cy="1633551"/>
          </a:xfrm>
          <a:prstGeom prst="rect">
            <a:avLst/>
          </a:prstGeom>
        </p:spPr>
      </p:pic>
    </p:spTree>
    <p:extLst>
      <p:ext uri="{BB962C8B-B14F-4D97-AF65-F5344CB8AC3E}">
        <p14:creationId xmlns:p14="http://schemas.microsoft.com/office/powerpoint/2010/main" val="87909852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a:extLst>
              <a:ext uri="{FF2B5EF4-FFF2-40B4-BE49-F238E27FC236}">
                <a16:creationId xmlns:a16="http://schemas.microsoft.com/office/drawing/2014/main" id="{A4BCDA1F-B571-4C94-8909-678E00F68F85}"/>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Buffer Manager</a:t>
            </a:r>
          </a:p>
        </p:txBody>
      </p:sp>
      <p:sp>
        <p:nvSpPr>
          <p:cNvPr id="107523" name="Rectangle 3">
            <a:extLst>
              <a:ext uri="{FF2B5EF4-FFF2-40B4-BE49-F238E27FC236}">
                <a16:creationId xmlns:a16="http://schemas.microsoft.com/office/drawing/2014/main" id="{B5B0D36C-892D-4C4F-81CB-0BD504F928D9}"/>
              </a:ext>
            </a:extLst>
          </p:cNvPr>
          <p:cNvSpPr>
            <a:spLocks noGrp="1" noChangeArrowheads="1"/>
          </p:cNvSpPr>
          <p:nvPr>
            <p:ph idx="1"/>
          </p:nvPr>
        </p:nvSpPr>
        <p:spPr/>
        <p:txBody>
          <a:bodyPr/>
          <a:lstStyle/>
          <a:p>
            <a:pPr marL="381000" indent="-381000"/>
            <a:r>
              <a:rPr lang="en-US" altLang="en-US" dirty="0"/>
              <a:t>Programs call on the buffer manager when they need a block from disk.</a:t>
            </a:r>
          </a:p>
          <a:p>
            <a:pPr lvl="1">
              <a:buSzPct val="100000"/>
            </a:pPr>
            <a:r>
              <a:rPr lang="en-US" altLang="en-US" dirty="0"/>
              <a:t>If the block is already in the buffer, buffer manager returns the address of the block in main memory</a:t>
            </a:r>
          </a:p>
          <a:p>
            <a:pPr lvl="1">
              <a:buSzPct val="100000"/>
            </a:pPr>
            <a:r>
              <a:rPr lang="en-US" altLang="en-US" dirty="0"/>
              <a:t>If the block is not in the buffer, the buffer manager</a:t>
            </a:r>
          </a:p>
          <a:p>
            <a:pPr lvl="2"/>
            <a:r>
              <a:rPr lang="en-US" altLang="en-US" dirty="0"/>
              <a:t>Allocates space in the buffer for the block</a:t>
            </a:r>
          </a:p>
          <a:p>
            <a:pPr lvl="3"/>
            <a:r>
              <a:rPr lang="en-US" altLang="en-US" dirty="0"/>
              <a:t>Replacing (throwing out) some other block, if required, to make space for the new block.</a:t>
            </a:r>
          </a:p>
          <a:p>
            <a:pPr lvl="3"/>
            <a:r>
              <a:rPr lang="en-US" altLang="en-US" dirty="0"/>
              <a:t>Replaced block written back to disk only if it was modified since the most recent time that it was written to/fetched from the disk.</a:t>
            </a:r>
          </a:p>
          <a:p>
            <a:pPr lvl="2"/>
            <a:r>
              <a:rPr lang="en-US" altLang="en-US" dirty="0"/>
              <a:t>Reads the block from the disk to the buffer, and returns the address of the block in main memory to requester. </a:t>
            </a:r>
          </a:p>
        </p:txBody>
      </p:sp>
    </p:spTree>
    <p:extLst>
      <p:ext uri="{BB962C8B-B14F-4D97-AF65-F5344CB8AC3E}">
        <p14:creationId xmlns:p14="http://schemas.microsoft.com/office/powerpoint/2010/main" val="1491691578"/>
      </p:ext>
    </p:extLst>
  </p:cSld>
  <p:clrMapOvr>
    <a:masterClrMapping/>
  </p:clrMapOvr>
  <p:transition spd="slow"/>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DB606-2CCF-4B53-AE35-DAFCA66E268E}"/>
              </a:ext>
            </a:extLst>
          </p:cNvPr>
          <p:cNvSpPr>
            <a:spLocks noGrp="1"/>
          </p:cNvSpPr>
          <p:nvPr>
            <p:ph type="title"/>
          </p:nvPr>
        </p:nvSpPr>
        <p:spPr/>
        <p:txBody>
          <a:bodyPr/>
          <a:lstStyle/>
          <a:p>
            <a:r>
              <a:rPr lang="en-IN" dirty="0"/>
              <a:t>Buffer Manager</a:t>
            </a:r>
          </a:p>
        </p:txBody>
      </p:sp>
      <p:sp>
        <p:nvSpPr>
          <p:cNvPr id="3" name="Content Placeholder 2">
            <a:extLst>
              <a:ext uri="{FF2B5EF4-FFF2-40B4-BE49-F238E27FC236}">
                <a16:creationId xmlns:a16="http://schemas.microsoft.com/office/drawing/2014/main" id="{CF7F84A1-CA7B-4B3A-B767-97B0659D6C97}"/>
              </a:ext>
            </a:extLst>
          </p:cNvPr>
          <p:cNvSpPr>
            <a:spLocks noGrp="1"/>
          </p:cNvSpPr>
          <p:nvPr>
            <p:ph idx="1"/>
          </p:nvPr>
        </p:nvSpPr>
        <p:spPr>
          <a:xfrm>
            <a:off x="814388" y="1093788"/>
            <a:ext cx="7663787" cy="4903787"/>
          </a:xfrm>
        </p:spPr>
        <p:txBody>
          <a:bodyPr/>
          <a:lstStyle/>
          <a:p>
            <a:r>
              <a:rPr lang="en-US" altLang="en-US" b="1" dirty="0">
                <a:solidFill>
                  <a:srgbClr val="002060"/>
                </a:solidFill>
              </a:rPr>
              <a:t>Buffer replacement strategy </a:t>
            </a:r>
            <a:r>
              <a:rPr lang="en-US" altLang="en-US" dirty="0">
                <a:solidFill>
                  <a:schemeClr val="accent4"/>
                </a:solidFill>
              </a:rPr>
              <a:t>(details coming up!)</a:t>
            </a:r>
            <a:endParaRPr lang="en-US" altLang="en-US" b="1" dirty="0">
              <a:solidFill>
                <a:schemeClr val="accent4"/>
              </a:solidFill>
            </a:endParaRPr>
          </a:p>
          <a:p>
            <a:r>
              <a:rPr lang="en-US" altLang="en-US" b="1" dirty="0">
                <a:solidFill>
                  <a:srgbClr val="002060"/>
                </a:solidFill>
              </a:rPr>
              <a:t>Pinned block: </a:t>
            </a:r>
            <a:r>
              <a:rPr lang="en-US" altLang="en-US" dirty="0"/>
              <a:t>memory block that is not allowed to be written back to disk</a:t>
            </a:r>
          </a:p>
          <a:p>
            <a:pPr lvl="1"/>
            <a:r>
              <a:rPr lang="en-US" altLang="en-US" b="1" dirty="0">
                <a:solidFill>
                  <a:srgbClr val="002060"/>
                </a:solidFill>
              </a:rPr>
              <a:t>Pin</a:t>
            </a:r>
            <a:r>
              <a:rPr lang="en-US" altLang="en-US" dirty="0"/>
              <a:t> done before reading/writing data from a block</a:t>
            </a:r>
          </a:p>
          <a:p>
            <a:pPr lvl="1"/>
            <a:r>
              <a:rPr lang="en-US" altLang="en-US" b="1" dirty="0">
                <a:solidFill>
                  <a:srgbClr val="002060"/>
                </a:solidFill>
              </a:rPr>
              <a:t>Unpin</a:t>
            </a:r>
            <a:r>
              <a:rPr lang="en-US" altLang="en-US" dirty="0"/>
              <a:t> done when read /write is complete</a:t>
            </a:r>
          </a:p>
          <a:p>
            <a:pPr lvl="1"/>
            <a:r>
              <a:rPr lang="en-US" altLang="en-US" dirty="0"/>
              <a:t>Multiple concurrent pin/unpin operations possible</a:t>
            </a:r>
          </a:p>
          <a:p>
            <a:pPr lvl="2"/>
            <a:r>
              <a:rPr lang="en-US" altLang="en-US" dirty="0"/>
              <a:t>Keep a pin count, buffer block can be evicted only if pin count = 0</a:t>
            </a:r>
          </a:p>
          <a:p>
            <a:r>
              <a:rPr lang="en-IN" b="1" dirty="0">
                <a:solidFill>
                  <a:srgbClr val="002060"/>
                </a:solidFill>
              </a:rPr>
              <a:t>Shared and exclusive locks on buffer</a:t>
            </a:r>
          </a:p>
          <a:p>
            <a:pPr lvl="1"/>
            <a:r>
              <a:rPr lang="en-IN" dirty="0"/>
              <a:t>Needed to prevent concurrent operations from reading page contents as they are moved/reorganized, and to ensure only one move/reorganize at a time</a:t>
            </a:r>
          </a:p>
          <a:p>
            <a:pPr lvl="1"/>
            <a:r>
              <a:rPr lang="en-IN" dirty="0"/>
              <a:t>Readers get shared lock, updates to a block require exclusive lock</a:t>
            </a:r>
          </a:p>
          <a:p>
            <a:pPr lvl="1"/>
            <a:r>
              <a:rPr lang="en-IN" b="1" dirty="0">
                <a:solidFill>
                  <a:srgbClr val="002060"/>
                </a:solidFill>
              </a:rPr>
              <a:t>Locking rules:</a:t>
            </a:r>
          </a:p>
          <a:p>
            <a:pPr lvl="2"/>
            <a:r>
              <a:rPr lang="en-IN" dirty="0"/>
              <a:t>Only one process can get exclusive lock at a time</a:t>
            </a:r>
          </a:p>
          <a:p>
            <a:pPr lvl="2"/>
            <a:r>
              <a:rPr lang="en-IN" dirty="0"/>
              <a:t>Shared lock cannot be concurrently with exclusive lock</a:t>
            </a:r>
          </a:p>
          <a:p>
            <a:pPr lvl="2"/>
            <a:r>
              <a:rPr lang="en-IN" dirty="0"/>
              <a:t>Multiple processes may be given shared lock concurrently</a:t>
            </a:r>
          </a:p>
          <a:p>
            <a:pPr lvl="1"/>
            <a:endParaRPr lang="en-IN" dirty="0"/>
          </a:p>
        </p:txBody>
      </p:sp>
    </p:spTree>
    <p:extLst>
      <p:ext uri="{BB962C8B-B14F-4D97-AF65-F5344CB8AC3E}">
        <p14:creationId xmlns:p14="http://schemas.microsoft.com/office/powerpoint/2010/main" val="112129918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a:extLst>
              <a:ext uri="{FF2B5EF4-FFF2-40B4-BE49-F238E27FC236}">
                <a16:creationId xmlns:a16="http://schemas.microsoft.com/office/drawing/2014/main" id="{A825988C-0BEA-4076-AD30-1AA35CE893E2}"/>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Buffer-Replacement Policies</a:t>
            </a:r>
          </a:p>
        </p:txBody>
      </p:sp>
      <p:sp>
        <p:nvSpPr>
          <p:cNvPr id="109571" name="Rectangle 3">
            <a:extLst>
              <a:ext uri="{FF2B5EF4-FFF2-40B4-BE49-F238E27FC236}">
                <a16:creationId xmlns:a16="http://schemas.microsoft.com/office/drawing/2014/main" id="{31D39CE6-9D47-4551-984A-3D9511D5D425}"/>
              </a:ext>
            </a:extLst>
          </p:cNvPr>
          <p:cNvSpPr>
            <a:spLocks noGrp="1" noChangeArrowheads="1"/>
          </p:cNvSpPr>
          <p:nvPr>
            <p:ph idx="1"/>
          </p:nvPr>
        </p:nvSpPr>
        <p:spPr/>
        <p:txBody>
          <a:bodyPr/>
          <a:lstStyle/>
          <a:p>
            <a:r>
              <a:rPr lang="en-US" altLang="en-US" dirty="0"/>
              <a:t>Most operating systems replace the block </a:t>
            </a:r>
            <a:r>
              <a:rPr lang="en-US" altLang="en-US" b="1" dirty="0">
                <a:solidFill>
                  <a:srgbClr val="002060"/>
                </a:solidFill>
              </a:rPr>
              <a:t>least recently used</a:t>
            </a:r>
            <a:r>
              <a:rPr lang="en-US" altLang="en-US" dirty="0">
                <a:solidFill>
                  <a:srgbClr val="002060"/>
                </a:solidFill>
              </a:rPr>
              <a:t> (LRU strategy)</a:t>
            </a:r>
          </a:p>
          <a:p>
            <a:pPr lvl="1"/>
            <a:r>
              <a:rPr lang="en-US" altLang="en-US" dirty="0"/>
              <a:t>Idea behind LRU – use past pattern of block references as a predictor of future references</a:t>
            </a:r>
          </a:p>
          <a:p>
            <a:pPr lvl="1"/>
            <a:r>
              <a:rPr lang="en-US" altLang="en-US" dirty="0"/>
              <a:t>LRU can be bad for some queries</a:t>
            </a:r>
          </a:p>
          <a:p>
            <a:r>
              <a:rPr lang="en-US" altLang="en-US" dirty="0"/>
              <a:t>Queries have well-defined access patterns (such as sequential scans), and a database system can use the information in a user</a:t>
            </a:r>
            <a:r>
              <a:rPr lang="ja-JP" altLang="en-US" dirty="0"/>
              <a:t>’</a:t>
            </a:r>
            <a:r>
              <a:rPr lang="en-US" altLang="ja-JP" dirty="0"/>
              <a:t>s query to predict future references</a:t>
            </a:r>
          </a:p>
          <a:p>
            <a:r>
              <a:rPr lang="en-US" altLang="en-US" dirty="0"/>
              <a:t>Mixed strategy with hints on replacement strategy provided</a:t>
            </a:r>
            <a:br>
              <a:rPr lang="en-US" altLang="en-US" dirty="0"/>
            </a:br>
            <a:r>
              <a:rPr lang="en-US" altLang="en-US" dirty="0"/>
              <a:t>by the query optimizer is preferable</a:t>
            </a:r>
            <a:endParaRPr lang="en-US" altLang="ja-JP" dirty="0"/>
          </a:p>
          <a:p>
            <a:pPr marL="342900" lvl="1" indent="-342900">
              <a:buClr>
                <a:srgbClr val="002060"/>
              </a:buClr>
              <a:buSzPct val="100000"/>
              <a:buFont typeface="Wingdings" panose="05000000000000000000" pitchFamily="2" charset="2"/>
              <a:buChar char="§"/>
            </a:pPr>
            <a:r>
              <a:rPr lang="en-US" altLang="en-US" dirty="0"/>
              <a:t>Example of bad access pattern for LRU: when computing the join of 2 relations r and s by a nested loops</a:t>
            </a:r>
            <a:endParaRPr lang="en-US" altLang="en-US" sz="800" dirty="0"/>
          </a:p>
          <a:p>
            <a:pPr marL="0" lvl="1" indent="0">
              <a:buClr>
                <a:srgbClr val="002060"/>
              </a:buClr>
              <a:buSzPct val="100000"/>
              <a:buNone/>
            </a:pPr>
            <a:r>
              <a:rPr lang="en-US" altLang="en-US" sz="800" dirty="0"/>
              <a:t> </a:t>
            </a:r>
            <a:r>
              <a:rPr lang="en-US" altLang="en-US" dirty="0"/>
              <a:t/>
            </a:r>
            <a:br>
              <a:rPr lang="en-US" altLang="en-US" dirty="0"/>
            </a:br>
            <a:r>
              <a:rPr lang="en-US" altLang="en-US" dirty="0"/>
              <a:t>          for each tuple </a:t>
            </a:r>
            <a:r>
              <a:rPr lang="en-US" altLang="en-US" i="1" dirty="0" err="1"/>
              <a:t>tr</a:t>
            </a:r>
            <a:r>
              <a:rPr lang="en-US" altLang="en-US" dirty="0"/>
              <a:t> of </a:t>
            </a:r>
            <a:r>
              <a:rPr lang="en-US" altLang="en-US" i="1" dirty="0"/>
              <a:t>r</a:t>
            </a:r>
            <a:r>
              <a:rPr lang="en-US" altLang="en-US" dirty="0"/>
              <a:t> do </a:t>
            </a:r>
            <a:br>
              <a:rPr lang="en-US" altLang="en-US" dirty="0"/>
            </a:br>
            <a:r>
              <a:rPr lang="en-US" altLang="en-US" dirty="0"/>
              <a:t>            for each tuple </a:t>
            </a:r>
            <a:r>
              <a:rPr lang="en-US" altLang="en-US" i="1" dirty="0" err="1"/>
              <a:t>ts</a:t>
            </a:r>
            <a:r>
              <a:rPr lang="en-US" altLang="en-US" dirty="0"/>
              <a:t> of </a:t>
            </a:r>
            <a:r>
              <a:rPr lang="en-US" altLang="en-US" i="1" dirty="0"/>
              <a:t>s</a:t>
            </a:r>
            <a:r>
              <a:rPr lang="en-US" altLang="en-US" dirty="0"/>
              <a:t> do </a:t>
            </a:r>
            <a:br>
              <a:rPr lang="en-US" altLang="en-US" dirty="0"/>
            </a:br>
            <a:r>
              <a:rPr lang="en-US" altLang="en-US" dirty="0"/>
              <a:t>              if the tuples </a:t>
            </a:r>
            <a:r>
              <a:rPr lang="en-US" altLang="en-US" i="1" dirty="0" err="1"/>
              <a:t>tr</a:t>
            </a:r>
            <a:r>
              <a:rPr lang="en-US" altLang="en-US" dirty="0"/>
              <a:t> and </a:t>
            </a:r>
            <a:r>
              <a:rPr lang="en-US" altLang="en-US" i="1" dirty="0" err="1"/>
              <a:t>ts</a:t>
            </a:r>
            <a:r>
              <a:rPr lang="en-US" altLang="en-US" dirty="0"/>
              <a:t> match …</a:t>
            </a:r>
          </a:p>
          <a:p>
            <a:pPr lvl="1"/>
            <a:endParaRPr lang="en-US" altLang="ja-JP" dirty="0"/>
          </a:p>
        </p:txBody>
      </p:sp>
    </p:spTree>
    <p:extLst>
      <p:ext uri="{BB962C8B-B14F-4D97-AF65-F5344CB8AC3E}">
        <p14:creationId xmlns:p14="http://schemas.microsoft.com/office/powerpoint/2010/main" val="540650768"/>
      </p:ext>
    </p:extLst>
  </p:cSld>
  <p:clrMapOvr>
    <a:masterClrMapping/>
  </p:clrMapOvr>
  <p:transition spd="slow"/>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81453" y="235133"/>
            <a:ext cx="4572000" cy="830997"/>
          </a:xfrm>
          <a:prstGeom prst="rect">
            <a:avLst/>
          </a:prstGeom>
        </p:spPr>
        <p:txBody>
          <a:bodyPr>
            <a:spAutoFit/>
          </a:bodyPr>
          <a:lstStyle/>
          <a:p>
            <a:r>
              <a:rPr lang="en-US" b="1" dirty="0"/>
              <a:t>🧠 Buffer-Replacement Policies: LRU vs Toss-Immediate</a:t>
            </a:r>
          </a:p>
          <a:p>
            <a:r>
              <a:rPr lang="en-US" b="1" dirty="0"/>
              <a:t>🔹 1. LRU (Least Recently Used)</a:t>
            </a:r>
            <a:endParaRPr lang="en-US" b="1" dirty="0">
              <a:effectLst/>
            </a:endParaRPr>
          </a:p>
        </p:txBody>
      </p:sp>
      <p:graphicFrame>
        <p:nvGraphicFramePr>
          <p:cNvPr id="3" name="Table 2"/>
          <p:cNvGraphicFramePr>
            <a:graphicFrameLocks noGrp="1"/>
          </p:cNvGraphicFramePr>
          <p:nvPr>
            <p:extLst>
              <p:ext uri="{D42A27DB-BD31-4B8C-83A1-F6EECF244321}">
                <p14:modId xmlns:p14="http://schemas.microsoft.com/office/powerpoint/2010/main" val="1042754646"/>
              </p:ext>
            </p:extLst>
          </p:nvPr>
        </p:nvGraphicFramePr>
        <p:xfrm>
          <a:off x="779218" y="1169999"/>
          <a:ext cx="7661274" cy="3291840"/>
        </p:xfrm>
        <a:graphic>
          <a:graphicData uri="http://schemas.openxmlformats.org/drawingml/2006/table">
            <a:tbl>
              <a:tblPr>
                <a:tableStyleId>{775DCB02-9BB8-47FD-8907-85C794F793BA}</a:tableStyleId>
              </a:tblPr>
              <a:tblGrid>
                <a:gridCol w="3830637">
                  <a:extLst>
                    <a:ext uri="{9D8B030D-6E8A-4147-A177-3AD203B41FA5}">
                      <a16:colId xmlns:a16="http://schemas.microsoft.com/office/drawing/2014/main" val="1654017162"/>
                    </a:ext>
                  </a:extLst>
                </a:gridCol>
                <a:gridCol w="3830637">
                  <a:extLst>
                    <a:ext uri="{9D8B030D-6E8A-4147-A177-3AD203B41FA5}">
                      <a16:colId xmlns:a16="http://schemas.microsoft.com/office/drawing/2014/main" val="371443360"/>
                    </a:ext>
                  </a:extLst>
                </a:gridCol>
              </a:tblGrid>
              <a:tr h="365760">
                <a:tc>
                  <a:txBody>
                    <a:bodyPr/>
                    <a:lstStyle/>
                    <a:p>
                      <a:r>
                        <a:rPr lang="as-IN" sz="1800">
                          <a:effectLst/>
                        </a:rPr>
                        <a:t>বৈশিষ্ট্য</a:t>
                      </a:r>
                    </a:p>
                  </a:txBody>
                  <a:tcPr anchor="ctr"/>
                </a:tc>
                <a:tc>
                  <a:txBody>
                    <a:bodyPr/>
                    <a:lstStyle/>
                    <a:p>
                      <a:r>
                        <a:rPr lang="as-IN" sz="1800">
                          <a:effectLst/>
                        </a:rPr>
                        <a:t>ব্যাখ্যা</a:t>
                      </a:r>
                    </a:p>
                  </a:txBody>
                  <a:tcPr anchor="ctr"/>
                </a:tc>
                <a:extLst>
                  <a:ext uri="{0D108BD9-81ED-4DB2-BD59-A6C34878D82A}">
                    <a16:rowId xmlns:a16="http://schemas.microsoft.com/office/drawing/2014/main" val="3533063238"/>
                  </a:ext>
                </a:extLst>
              </a:tr>
              <a:tr h="640080">
                <a:tc>
                  <a:txBody>
                    <a:bodyPr/>
                    <a:lstStyle/>
                    <a:p>
                      <a:r>
                        <a:rPr lang="as-IN" sz="1800">
                          <a:effectLst/>
                        </a:rPr>
                        <a:t>পুরনো </a:t>
                      </a:r>
                      <a:r>
                        <a:rPr lang="en-US" sz="1800">
                          <a:effectLst/>
                        </a:rPr>
                        <a:t>access history </a:t>
                      </a:r>
                      <a:r>
                        <a:rPr lang="as-IN" sz="1800">
                          <a:effectLst/>
                        </a:rPr>
                        <a:t>দেখে</a:t>
                      </a:r>
                    </a:p>
                  </a:txBody>
                  <a:tcPr anchor="ctr"/>
                </a:tc>
                <a:tc>
                  <a:txBody>
                    <a:bodyPr/>
                    <a:lstStyle/>
                    <a:p>
                      <a:r>
                        <a:rPr lang="as-IN" sz="1800">
                          <a:effectLst/>
                        </a:rPr>
                        <a:t>কোন </a:t>
                      </a:r>
                      <a:r>
                        <a:rPr lang="en-US" sz="1800">
                          <a:effectLst/>
                        </a:rPr>
                        <a:t>block </a:t>
                      </a:r>
                      <a:r>
                        <a:rPr lang="as-IN" sz="1800">
                          <a:effectLst/>
                        </a:rPr>
                        <a:t>সবচেয়ে কম </a:t>
                      </a:r>
                      <a:r>
                        <a:rPr lang="en-US" sz="1800">
                          <a:effectLst/>
                        </a:rPr>
                        <a:t>recently use </a:t>
                      </a:r>
                      <a:r>
                        <a:rPr lang="as-IN" sz="1800">
                          <a:effectLst/>
                        </a:rPr>
                        <a:t>হয়েছে → সেটাই </a:t>
                      </a:r>
                      <a:r>
                        <a:rPr lang="en-US" sz="1800">
                          <a:effectLst/>
                        </a:rPr>
                        <a:t>replace </a:t>
                      </a:r>
                      <a:r>
                        <a:rPr lang="as-IN" sz="1800">
                          <a:effectLst/>
                        </a:rPr>
                        <a:t>করা হয়</a:t>
                      </a:r>
                    </a:p>
                  </a:txBody>
                  <a:tcPr anchor="ctr"/>
                </a:tc>
                <a:extLst>
                  <a:ext uri="{0D108BD9-81ED-4DB2-BD59-A6C34878D82A}">
                    <a16:rowId xmlns:a16="http://schemas.microsoft.com/office/drawing/2014/main" val="1410965981"/>
                  </a:ext>
                </a:extLst>
              </a:tr>
              <a:tr h="640080">
                <a:tc>
                  <a:txBody>
                    <a:bodyPr/>
                    <a:lstStyle/>
                    <a:p>
                      <a:r>
                        <a:rPr lang="en-US" sz="1800">
                          <a:effectLst/>
                        </a:rPr>
                        <a:t>Assumption</a:t>
                      </a:r>
                    </a:p>
                  </a:txBody>
                  <a:tcPr anchor="ctr"/>
                </a:tc>
                <a:tc>
                  <a:txBody>
                    <a:bodyPr/>
                    <a:lstStyle/>
                    <a:p>
                      <a:r>
                        <a:rPr lang="as-IN" sz="1800">
                          <a:effectLst/>
                        </a:rPr>
                        <a:t>যেটা আগে </a:t>
                      </a:r>
                      <a:r>
                        <a:rPr lang="en-US" sz="1800">
                          <a:effectLst/>
                        </a:rPr>
                        <a:t>use </a:t>
                      </a:r>
                      <a:r>
                        <a:rPr lang="as-IN" sz="1800">
                          <a:effectLst/>
                        </a:rPr>
                        <a:t>হয়নি, সেটা </a:t>
                      </a:r>
                      <a:r>
                        <a:rPr lang="en-US" sz="1800">
                          <a:effectLst/>
                        </a:rPr>
                        <a:t>future-</a:t>
                      </a:r>
                      <a:r>
                        <a:rPr lang="as-IN" sz="1800">
                          <a:effectLst/>
                        </a:rPr>
                        <a:t>এও </a:t>
                      </a:r>
                      <a:r>
                        <a:rPr lang="en-US" sz="1800">
                          <a:effectLst/>
                        </a:rPr>
                        <a:t>use </a:t>
                      </a:r>
                      <a:r>
                        <a:rPr lang="as-IN" sz="1800">
                          <a:effectLst/>
                        </a:rPr>
                        <a:t>হবে না</a:t>
                      </a:r>
                    </a:p>
                  </a:txBody>
                  <a:tcPr anchor="ctr"/>
                </a:tc>
                <a:extLst>
                  <a:ext uri="{0D108BD9-81ED-4DB2-BD59-A6C34878D82A}">
                    <a16:rowId xmlns:a16="http://schemas.microsoft.com/office/drawing/2014/main" val="509909077"/>
                  </a:ext>
                </a:extLst>
              </a:tr>
              <a:tr h="365760">
                <a:tc>
                  <a:txBody>
                    <a:bodyPr/>
                    <a:lstStyle/>
                    <a:p>
                      <a:r>
                        <a:rPr lang="en-US" sz="1800">
                          <a:effectLst/>
                        </a:rPr>
                        <a:t>✅ Good for</a:t>
                      </a:r>
                    </a:p>
                  </a:txBody>
                  <a:tcPr anchor="ctr"/>
                </a:tc>
                <a:tc>
                  <a:txBody>
                    <a:bodyPr/>
                    <a:lstStyle/>
                    <a:p>
                      <a:r>
                        <a:rPr lang="en-US" sz="1800">
                          <a:effectLst/>
                        </a:rPr>
                        <a:t>Random access workloads</a:t>
                      </a:r>
                    </a:p>
                  </a:txBody>
                  <a:tcPr anchor="ctr"/>
                </a:tc>
                <a:extLst>
                  <a:ext uri="{0D108BD9-81ED-4DB2-BD59-A6C34878D82A}">
                    <a16:rowId xmlns:a16="http://schemas.microsoft.com/office/drawing/2014/main" val="4054962381"/>
                  </a:ext>
                </a:extLst>
              </a:tr>
              <a:tr h="365760">
                <a:tc>
                  <a:txBody>
                    <a:bodyPr/>
                    <a:lstStyle/>
                    <a:p>
                      <a:r>
                        <a:rPr lang="en-US" sz="1800">
                          <a:effectLst/>
                        </a:rPr>
                        <a:t>❌ Bad for</a:t>
                      </a:r>
                    </a:p>
                  </a:txBody>
                  <a:tcPr anchor="ctr"/>
                </a:tc>
                <a:tc>
                  <a:txBody>
                    <a:bodyPr/>
                    <a:lstStyle/>
                    <a:p>
                      <a:r>
                        <a:rPr lang="en-US" sz="1800">
                          <a:effectLst/>
                        </a:rPr>
                        <a:t>Sequential scan, nested loop join</a:t>
                      </a:r>
                    </a:p>
                  </a:txBody>
                  <a:tcPr anchor="ctr"/>
                </a:tc>
                <a:extLst>
                  <a:ext uri="{0D108BD9-81ED-4DB2-BD59-A6C34878D82A}">
                    <a16:rowId xmlns:a16="http://schemas.microsoft.com/office/drawing/2014/main" val="3278970805"/>
                  </a:ext>
                </a:extLst>
              </a:tr>
              <a:tr h="914400">
                <a:tc>
                  <a:txBody>
                    <a:bodyPr/>
                    <a:lstStyle/>
                    <a:p>
                      <a:r>
                        <a:rPr lang="en-US" sz="1800">
                          <a:effectLst/>
                        </a:rPr>
                        <a:t>Example</a:t>
                      </a:r>
                    </a:p>
                  </a:txBody>
                  <a:tcPr anchor="ctr"/>
                </a:tc>
                <a:tc>
                  <a:txBody>
                    <a:bodyPr/>
                    <a:lstStyle/>
                    <a:p>
                      <a:r>
                        <a:rPr lang="en-US" sz="1800" dirty="0">
                          <a:effectLst/>
                        </a:rPr>
                        <a:t>Nested loop join: outer loop block </a:t>
                      </a:r>
                      <a:r>
                        <a:rPr lang="as-IN" sz="1800" dirty="0">
                          <a:effectLst/>
                        </a:rPr>
                        <a:t>বারবার </a:t>
                      </a:r>
                      <a:r>
                        <a:rPr lang="en-US" sz="1800" dirty="0">
                          <a:effectLst/>
                        </a:rPr>
                        <a:t>use </a:t>
                      </a:r>
                      <a:r>
                        <a:rPr lang="as-IN" sz="1800" dirty="0">
                          <a:effectLst/>
                        </a:rPr>
                        <a:t>হয়, কিন্তু </a:t>
                      </a:r>
                      <a:r>
                        <a:rPr lang="en-US" sz="1800" dirty="0">
                          <a:effectLst/>
                        </a:rPr>
                        <a:t>LRU </a:t>
                      </a:r>
                      <a:r>
                        <a:rPr lang="as-IN" sz="1800" dirty="0">
                          <a:effectLst/>
                        </a:rPr>
                        <a:t>ভুলভাবে </a:t>
                      </a:r>
                      <a:r>
                        <a:rPr lang="en-US" sz="1800" dirty="0">
                          <a:effectLst/>
                        </a:rPr>
                        <a:t>discard </a:t>
                      </a:r>
                      <a:r>
                        <a:rPr lang="as-IN" sz="1800" dirty="0">
                          <a:effectLst/>
                        </a:rPr>
                        <a:t>করে</a:t>
                      </a:r>
                    </a:p>
                  </a:txBody>
                  <a:tcPr anchor="ctr"/>
                </a:tc>
                <a:extLst>
                  <a:ext uri="{0D108BD9-81ED-4DB2-BD59-A6C34878D82A}">
                    <a16:rowId xmlns:a16="http://schemas.microsoft.com/office/drawing/2014/main" val="871154631"/>
                  </a:ext>
                </a:extLst>
              </a:tr>
            </a:tbl>
          </a:graphicData>
        </a:graphic>
      </p:graphicFrame>
      <p:sp>
        <p:nvSpPr>
          <p:cNvPr id="4" name="Rectangle 3"/>
          <p:cNvSpPr/>
          <p:nvPr/>
        </p:nvSpPr>
        <p:spPr>
          <a:xfrm>
            <a:off x="386862" y="5009337"/>
            <a:ext cx="8291146" cy="584775"/>
          </a:xfrm>
          <a:prstGeom prst="rect">
            <a:avLst/>
          </a:prstGeom>
        </p:spPr>
        <p:txBody>
          <a:bodyPr wrap="square">
            <a:spAutoFit/>
          </a:bodyPr>
          <a:lstStyle/>
          <a:p>
            <a:r>
              <a:rPr lang="en-US" dirty="0"/>
              <a:t>👉 </a:t>
            </a:r>
            <a:r>
              <a:rPr lang="as-IN" dirty="0"/>
              <a:t>ধরো তুই একটা বইয়ের পৃষ্ঠা পড়ছো — </a:t>
            </a:r>
            <a:r>
              <a:rPr lang="en-US" dirty="0"/>
              <a:t>LRU </a:t>
            </a:r>
            <a:r>
              <a:rPr lang="as-IN" dirty="0"/>
              <a:t>বলে, যেটা অনেকক্ষণ আগে পড়া হয়েছে, সেটা </a:t>
            </a:r>
            <a:r>
              <a:rPr lang="en-US" dirty="0"/>
              <a:t>discard </a:t>
            </a:r>
            <a:r>
              <a:rPr lang="as-IN" dirty="0"/>
              <a:t>করো → কিন্তু </a:t>
            </a:r>
            <a:r>
              <a:rPr lang="en-US" dirty="0"/>
              <a:t>nested loop join-</a:t>
            </a:r>
            <a:r>
              <a:rPr lang="as-IN" dirty="0"/>
              <a:t>এ সেই পুরনো পৃষ্ঠা আবার দরকার হয়!</a:t>
            </a:r>
            <a:endParaRPr lang="en-US" dirty="0"/>
          </a:p>
        </p:txBody>
      </p:sp>
    </p:spTree>
    <p:extLst>
      <p:ext uri="{BB962C8B-B14F-4D97-AF65-F5344CB8AC3E}">
        <p14:creationId xmlns:p14="http://schemas.microsoft.com/office/powerpoint/2010/main" val="670368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38061" y="569276"/>
            <a:ext cx="3074047" cy="338554"/>
          </a:xfrm>
          <a:prstGeom prst="rect">
            <a:avLst/>
          </a:prstGeom>
        </p:spPr>
        <p:txBody>
          <a:bodyPr wrap="none">
            <a:spAutoFit/>
          </a:bodyPr>
          <a:lstStyle/>
          <a:p>
            <a:r>
              <a:rPr lang="en-US" dirty="0"/>
              <a:t>🔹 2. </a:t>
            </a:r>
            <a:r>
              <a:rPr lang="en-US" b="1" dirty="0"/>
              <a:t>Toss-Immediate Strategy</a:t>
            </a: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3036865743"/>
              </p:ext>
            </p:extLst>
          </p:nvPr>
        </p:nvGraphicFramePr>
        <p:xfrm>
          <a:off x="814388" y="1222754"/>
          <a:ext cx="7661274" cy="3291840"/>
        </p:xfrm>
        <a:graphic>
          <a:graphicData uri="http://schemas.openxmlformats.org/drawingml/2006/table">
            <a:tbl>
              <a:tblPr>
                <a:tableStyleId>{08FB837D-C827-4EFA-A057-4D05807E0F7C}</a:tableStyleId>
              </a:tblPr>
              <a:tblGrid>
                <a:gridCol w="3830637">
                  <a:extLst>
                    <a:ext uri="{9D8B030D-6E8A-4147-A177-3AD203B41FA5}">
                      <a16:colId xmlns:a16="http://schemas.microsoft.com/office/drawing/2014/main" val="1238150656"/>
                    </a:ext>
                  </a:extLst>
                </a:gridCol>
                <a:gridCol w="3830637">
                  <a:extLst>
                    <a:ext uri="{9D8B030D-6E8A-4147-A177-3AD203B41FA5}">
                      <a16:colId xmlns:a16="http://schemas.microsoft.com/office/drawing/2014/main" val="1875379315"/>
                    </a:ext>
                  </a:extLst>
                </a:gridCol>
              </a:tblGrid>
              <a:tr h="365760">
                <a:tc>
                  <a:txBody>
                    <a:bodyPr/>
                    <a:lstStyle/>
                    <a:p>
                      <a:r>
                        <a:rPr lang="as-IN" sz="1800">
                          <a:effectLst/>
                        </a:rPr>
                        <a:t>বৈশিষ্ট্য</a:t>
                      </a:r>
                    </a:p>
                  </a:txBody>
                  <a:tcPr anchor="ctr"/>
                </a:tc>
                <a:tc>
                  <a:txBody>
                    <a:bodyPr/>
                    <a:lstStyle/>
                    <a:p>
                      <a:r>
                        <a:rPr lang="as-IN" sz="1800">
                          <a:effectLst/>
                        </a:rPr>
                        <a:t>ব্যাখ্যা</a:t>
                      </a:r>
                    </a:p>
                  </a:txBody>
                  <a:tcPr anchor="ctr"/>
                </a:tc>
                <a:extLst>
                  <a:ext uri="{0D108BD9-81ED-4DB2-BD59-A6C34878D82A}">
                    <a16:rowId xmlns:a16="http://schemas.microsoft.com/office/drawing/2014/main" val="220051061"/>
                  </a:ext>
                </a:extLst>
              </a:tr>
              <a:tr h="914400">
                <a:tc>
                  <a:txBody>
                    <a:bodyPr/>
                    <a:lstStyle/>
                    <a:p>
                      <a:r>
                        <a:rPr lang="en-US" sz="1800">
                          <a:effectLst/>
                        </a:rPr>
                        <a:t>Block-</a:t>
                      </a:r>
                      <a:r>
                        <a:rPr lang="as-IN" sz="1800">
                          <a:effectLst/>
                        </a:rPr>
                        <a:t>এর শেষ </a:t>
                      </a:r>
                      <a:r>
                        <a:rPr lang="en-US" sz="1800">
                          <a:effectLst/>
                        </a:rPr>
                        <a:t>tuple process </a:t>
                      </a:r>
                      <a:r>
                        <a:rPr lang="as-IN" sz="1800">
                          <a:effectLst/>
                        </a:rPr>
                        <a:t>হয়ে গেলে → সাথে সাথে </a:t>
                      </a:r>
                      <a:r>
                        <a:rPr lang="en-US" sz="1800">
                          <a:effectLst/>
                        </a:rPr>
                        <a:t>memory </a:t>
                      </a:r>
                      <a:r>
                        <a:rPr lang="as-IN" sz="1800">
                          <a:effectLst/>
                        </a:rPr>
                        <a:t>থেকে </a:t>
                      </a:r>
                      <a:r>
                        <a:rPr lang="en-US" sz="1800">
                          <a:effectLst/>
                        </a:rPr>
                        <a:t>free </a:t>
                      </a:r>
                      <a:r>
                        <a:rPr lang="as-IN" sz="1800">
                          <a:effectLst/>
                        </a:rPr>
                        <a:t>করে দেওয়া হয়</a:t>
                      </a:r>
                    </a:p>
                  </a:txBody>
                  <a:tcPr anchor="ctr"/>
                </a:tc>
                <a:tc>
                  <a:txBody>
                    <a:bodyPr/>
                    <a:lstStyle/>
                    <a:p>
                      <a:endParaRPr lang="en-US" sz="1800"/>
                    </a:p>
                  </a:txBody>
                  <a:tcPr/>
                </a:tc>
                <a:extLst>
                  <a:ext uri="{0D108BD9-81ED-4DB2-BD59-A6C34878D82A}">
                    <a16:rowId xmlns:a16="http://schemas.microsoft.com/office/drawing/2014/main" val="2530154605"/>
                  </a:ext>
                </a:extLst>
              </a:tr>
              <a:tr h="365760">
                <a:tc>
                  <a:txBody>
                    <a:bodyPr/>
                    <a:lstStyle/>
                    <a:p>
                      <a:r>
                        <a:rPr lang="en-US" sz="1800">
                          <a:effectLst/>
                        </a:rPr>
                        <a:t>No reuse assumption</a:t>
                      </a:r>
                    </a:p>
                  </a:txBody>
                  <a:tcPr anchor="ctr"/>
                </a:tc>
                <a:tc>
                  <a:txBody>
                    <a:bodyPr/>
                    <a:lstStyle/>
                    <a:p>
                      <a:r>
                        <a:rPr lang="en-US" sz="1800">
                          <a:effectLst/>
                        </a:rPr>
                        <a:t>Future-</a:t>
                      </a:r>
                      <a:r>
                        <a:rPr lang="as-IN" sz="1800">
                          <a:effectLst/>
                        </a:rPr>
                        <a:t>এ </a:t>
                      </a:r>
                      <a:r>
                        <a:rPr lang="en-US" sz="1800">
                          <a:effectLst/>
                        </a:rPr>
                        <a:t>block </a:t>
                      </a:r>
                      <a:r>
                        <a:rPr lang="as-IN" sz="1800">
                          <a:effectLst/>
                        </a:rPr>
                        <a:t>দরকার হবে না</a:t>
                      </a:r>
                    </a:p>
                  </a:txBody>
                  <a:tcPr anchor="ctr"/>
                </a:tc>
                <a:extLst>
                  <a:ext uri="{0D108BD9-81ED-4DB2-BD59-A6C34878D82A}">
                    <a16:rowId xmlns:a16="http://schemas.microsoft.com/office/drawing/2014/main" val="3604757536"/>
                  </a:ext>
                </a:extLst>
              </a:tr>
              <a:tr h="365760">
                <a:tc>
                  <a:txBody>
                    <a:bodyPr/>
                    <a:lstStyle/>
                    <a:p>
                      <a:r>
                        <a:rPr lang="en-US" sz="1800">
                          <a:effectLst/>
                        </a:rPr>
                        <a:t>✅ Good for</a:t>
                      </a:r>
                    </a:p>
                  </a:txBody>
                  <a:tcPr anchor="ctr"/>
                </a:tc>
                <a:tc>
                  <a:txBody>
                    <a:bodyPr/>
                    <a:lstStyle/>
                    <a:p>
                      <a:r>
                        <a:rPr lang="en-US" sz="1800">
                          <a:effectLst/>
                        </a:rPr>
                        <a:t>Sequential scan</a:t>
                      </a:r>
                    </a:p>
                  </a:txBody>
                  <a:tcPr anchor="ctr"/>
                </a:tc>
                <a:extLst>
                  <a:ext uri="{0D108BD9-81ED-4DB2-BD59-A6C34878D82A}">
                    <a16:rowId xmlns:a16="http://schemas.microsoft.com/office/drawing/2014/main" val="1992333353"/>
                  </a:ext>
                </a:extLst>
              </a:tr>
              <a:tr h="365760">
                <a:tc>
                  <a:txBody>
                    <a:bodyPr/>
                    <a:lstStyle/>
                    <a:p>
                      <a:r>
                        <a:rPr lang="en-US" sz="1800">
                          <a:effectLst/>
                        </a:rPr>
                        <a:t>❌ Bad for</a:t>
                      </a:r>
                    </a:p>
                  </a:txBody>
                  <a:tcPr anchor="ctr"/>
                </a:tc>
                <a:tc>
                  <a:txBody>
                    <a:bodyPr/>
                    <a:lstStyle/>
                    <a:p>
                      <a:r>
                        <a:rPr lang="en-US" sz="1800">
                          <a:effectLst/>
                        </a:rPr>
                        <a:t>Repeated access workload</a:t>
                      </a:r>
                    </a:p>
                  </a:txBody>
                  <a:tcPr anchor="ctr"/>
                </a:tc>
                <a:extLst>
                  <a:ext uri="{0D108BD9-81ED-4DB2-BD59-A6C34878D82A}">
                    <a16:rowId xmlns:a16="http://schemas.microsoft.com/office/drawing/2014/main" val="2365890551"/>
                  </a:ext>
                </a:extLst>
              </a:tr>
              <a:tr h="914400">
                <a:tc>
                  <a:txBody>
                    <a:bodyPr/>
                    <a:lstStyle/>
                    <a:p>
                      <a:r>
                        <a:rPr lang="en-US" sz="1800" dirty="0">
                          <a:effectLst/>
                        </a:rPr>
                        <a:t>Example</a:t>
                      </a:r>
                    </a:p>
                  </a:txBody>
                  <a:tcPr anchor="ctr"/>
                </a:tc>
                <a:tc>
                  <a:txBody>
                    <a:bodyPr/>
                    <a:lstStyle/>
                    <a:p>
                      <a:r>
                        <a:rPr lang="en-US" sz="1800" dirty="0">
                          <a:effectLst/>
                        </a:rPr>
                        <a:t>Table scan: </a:t>
                      </a:r>
                      <a:r>
                        <a:rPr lang="as-IN" sz="1800" dirty="0">
                          <a:effectLst/>
                        </a:rPr>
                        <a:t>প্রতিটি </a:t>
                      </a:r>
                      <a:r>
                        <a:rPr lang="en-US" sz="1800" dirty="0">
                          <a:effectLst/>
                        </a:rPr>
                        <a:t>block </a:t>
                      </a:r>
                      <a:r>
                        <a:rPr lang="as-IN" sz="1800" dirty="0">
                          <a:effectLst/>
                        </a:rPr>
                        <a:t>একবারই পড়া হয় → </a:t>
                      </a:r>
                      <a:r>
                        <a:rPr lang="en-US" sz="1800" dirty="0">
                          <a:effectLst/>
                        </a:rPr>
                        <a:t>toss </a:t>
                      </a:r>
                      <a:r>
                        <a:rPr lang="as-IN" sz="1800" dirty="0">
                          <a:effectLst/>
                        </a:rPr>
                        <a:t>করে দিলে </a:t>
                      </a:r>
                      <a:r>
                        <a:rPr lang="en-US" sz="1800" dirty="0">
                          <a:effectLst/>
                        </a:rPr>
                        <a:t>buffer efficient </a:t>
                      </a:r>
                      <a:r>
                        <a:rPr lang="as-IN" sz="1800" dirty="0">
                          <a:effectLst/>
                        </a:rPr>
                        <a:t>হয়</a:t>
                      </a:r>
                    </a:p>
                  </a:txBody>
                  <a:tcPr anchor="ctr"/>
                </a:tc>
                <a:extLst>
                  <a:ext uri="{0D108BD9-81ED-4DB2-BD59-A6C34878D82A}">
                    <a16:rowId xmlns:a16="http://schemas.microsoft.com/office/drawing/2014/main" val="3708706341"/>
                  </a:ext>
                </a:extLst>
              </a:tr>
            </a:tbl>
          </a:graphicData>
        </a:graphic>
      </p:graphicFrame>
      <p:sp>
        <p:nvSpPr>
          <p:cNvPr id="4" name="Rectangle 3"/>
          <p:cNvSpPr/>
          <p:nvPr/>
        </p:nvSpPr>
        <p:spPr>
          <a:xfrm>
            <a:off x="193431" y="4921451"/>
            <a:ext cx="9319846" cy="338554"/>
          </a:xfrm>
          <a:prstGeom prst="rect">
            <a:avLst/>
          </a:prstGeom>
        </p:spPr>
        <p:txBody>
          <a:bodyPr wrap="square">
            <a:spAutoFit/>
          </a:bodyPr>
          <a:lstStyle/>
          <a:p>
            <a:r>
              <a:rPr lang="en-US" dirty="0"/>
              <a:t>👉 </a:t>
            </a:r>
            <a:r>
              <a:rPr lang="as-IN" dirty="0"/>
              <a:t>ধরো তুই </a:t>
            </a:r>
            <a:r>
              <a:rPr lang="en-US" dirty="0"/>
              <a:t>conveyor belt-</a:t>
            </a:r>
            <a:r>
              <a:rPr lang="as-IN" dirty="0"/>
              <a:t>এ ফল বাছাই করছো — একবার দেখে ফেললে বাক্সটা ফেলে দিচ্ছো</a:t>
            </a:r>
            <a:endParaRPr lang="en-US" dirty="0"/>
          </a:p>
        </p:txBody>
      </p:sp>
    </p:spTree>
    <p:extLst>
      <p:ext uri="{BB962C8B-B14F-4D97-AF65-F5344CB8AC3E}">
        <p14:creationId xmlns:p14="http://schemas.microsoft.com/office/powerpoint/2010/main" val="27534992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a:extLst>
              <a:ext uri="{FF2B5EF4-FFF2-40B4-BE49-F238E27FC236}">
                <a16:creationId xmlns:a16="http://schemas.microsoft.com/office/drawing/2014/main" id="{5B6FA003-27DD-458A-AD52-B4FAA99156C6}"/>
              </a:ext>
            </a:extLst>
          </p:cNvPr>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Buffer-Replacement Policies (Cont.)</a:t>
            </a:r>
          </a:p>
        </p:txBody>
      </p:sp>
      <p:sp>
        <p:nvSpPr>
          <p:cNvPr id="111619" name="Rectangle 3">
            <a:extLst>
              <a:ext uri="{FF2B5EF4-FFF2-40B4-BE49-F238E27FC236}">
                <a16:creationId xmlns:a16="http://schemas.microsoft.com/office/drawing/2014/main" id="{F627A5AA-5705-427E-A851-235ADA470EA8}"/>
              </a:ext>
            </a:extLst>
          </p:cNvPr>
          <p:cNvSpPr>
            <a:spLocks noGrp="1" noChangeArrowheads="1"/>
          </p:cNvSpPr>
          <p:nvPr>
            <p:ph idx="1"/>
          </p:nvPr>
        </p:nvSpPr>
        <p:spPr>
          <a:xfrm>
            <a:off x="814388" y="1093788"/>
            <a:ext cx="7583888" cy="5344719"/>
          </a:xfrm>
        </p:spPr>
        <p:txBody>
          <a:bodyPr/>
          <a:lstStyle/>
          <a:p>
            <a:r>
              <a:rPr lang="en-US" altLang="en-US" b="1" dirty="0">
                <a:solidFill>
                  <a:srgbClr val="002060"/>
                </a:solidFill>
              </a:rPr>
              <a:t>Toss-immediate</a:t>
            </a:r>
            <a:r>
              <a:rPr lang="en-US" altLang="en-US" dirty="0"/>
              <a:t> strategy – frees the space occupied by a block as soon as the final tuple of that block has been processed</a:t>
            </a:r>
          </a:p>
          <a:p>
            <a:r>
              <a:rPr lang="en-US" altLang="en-US" b="1" dirty="0">
                <a:solidFill>
                  <a:srgbClr val="002060"/>
                </a:solidFill>
              </a:rPr>
              <a:t>Most recently used (MRU) strategy</a:t>
            </a:r>
            <a:r>
              <a:rPr lang="en-US" altLang="en-US" dirty="0">
                <a:solidFill>
                  <a:srgbClr val="002060"/>
                </a:solidFill>
              </a:rPr>
              <a:t> </a:t>
            </a:r>
            <a:r>
              <a:rPr lang="en-US" altLang="en-US" dirty="0"/>
              <a:t>–  system must pin the block currently being processed.  After the final tuple of that block has been processed, the block is unpinned, and it becomes the most recently used block.</a:t>
            </a:r>
          </a:p>
          <a:p>
            <a:r>
              <a:rPr lang="en-US" altLang="en-US" dirty="0"/>
              <a:t>Buffer manager can use statistical information regarding the probability that a request will reference a particular relation</a:t>
            </a:r>
          </a:p>
          <a:p>
            <a:pPr lvl="1"/>
            <a:r>
              <a:rPr lang="en-US" altLang="en-US" dirty="0"/>
              <a:t>E.g., the data dictionary is frequently accessed.  Heuristic:  keep data-dictionary blocks in main memory buffer</a:t>
            </a:r>
          </a:p>
          <a:p>
            <a:r>
              <a:rPr lang="en-US" altLang="en-US" dirty="0"/>
              <a:t>Operating system or buffer manager may reorder writes</a:t>
            </a:r>
          </a:p>
          <a:p>
            <a:pPr lvl="1"/>
            <a:r>
              <a:rPr lang="en-US" altLang="en-US" dirty="0"/>
              <a:t>Can lead to corruption of data structures on disk</a:t>
            </a:r>
          </a:p>
          <a:p>
            <a:pPr lvl="2"/>
            <a:r>
              <a:rPr lang="en-US" altLang="en-US" dirty="0"/>
              <a:t>E.g</a:t>
            </a:r>
            <a:r>
              <a:rPr lang="en-US" altLang="en-US" dirty="0" smtClean="0"/>
              <a:t>., </a:t>
            </a:r>
            <a:r>
              <a:rPr lang="en-US" altLang="en-US" dirty="0"/>
              <a:t>linked list of blocks with missing block on disk</a:t>
            </a:r>
          </a:p>
          <a:p>
            <a:pPr lvl="2"/>
            <a:r>
              <a:rPr lang="en-US" altLang="en-US" dirty="0"/>
              <a:t>File systems perform consistency check to detect such situations</a:t>
            </a:r>
          </a:p>
          <a:p>
            <a:pPr lvl="1"/>
            <a:r>
              <a:rPr lang="en-US" altLang="en-US" dirty="0"/>
              <a:t>Careful ordering of writes can avoid many such problems</a:t>
            </a:r>
          </a:p>
        </p:txBody>
      </p:sp>
    </p:spTree>
    <p:extLst>
      <p:ext uri="{BB962C8B-B14F-4D97-AF65-F5344CB8AC3E}">
        <p14:creationId xmlns:p14="http://schemas.microsoft.com/office/powerpoint/2010/main" val="356574096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716" y="1500858"/>
            <a:ext cx="8765930" cy="3539430"/>
          </a:xfrm>
          <a:prstGeom prst="rect">
            <a:avLst/>
          </a:prstGeom>
        </p:spPr>
        <p:txBody>
          <a:bodyPr wrap="square">
            <a:spAutoFit/>
          </a:bodyPr>
          <a:lstStyle/>
          <a:p>
            <a:r>
              <a:rPr lang="en-US" b="1" dirty="0"/>
              <a:t>MRU (Most Recently Used)</a:t>
            </a:r>
          </a:p>
          <a:p>
            <a:pPr>
              <a:buFont typeface="Arial" panose="020B0604020202020204" pitchFamily="34" charset="0"/>
              <a:buChar char="•"/>
            </a:pPr>
            <a:r>
              <a:rPr lang="as-IN" dirty="0"/>
              <a:t>যখন কোনো </a:t>
            </a:r>
            <a:r>
              <a:rPr lang="en-US" dirty="0"/>
              <a:t>block process </a:t>
            </a:r>
            <a:r>
              <a:rPr lang="as-IN" dirty="0"/>
              <a:t>হচ্ছে → সেটা </a:t>
            </a:r>
            <a:r>
              <a:rPr lang="en-US" b="1" dirty="0"/>
              <a:t>pin</a:t>
            </a:r>
            <a:r>
              <a:rPr lang="en-US" dirty="0"/>
              <a:t> </a:t>
            </a:r>
            <a:r>
              <a:rPr lang="as-IN" dirty="0"/>
              <a:t>করা হয় (</a:t>
            </a:r>
            <a:r>
              <a:rPr lang="en-US" dirty="0"/>
              <a:t>buffer </a:t>
            </a:r>
            <a:r>
              <a:rPr lang="as-IN" dirty="0"/>
              <a:t>থেকে সরানো যাবে না)।</a:t>
            </a:r>
          </a:p>
          <a:p>
            <a:pPr>
              <a:buFont typeface="Arial" panose="020B0604020202020204" pitchFamily="34" charset="0"/>
              <a:buChar char="•"/>
            </a:pPr>
            <a:r>
              <a:rPr lang="en-US" dirty="0"/>
              <a:t>Process </a:t>
            </a:r>
            <a:r>
              <a:rPr lang="as-IN" dirty="0"/>
              <a:t>শেষ হলে → </a:t>
            </a:r>
            <a:r>
              <a:rPr lang="en-US" dirty="0"/>
              <a:t>block </a:t>
            </a:r>
            <a:r>
              <a:rPr lang="en-US" b="1" dirty="0"/>
              <a:t>unpin</a:t>
            </a:r>
            <a:r>
              <a:rPr lang="en-US" dirty="0"/>
              <a:t> </a:t>
            </a:r>
            <a:r>
              <a:rPr lang="as-IN" dirty="0"/>
              <a:t>হয়।</a:t>
            </a:r>
          </a:p>
          <a:p>
            <a:pPr>
              <a:buFont typeface="Arial" panose="020B0604020202020204" pitchFamily="34" charset="0"/>
              <a:buChar char="•"/>
            </a:pPr>
            <a:r>
              <a:rPr lang="as-IN" dirty="0"/>
              <a:t>তখন সেটাই </a:t>
            </a:r>
            <a:r>
              <a:rPr lang="en-US" dirty="0"/>
              <a:t>buffer-</a:t>
            </a:r>
            <a:r>
              <a:rPr lang="as-IN" dirty="0"/>
              <a:t>এর </a:t>
            </a:r>
            <a:r>
              <a:rPr lang="en-US" b="1" dirty="0"/>
              <a:t>most recently used block</a:t>
            </a:r>
            <a:r>
              <a:rPr lang="en-US" dirty="0"/>
              <a:t> </a:t>
            </a:r>
            <a:r>
              <a:rPr lang="as-IN" dirty="0"/>
              <a:t>হিসেবে </a:t>
            </a:r>
            <a:r>
              <a:rPr lang="en-US" dirty="0"/>
              <a:t>mark </a:t>
            </a:r>
            <a:r>
              <a:rPr lang="as-IN" dirty="0"/>
              <a:t>হয়। </a:t>
            </a:r>
            <a:r>
              <a:rPr lang="en-US" dirty="0"/>
              <a:t>👉 </a:t>
            </a:r>
            <a:r>
              <a:rPr lang="as-IN" dirty="0"/>
              <a:t>মানে: </a:t>
            </a:r>
            <a:r>
              <a:rPr lang="en-US" dirty="0"/>
              <a:t>recent block </a:t>
            </a:r>
            <a:r>
              <a:rPr lang="as-IN" dirty="0"/>
              <a:t>আবার দরকার হতে পারে, তাই </a:t>
            </a:r>
            <a:r>
              <a:rPr lang="en-US" dirty="0"/>
              <a:t>buffer-</a:t>
            </a:r>
            <a:r>
              <a:rPr lang="as-IN" dirty="0"/>
              <a:t>এ রাখা হয়।</a:t>
            </a:r>
          </a:p>
          <a:p>
            <a:r>
              <a:rPr lang="en-US" b="1" dirty="0"/>
              <a:t>🔹 Statistical Heuristics</a:t>
            </a:r>
          </a:p>
          <a:p>
            <a:pPr>
              <a:buFont typeface="Arial" panose="020B0604020202020204" pitchFamily="34" charset="0"/>
              <a:buChar char="•"/>
            </a:pPr>
            <a:r>
              <a:rPr lang="en-US" dirty="0"/>
              <a:t>Buffer manager probability </a:t>
            </a:r>
            <a:r>
              <a:rPr lang="as-IN" dirty="0"/>
              <a:t>দেখে </a:t>
            </a:r>
            <a:r>
              <a:rPr lang="en-US" dirty="0"/>
              <a:t>decide </a:t>
            </a:r>
            <a:r>
              <a:rPr lang="as-IN" dirty="0"/>
              <a:t>করে কোন </a:t>
            </a:r>
            <a:r>
              <a:rPr lang="en-US" dirty="0"/>
              <a:t>relation </a:t>
            </a:r>
            <a:r>
              <a:rPr lang="as-IN" dirty="0"/>
              <a:t>বেশি </a:t>
            </a:r>
            <a:r>
              <a:rPr lang="en-US" dirty="0"/>
              <a:t>use </a:t>
            </a:r>
            <a:r>
              <a:rPr lang="as-IN" dirty="0"/>
              <a:t>হবে।</a:t>
            </a:r>
          </a:p>
          <a:p>
            <a:pPr>
              <a:buFont typeface="Arial" panose="020B0604020202020204" pitchFamily="34" charset="0"/>
              <a:buChar char="•"/>
            </a:pPr>
            <a:r>
              <a:rPr lang="as-IN" dirty="0"/>
              <a:t>যেমন: </a:t>
            </a:r>
            <a:r>
              <a:rPr lang="en-US" b="1" dirty="0"/>
              <a:t>data dictionary</a:t>
            </a:r>
            <a:r>
              <a:rPr lang="en-US" dirty="0"/>
              <a:t> </a:t>
            </a:r>
            <a:r>
              <a:rPr lang="as-IN" dirty="0"/>
              <a:t>প্রায়ই </a:t>
            </a:r>
            <a:r>
              <a:rPr lang="en-US" dirty="0"/>
              <a:t>access </a:t>
            </a:r>
            <a:r>
              <a:rPr lang="as-IN" dirty="0"/>
              <a:t>হয় → তাই সবসময় </a:t>
            </a:r>
            <a:r>
              <a:rPr lang="en-US" dirty="0"/>
              <a:t>buffer-</a:t>
            </a:r>
            <a:r>
              <a:rPr lang="as-IN" dirty="0"/>
              <a:t>এ রাখা হয়। </a:t>
            </a:r>
            <a:r>
              <a:rPr lang="en-US" dirty="0"/>
              <a:t>👉 Frequent-use relation memory-</a:t>
            </a:r>
            <a:r>
              <a:rPr lang="as-IN" dirty="0"/>
              <a:t>তে </a:t>
            </a:r>
            <a:r>
              <a:rPr lang="en-US" dirty="0"/>
              <a:t>pin </a:t>
            </a:r>
            <a:r>
              <a:rPr lang="as-IN" dirty="0"/>
              <a:t>করে রাখলে </a:t>
            </a:r>
            <a:r>
              <a:rPr lang="en-US" dirty="0"/>
              <a:t>performance </a:t>
            </a:r>
            <a:r>
              <a:rPr lang="as-IN" dirty="0"/>
              <a:t>বাড়ে।</a:t>
            </a:r>
          </a:p>
          <a:p>
            <a:r>
              <a:rPr lang="en-US" b="1" dirty="0"/>
              <a:t>🔹 Write Reordering Risk</a:t>
            </a:r>
          </a:p>
          <a:p>
            <a:pPr>
              <a:buFont typeface="Arial" panose="020B0604020202020204" pitchFamily="34" charset="0"/>
              <a:buChar char="•"/>
            </a:pPr>
            <a:r>
              <a:rPr lang="en-US" dirty="0"/>
              <a:t>OS </a:t>
            </a:r>
            <a:r>
              <a:rPr lang="as-IN" dirty="0"/>
              <a:t>বা </a:t>
            </a:r>
            <a:r>
              <a:rPr lang="en-US" dirty="0"/>
              <a:t>buffer manager write order change </a:t>
            </a:r>
            <a:r>
              <a:rPr lang="as-IN" dirty="0"/>
              <a:t>করতে পারে।</a:t>
            </a:r>
          </a:p>
          <a:p>
            <a:pPr>
              <a:buFont typeface="Arial" panose="020B0604020202020204" pitchFamily="34" charset="0"/>
              <a:buChar char="•"/>
            </a:pPr>
            <a:r>
              <a:rPr lang="as-IN" dirty="0"/>
              <a:t>এতে </a:t>
            </a:r>
            <a:r>
              <a:rPr lang="en-US" b="1" dirty="0"/>
              <a:t>linked structure corrupt</a:t>
            </a:r>
            <a:r>
              <a:rPr lang="en-US" dirty="0"/>
              <a:t> </a:t>
            </a:r>
            <a:r>
              <a:rPr lang="as-IN" dirty="0"/>
              <a:t>হতে পারে (যেমন </a:t>
            </a:r>
            <a:r>
              <a:rPr lang="en-US" dirty="0"/>
              <a:t>missing block)।</a:t>
            </a:r>
          </a:p>
          <a:p>
            <a:pPr>
              <a:buFont typeface="Arial" panose="020B0604020202020204" pitchFamily="34" charset="0"/>
              <a:buChar char="•"/>
            </a:pPr>
            <a:r>
              <a:rPr lang="en-US" dirty="0"/>
              <a:t>Solution: careful ordering </a:t>
            </a:r>
            <a:r>
              <a:rPr lang="as-IN" dirty="0"/>
              <a:t>বা </a:t>
            </a:r>
            <a:r>
              <a:rPr lang="en-US" dirty="0"/>
              <a:t>journaling → consistency </a:t>
            </a:r>
            <a:r>
              <a:rPr lang="as-IN" dirty="0"/>
              <a:t>বজায় রাখা যায়। </a:t>
            </a:r>
            <a:r>
              <a:rPr lang="en-US" dirty="0"/>
              <a:t>👉 </a:t>
            </a:r>
            <a:r>
              <a:rPr lang="as-IN" dirty="0"/>
              <a:t>মানে: </a:t>
            </a:r>
            <a:r>
              <a:rPr lang="en-US" dirty="0"/>
              <a:t>write order </a:t>
            </a:r>
            <a:r>
              <a:rPr lang="as-IN" dirty="0"/>
              <a:t>ভুল হলে </a:t>
            </a:r>
            <a:r>
              <a:rPr lang="en-US" dirty="0"/>
              <a:t>data loss </a:t>
            </a:r>
            <a:r>
              <a:rPr lang="as-IN" dirty="0"/>
              <a:t>হতে পারে, তাই </a:t>
            </a:r>
            <a:r>
              <a:rPr lang="en-US" dirty="0"/>
              <a:t>safe journaling </a:t>
            </a:r>
            <a:r>
              <a:rPr lang="as-IN" dirty="0"/>
              <a:t>দরকার।</a:t>
            </a:r>
            <a:endParaRPr lang="as-IN" dirty="0">
              <a:effectLst/>
            </a:endParaRPr>
          </a:p>
        </p:txBody>
      </p:sp>
    </p:spTree>
    <p:extLst>
      <p:ext uri="{BB962C8B-B14F-4D97-AF65-F5344CB8AC3E}">
        <p14:creationId xmlns:p14="http://schemas.microsoft.com/office/powerpoint/2010/main" val="30168160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80" name="Rectangle 4">
            <a:extLst>
              <a:ext uri="{FF2B5EF4-FFF2-40B4-BE49-F238E27FC236}">
                <a16:creationId xmlns:a16="http://schemas.microsoft.com/office/drawing/2014/main" id="{0BFC7645-9DF1-414B-A564-6DA5BE8C3123}"/>
              </a:ext>
            </a:extLst>
          </p:cNvPr>
          <p:cNvSpPr>
            <a:spLocks noGrp="1" noChangeArrowheads="1"/>
          </p:cNvSpPr>
          <p:nvPr>
            <p:ph type="title"/>
          </p:nvPr>
        </p:nvSpPr>
        <p:spPr/>
        <p:txBody>
          <a:bodyPr/>
          <a:lstStyle/>
          <a:p>
            <a:pPr>
              <a:defRPr/>
            </a:pPr>
            <a:r>
              <a:rPr lang="en-US" altLang="en-US" sz="2800">
                <a:effectLst>
                  <a:outerShdw blurRad="38100" dist="38100" dir="2700000" algn="tl">
                    <a:srgbClr val="C0C0C0"/>
                  </a:outerShdw>
                </a:effectLst>
              </a:rPr>
              <a:t>Optimization of Disk Block Access (Cont.)</a:t>
            </a:r>
          </a:p>
        </p:txBody>
      </p:sp>
      <p:sp>
        <p:nvSpPr>
          <p:cNvPr id="113666" name="Rectangle 3">
            <a:extLst>
              <a:ext uri="{FF2B5EF4-FFF2-40B4-BE49-F238E27FC236}">
                <a16:creationId xmlns:a16="http://schemas.microsoft.com/office/drawing/2014/main" id="{2836ABBE-E86C-4BF9-A913-E5B1C2C34343}"/>
              </a:ext>
            </a:extLst>
          </p:cNvPr>
          <p:cNvSpPr>
            <a:spLocks noGrp="1" noChangeArrowheads="1"/>
          </p:cNvSpPr>
          <p:nvPr>
            <p:ph idx="1"/>
          </p:nvPr>
        </p:nvSpPr>
        <p:spPr>
          <a:xfrm>
            <a:off x="834501" y="1376592"/>
            <a:ext cx="7568136" cy="4903787"/>
          </a:xfrm>
        </p:spPr>
        <p:txBody>
          <a:bodyPr/>
          <a:lstStyle/>
          <a:p>
            <a:r>
              <a:rPr lang="en-US" altLang="en-US" sz="1600" dirty="0"/>
              <a:t>Buffer managers support </a:t>
            </a:r>
            <a:r>
              <a:rPr lang="en-US" altLang="en-US" sz="1600" b="1" dirty="0">
                <a:solidFill>
                  <a:srgbClr val="002060"/>
                </a:solidFill>
              </a:rPr>
              <a:t>forced output</a:t>
            </a:r>
            <a:r>
              <a:rPr lang="en-US" altLang="en-US" sz="1600" dirty="0">
                <a:solidFill>
                  <a:srgbClr val="002060"/>
                </a:solidFill>
              </a:rPr>
              <a:t> </a:t>
            </a:r>
            <a:r>
              <a:rPr lang="en-US" altLang="en-US" sz="1600" dirty="0"/>
              <a:t>of blocks for the purpose of recovery (more in Chapter 19)</a:t>
            </a:r>
          </a:p>
          <a:p>
            <a:r>
              <a:rPr lang="en-US" altLang="en-US" sz="1600" b="1" dirty="0">
                <a:solidFill>
                  <a:srgbClr val="002060"/>
                </a:solidFill>
              </a:rPr>
              <a:t>Nonvolatile write buffers</a:t>
            </a:r>
            <a:r>
              <a:rPr lang="en-US" altLang="en-US" sz="1600" dirty="0">
                <a:solidFill>
                  <a:srgbClr val="002060"/>
                </a:solidFill>
              </a:rPr>
              <a:t> </a:t>
            </a:r>
            <a:r>
              <a:rPr lang="en-US" altLang="en-US" sz="1600" dirty="0"/>
              <a:t>speed up disk writes by writing blocks to a non-volatile RAM or flash buffer immediately</a:t>
            </a:r>
          </a:p>
          <a:p>
            <a:pPr lvl="1"/>
            <a:r>
              <a:rPr lang="en-US" altLang="en-US" sz="1600" i="1" dirty="0"/>
              <a:t>Writes can be reordered to minimize disk arm movement</a:t>
            </a:r>
          </a:p>
          <a:p>
            <a:r>
              <a:rPr lang="en-US" altLang="en-US" sz="1600" b="1" dirty="0">
                <a:solidFill>
                  <a:srgbClr val="002060"/>
                </a:solidFill>
              </a:rPr>
              <a:t>Log disk</a:t>
            </a:r>
            <a:r>
              <a:rPr lang="en-US" altLang="en-US" sz="1600" dirty="0">
                <a:solidFill>
                  <a:srgbClr val="002060"/>
                </a:solidFill>
              </a:rPr>
              <a:t> </a:t>
            </a:r>
            <a:r>
              <a:rPr lang="en-US" altLang="en-US" sz="1600" dirty="0"/>
              <a:t>– a disk devoted to writing a sequential log of block updates</a:t>
            </a:r>
          </a:p>
          <a:p>
            <a:pPr lvl="1"/>
            <a:r>
              <a:rPr lang="en-US" altLang="en-US" sz="1600" dirty="0"/>
              <a:t> Used exactly like nonvolatile RAM</a:t>
            </a:r>
          </a:p>
          <a:p>
            <a:pPr lvl="2"/>
            <a:r>
              <a:rPr lang="en-US" altLang="en-US" sz="1600" dirty="0"/>
              <a:t>Write to log disk is very fast since no seeks are required</a:t>
            </a:r>
          </a:p>
          <a:p>
            <a:r>
              <a:rPr lang="en-US" altLang="en-US" sz="1600" b="1" dirty="0">
                <a:solidFill>
                  <a:srgbClr val="002060"/>
                </a:solidFill>
              </a:rPr>
              <a:t>Journaling file systems </a:t>
            </a:r>
            <a:r>
              <a:rPr lang="en-US" altLang="en-US" sz="1600" dirty="0"/>
              <a:t>write data in-order to NV-RAM or log disk</a:t>
            </a:r>
            <a:endParaRPr lang="en-US" altLang="en-US" sz="1600" b="1" dirty="0">
              <a:solidFill>
                <a:schemeClr val="tx2"/>
              </a:solidFill>
            </a:endParaRPr>
          </a:p>
          <a:p>
            <a:pPr lvl="1"/>
            <a:r>
              <a:rPr lang="en-US" altLang="en-US" sz="1600" dirty="0"/>
              <a:t>Reordering without journaling: risk of corruption of file system data</a:t>
            </a:r>
          </a:p>
        </p:txBody>
      </p:sp>
    </p:spTree>
    <p:extLst>
      <p:ext uri="{BB962C8B-B14F-4D97-AF65-F5344CB8AC3E}">
        <p14:creationId xmlns:p14="http://schemas.microsoft.com/office/powerpoint/2010/main" val="873671395"/>
      </p:ext>
    </p:extLst>
  </p:cSld>
  <p:clrMapOvr>
    <a:masterClrMapping/>
  </p:clrMapOvr>
  <p:transition spd="slow"/>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08361"/>
            <a:ext cx="8968154" cy="5262979"/>
          </a:xfrm>
          <a:prstGeom prst="rect">
            <a:avLst/>
          </a:prstGeom>
        </p:spPr>
        <p:txBody>
          <a:bodyPr wrap="square">
            <a:spAutoFit/>
          </a:bodyPr>
          <a:lstStyle/>
          <a:p>
            <a:r>
              <a:rPr lang="en-US" b="1" dirty="0"/>
              <a:t>Optimization of Disk Block Access (Cont.)</a:t>
            </a:r>
          </a:p>
          <a:p>
            <a:r>
              <a:rPr lang="as-IN" dirty="0"/>
              <a:t>এই </a:t>
            </a:r>
            <a:r>
              <a:rPr lang="en-US" dirty="0"/>
              <a:t>slide-</a:t>
            </a:r>
            <a:r>
              <a:rPr lang="as-IN" dirty="0"/>
              <a:t>এ মূলত বলা হয়েছে কীভাবে </a:t>
            </a:r>
            <a:r>
              <a:rPr lang="en-US" dirty="0"/>
              <a:t>database system </a:t>
            </a:r>
            <a:r>
              <a:rPr lang="en-US" b="1" dirty="0"/>
              <a:t>disk I/O optimize </a:t>
            </a:r>
            <a:r>
              <a:rPr lang="as-IN" b="1" dirty="0"/>
              <a:t>করে</a:t>
            </a:r>
            <a:r>
              <a:rPr lang="as-IN" dirty="0"/>
              <a:t> আর </a:t>
            </a:r>
            <a:r>
              <a:rPr lang="en-US" b="1" dirty="0"/>
              <a:t>data consistency </a:t>
            </a:r>
            <a:r>
              <a:rPr lang="as-IN" b="1" dirty="0"/>
              <a:t>বজায় রাখে</a:t>
            </a:r>
            <a:r>
              <a:rPr lang="as-IN" dirty="0"/>
              <a:t>।</a:t>
            </a:r>
          </a:p>
          <a:p>
            <a:r>
              <a:rPr lang="en-US" b="1" dirty="0"/>
              <a:t>🔹 1. Forced Output for Recovery</a:t>
            </a:r>
          </a:p>
          <a:p>
            <a:pPr>
              <a:buFont typeface="Arial" panose="020B0604020202020204" pitchFamily="34" charset="0"/>
              <a:buChar char="•"/>
            </a:pPr>
            <a:r>
              <a:rPr lang="en-US" dirty="0"/>
              <a:t>Buffer manager </a:t>
            </a:r>
            <a:r>
              <a:rPr lang="as-IN" dirty="0"/>
              <a:t>কিছু </a:t>
            </a:r>
            <a:r>
              <a:rPr lang="en-US" dirty="0"/>
              <a:t>block </a:t>
            </a:r>
            <a:r>
              <a:rPr lang="en-US" b="1" dirty="0"/>
              <a:t>force </a:t>
            </a:r>
            <a:r>
              <a:rPr lang="as-IN" b="1" dirty="0"/>
              <a:t>করে </a:t>
            </a:r>
            <a:r>
              <a:rPr lang="en-US" b="1" dirty="0"/>
              <a:t>disk-</a:t>
            </a:r>
            <a:r>
              <a:rPr lang="as-IN" b="1" dirty="0"/>
              <a:t>এ লিখে দেয়</a:t>
            </a:r>
            <a:r>
              <a:rPr lang="as-IN" dirty="0"/>
              <a:t>।</a:t>
            </a:r>
          </a:p>
          <a:p>
            <a:pPr>
              <a:buFont typeface="Arial" panose="020B0604020202020204" pitchFamily="34" charset="0"/>
              <a:buChar char="•"/>
            </a:pPr>
            <a:r>
              <a:rPr lang="as-IN" dirty="0"/>
              <a:t>কারণ: </a:t>
            </a:r>
            <a:r>
              <a:rPr lang="en-US" dirty="0"/>
              <a:t>transaction recovery-</a:t>
            </a:r>
            <a:r>
              <a:rPr lang="as-IN" dirty="0"/>
              <a:t>এর সময় </a:t>
            </a:r>
            <a:r>
              <a:rPr lang="en-US" dirty="0"/>
              <a:t>latest data </a:t>
            </a:r>
            <a:r>
              <a:rPr lang="as-IN" dirty="0"/>
              <a:t>দরকার হয়। </a:t>
            </a:r>
            <a:r>
              <a:rPr lang="en-US" dirty="0"/>
              <a:t>👉 </a:t>
            </a:r>
            <a:r>
              <a:rPr lang="as-IN" dirty="0"/>
              <a:t>মানে </a:t>
            </a:r>
            <a:r>
              <a:rPr lang="en-US" dirty="0"/>
              <a:t>critical data delay </a:t>
            </a:r>
            <a:r>
              <a:rPr lang="as-IN" dirty="0"/>
              <a:t>না করে সাথে সাথে </a:t>
            </a:r>
            <a:r>
              <a:rPr lang="en-US" dirty="0"/>
              <a:t>permanent storage-</a:t>
            </a:r>
            <a:r>
              <a:rPr lang="as-IN" dirty="0"/>
              <a:t>এ পাঠানো হয়।</a:t>
            </a:r>
          </a:p>
          <a:p>
            <a:r>
              <a:rPr lang="en-US" b="1" dirty="0"/>
              <a:t>🔹 2. Nonvolatile Write Buffers</a:t>
            </a:r>
          </a:p>
          <a:p>
            <a:pPr>
              <a:buFont typeface="Arial" panose="020B0604020202020204" pitchFamily="34" charset="0"/>
              <a:buChar char="•"/>
            </a:pPr>
            <a:r>
              <a:rPr lang="en-US" dirty="0"/>
              <a:t>RAM-</a:t>
            </a:r>
            <a:r>
              <a:rPr lang="as-IN" dirty="0"/>
              <a:t>এর বদলে </a:t>
            </a:r>
            <a:r>
              <a:rPr lang="en-US" b="1" dirty="0"/>
              <a:t>NVRAM </a:t>
            </a:r>
            <a:r>
              <a:rPr lang="as-IN" b="1" dirty="0"/>
              <a:t>বা </a:t>
            </a:r>
            <a:r>
              <a:rPr lang="en-US" b="1" dirty="0"/>
              <a:t>flash buffer</a:t>
            </a:r>
            <a:r>
              <a:rPr lang="en-US" dirty="0"/>
              <a:t> </a:t>
            </a:r>
            <a:r>
              <a:rPr lang="as-IN" dirty="0"/>
              <a:t>ব্যবহার করা হয়।</a:t>
            </a:r>
          </a:p>
          <a:p>
            <a:pPr>
              <a:buFont typeface="Arial" panose="020B0604020202020204" pitchFamily="34" charset="0"/>
              <a:buChar char="•"/>
            </a:pPr>
            <a:r>
              <a:rPr lang="en-US" dirty="0"/>
              <a:t>Power off </a:t>
            </a:r>
            <a:r>
              <a:rPr lang="as-IN" dirty="0"/>
              <a:t>হলেও </a:t>
            </a:r>
            <a:r>
              <a:rPr lang="en-US" dirty="0"/>
              <a:t>data safe </a:t>
            </a:r>
            <a:r>
              <a:rPr lang="as-IN" dirty="0"/>
              <a:t>থাকে।</a:t>
            </a:r>
          </a:p>
          <a:p>
            <a:pPr>
              <a:buFont typeface="Arial" panose="020B0604020202020204" pitchFamily="34" charset="0"/>
              <a:buChar char="•"/>
            </a:pPr>
            <a:r>
              <a:rPr lang="en-US" dirty="0"/>
              <a:t>Write order optimize </a:t>
            </a:r>
            <a:r>
              <a:rPr lang="as-IN" dirty="0"/>
              <a:t>করা যায় → </a:t>
            </a:r>
            <a:r>
              <a:rPr lang="en-US" dirty="0"/>
              <a:t>disk arm movement </a:t>
            </a:r>
            <a:r>
              <a:rPr lang="as-IN" dirty="0"/>
              <a:t>কমে। </a:t>
            </a:r>
            <a:r>
              <a:rPr lang="en-US" dirty="0"/>
              <a:t>👉 </a:t>
            </a:r>
            <a:r>
              <a:rPr lang="as-IN" dirty="0"/>
              <a:t>এতে </a:t>
            </a:r>
            <a:r>
              <a:rPr lang="en-US" dirty="0"/>
              <a:t>write speed </a:t>
            </a:r>
            <a:r>
              <a:rPr lang="as-IN" dirty="0"/>
              <a:t>অনেক বেড়ে যায়।</a:t>
            </a:r>
          </a:p>
          <a:p>
            <a:r>
              <a:rPr lang="en-US" b="1" dirty="0"/>
              <a:t>🔹 3. Log Disk</a:t>
            </a:r>
          </a:p>
          <a:p>
            <a:pPr>
              <a:buFont typeface="Arial" panose="020B0604020202020204" pitchFamily="34" charset="0"/>
              <a:buChar char="•"/>
            </a:pPr>
            <a:r>
              <a:rPr lang="as-IN" dirty="0"/>
              <a:t>আলাদা </a:t>
            </a:r>
            <a:r>
              <a:rPr lang="en-US" dirty="0"/>
              <a:t>disk </a:t>
            </a:r>
            <a:r>
              <a:rPr lang="as-IN" dirty="0"/>
              <a:t>শুধু </a:t>
            </a:r>
            <a:r>
              <a:rPr lang="en-US" b="1" dirty="0"/>
              <a:t>log write </a:t>
            </a:r>
            <a:r>
              <a:rPr lang="as-IN" b="1" dirty="0"/>
              <a:t>করার জন্য</a:t>
            </a:r>
            <a:r>
              <a:rPr lang="as-IN" dirty="0"/>
              <a:t> রাখা হয়।</a:t>
            </a:r>
          </a:p>
          <a:p>
            <a:pPr>
              <a:buFont typeface="Arial" panose="020B0604020202020204" pitchFamily="34" charset="0"/>
              <a:buChar char="•"/>
            </a:pPr>
            <a:r>
              <a:rPr lang="en-US" dirty="0"/>
              <a:t>Sequential write → no seek → super fast।</a:t>
            </a:r>
          </a:p>
          <a:p>
            <a:pPr>
              <a:buFont typeface="Arial" panose="020B0604020202020204" pitchFamily="34" charset="0"/>
              <a:buChar char="•"/>
            </a:pPr>
            <a:r>
              <a:rPr lang="en-US" dirty="0"/>
              <a:t>Log disk behave </a:t>
            </a:r>
            <a:r>
              <a:rPr lang="as-IN" dirty="0"/>
              <a:t>করে </a:t>
            </a:r>
            <a:r>
              <a:rPr lang="en-US" dirty="0"/>
              <a:t>NVRAM-</a:t>
            </a:r>
            <a:r>
              <a:rPr lang="as-IN" dirty="0"/>
              <a:t>এর মতো। </a:t>
            </a:r>
            <a:r>
              <a:rPr lang="en-US" dirty="0"/>
              <a:t>👉 </a:t>
            </a:r>
            <a:r>
              <a:rPr lang="as-IN" dirty="0"/>
              <a:t>মানে সব </a:t>
            </a:r>
            <a:r>
              <a:rPr lang="en-US" dirty="0"/>
              <a:t>update sequentially log disk-</a:t>
            </a:r>
            <a:r>
              <a:rPr lang="as-IN" dirty="0"/>
              <a:t>এ লেখা হয় → পরে </a:t>
            </a:r>
            <a:r>
              <a:rPr lang="en-US" dirty="0"/>
              <a:t>recovery-</a:t>
            </a:r>
            <a:r>
              <a:rPr lang="as-IN" dirty="0"/>
              <a:t>তে কাজে লাগে।</a:t>
            </a:r>
          </a:p>
          <a:p>
            <a:r>
              <a:rPr lang="en-US" b="1" dirty="0"/>
              <a:t>🔹 4. Journaling File System</a:t>
            </a:r>
          </a:p>
          <a:p>
            <a:pPr>
              <a:buFont typeface="Arial" panose="020B0604020202020204" pitchFamily="34" charset="0"/>
              <a:buChar char="•"/>
            </a:pPr>
            <a:r>
              <a:rPr lang="en-US" dirty="0"/>
              <a:t>Write </a:t>
            </a:r>
            <a:r>
              <a:rPr lang="as-IN" dirty="0"/>
              <a:t>করার আগে </a:t>
            </a:r>
            <a:r>
              <a:rPr lang="en-US" dirty="0"/>
              <a:t>log/NVRAM-</a:t>
            </a:r>
            <a:r>
              <a:rPr lang="as-IN" dirty="0"/>
              <a:t>এ </a:t>
            </a:r>
            <a:r>
              <a:rPr lang="en-US" dirty="0"/>
              <a:t>entry </a:t>
            </a:r>
            <a:r>
              <a:rPr lang="as-IN" dirty="0"/>
              <a:t>করা হয়।</a:t>
            </a:r>
          </a:p>
          <a:p>
            <a:pPr>
              <a:buFont typeface="Arial" panose="020B0604020202020204" pitchFamily="34" charset="0"/>
              <a:buChar char="•"/>
            </a:pPr>
            <a:r>
              <a:rPr lang="en-US" dirty="0"/>
              <a:t>Reordering </a:t>
            </a:r>
            <a:r>
              <a:rPr lang="as-IN" dirty="0"/>
              <a:t>হলেও </a:t>
            </a:r>
            <a:r>
              <a:rPr lang="en-US" dirty="0"/>
              <a:t>consistency </a:t>
            </a:r>
            <a:r>
              <a:rPr lang="as-IN" dirty="0"/>
              <a:t>থাকে।</a:t>
            </a:r>
          </a:p>
          <a:p>
            <a:pPr>
              <a:buFont typeface="Arial" panose="020B0604020202020204" pitchFamily="34" charset="0"/>
              <a:buChar char="•"/>
            </a:pPr>
            <a:r>
              <a:rPr lang="en-US" dirty="0"/>
              <a:t>Journaling </a:t>
            </a:r>
            <a:r>
              <a:rPr lang="as-IN" dirty="0"/>
              <a:t>না করলে → </a:t>
            </a:r>
            <a:r>
              <a:rPr lang="en-US" dirty="0"/>
              <a:t>reordering </a:t>
            </a:r>
            <a:r>
              <a:rPr lang="as-IN" dirty="0"/>
              <a:t>থেকে </a:t>
            </a:r>
            <a:r>
              <a:rPr lang="en-US" dirty="0"/>
              <a:t>corruption </a:t>
            </a:r>
            <a:r>
              <a:rPr lang="as-IN" dirty="0"/>
              <a:t>হতে পারে। </a:t>
            </a:r>
            <a:r>
              <a:rPr lang="en-US" dirty="0"/>
              <a:t>👉 </a:t>
            </a:r>
            <a:r>
              <a:rPr lang="as-IN" dirty="0"/>
              <a:t>মানে আগে </a:t>
            </a:r>
            <a:r>
              <a:rPr lang="en-US" dirty="0"/>
              <a:t>diary-</a:t>
            </a:r>
            <a:r>
              <a:rPr lang="as-IN" dirty="0"/>
              <a:t>তে লিখে রাখো, তারপর </a:t>
            </a:r>
            <a:r>
              <a:rPr lang="en-US" dirty="0"/>
              <a:t>main </a:t>
            </a:r>
            <a:r>
              <a:rPr lang="as-IN" dirty="0"/>
              <a:t>খাতায় </a:t>
            </a:r>
            <a:r>
              <a:rPr lang="en-US" dirty="0"/>
              <a:t>transfer </a:t>
            </a:r>
            <a:r>
              <a:rPr lang="as-IN" dirty="0"/>
              <a:t>করো → ভুল হলে </a:t>
            </a:r>
            <a:r>
              <a:rPr lang="en-US" dirty="0"/>
              <a:t>diary </a:t>
            </a:r>
            <a:r>
              <a:rPr lang="as-IN" dirty="0"/>
              <a:t>থেকে </a:t>
            </a:r>
            <a:r>
              <a:rPr lang="en-US" dirty="0"/>
              <a:t>restore </a:t>
            </a:r>
            <a:r>
              <a:rPr lang="as-IN" dirty="0"/>
              <a:t>করা যাবে।</a:t>
            </a:r>
            <a:endParaRPr lang="as-IN" dirty="0">
              <a:effectLst/>
            </a:endParaRPr>
          </a:p>
        </p:txBody>
      </p:sp>
    </p:spTree>
    <p:extLst>
      <p:ext uri="{BB962C8B-B14F-4D97-AF65-F5344CB8AC3E}">
        <p14:creationId xmlns:p14="http://schemas.microsoft.com/office/powerpoint/2010/main" val="210555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5123" y="2028617"/>
            <a:ext cx="7965831" cy="1815882"/>
          </a:xfrm>
          <a:prstGeom prst="rect">
            <a:avLst/>
          </a:prstGeom>
        </p:spPr>
        <p:txBody>
          <a:bodyPr wrap="square">
            <a:spAutoFit/>
          </a:bodyPr>
          <a:lstStyle/>
          <a:p>
            <a:r>
              <a:rPr lang="en-US" b="1" dirty="0"/>
              <a:t>🧺 </a:t>
            </a:r>
            <a:r>
              <a:rPr lang="as-IN" b="1" dirty="0"/>
              <a:t>গল্প দিয়ে বুঝি:</a:t>
            </a:r>
          </a:p>
          <a:p>
            <a:r>
              <a:rPr lang="as-IN" dirty="0"/>
              <a:t>ধরো তুই একটা অফিস চালাচ্ছো:</a:t>
            </a:r>
          </a:p>
          <a:p>
            <a:pPr>
              <a:buFont typeface="Arial" panose="020B0604020202020204" pitchFamily="34" charset="0"/>
              <a:buChar char="•"/>
            </a:pPr>
            <a:r>
              <a:rPr lang="en-US" dirty="0"/>
              <a:t>Critical info </a:t>
            </a:r>
            <a:r>
              <a:rPr lang="as-IN" dirty="0"/>
              <a:t>সাথে সাথে </a:t>
            </a:r>
            <a:r>
              <a:rPr lang="en-US" dirty="0"/>
              <a:t>archive-</a:t>
            </a:r>
            <a:r>
              <a:rPr lang="as-IN" dirty="0"/>
              <a:t>এ পাঠাচ্ছো (</a:t>
            </a:r>
            <a:r>
              <a:rPr lang="en-US" dirty="0"/>
              <a:t>forced output)</a:t>
            </a:r>
          </a:p>
          <a:p>
            <a:pPr>
              <a:buFont typeface="Arial" panose="020B0604020202020204" pitchFamily="34" charset="0"/>
              <a:buChar char="•"/>
            </a:pPr>
            <a:r>
              <a:rPr lang="en-US" dirty="0"/>
              <a:t>Temporary info pen drive-</a:t>
            </a:r>
            <a:r>
              <a:rPr lang="as-IN" dirty="0"/>
              <a:t>এ রাখছো (</a:t>
            </a:r>
            <a:r>
              <a:rPr lang="en-US" dirty="0"/>
              <a:t>NVRAM buffer)</a:t>
            </a:r>
          </a:p>
          <a:p>
            <a:pPr>
              <a:buFont typeface="Arial" panose="020B0604020202020204" pitchFamily="34" charset="0"/>
              <a:buChar char="•"/>
            </a:pPr>
            <a:r>
              <a:rPr lang="en-US" dirty="0"/>
              <a:t>Update log </a:t>
            </a:r>
            <a:r>
              <a:rPr lang="as-IN" dirty="0"/>
              <a:t>আলাদা </a:t>
            </a:r>
            <a:r>
              <a:rPr lang="en-US" dirty="0"/>
              <a:t>diary-</a:t>
            </a:r>
            <a:r>
              <a:rPr lang="as-IN" dirty="0"/>
              <a:t>তে লিখছো (</a:t>
            </a:r>
            <a:r>
              <a:rPr lang="en-US" dirty="0"/>
              <a:t>log disk)</a:t>
            </a:r>
          </a:p>
          <a:p>
            <a:pPr>
              <a:buFont typeface="Arial" panose="020B0604020202020204" pitchFamily="34" charset="0"/>
              <a:buChar char="•"/>
            </a:pPr>
            <a:r>
              <a:rPr lang="as-IN" dirty="0"/>
              <a:t>সব কিছু আগে </a:t>
            </a:r>
            <a:r>
              <a:rPr lang="en-US" dirty="0"/>
              <a:t>diary-</a:t>
            </a:r>
            <a:r>
              <a:rPr lang="as-IN" dirty="0"/>
              <a:t>তে লিখে, পরে খাতায় </a:t>
            </a:r>
            <a:r>
              <a:rPr lang="en-US" dirty="0"/>
              <a:t>transfer </a:t>
            </a:r>
            <a:r>
              <a:rPr lang="as-IN" dirty="0"/>
              <a:t>করছো (</a:t>
            </a:r>
            <a:r>
              <a:rPr lang="en-US" dirty="0"/>
              <a:t>journaling)</a:t>
            </a:r>
          </a:p>
          <a:p>
            <a:r>
              <a:rPr lang="as-IN" dirty="0"/>
              <a:t>এইভাবে </a:t>
            </a:r>
            <a:r>
              <a:rPr lang="en-US" dirty="0"/>
              <a:t>database system disk access optimize </a:t>
            </a:r>
            <a:r>
              <a:rPr lang="as-IN" dirty="0"/>
              <a:t>করে + </a:t>
            </a:r>
            <a:r>
              <a:rPr lang="en-US" dirty="0"/>
              <a:t>consistency </a:t>
            </a:r>
            <a:r>
              <a:rPr lang="as-IN" dirty="0"/>
              <a:t>বজায় রাখে।</a:t>
            </a:r>
            <a:endParaRPr lang="as-IN" dirty="0">
              <a:effectLst/>
            </a:endParaRPr>
          </a:p>
        </p:txBody>
      </p:sp>
    </p:spTree>
    <p:extLst>
      <p:ext uri="{BB962C8B-B14F-4D97-AF65-F5344CB8AC3E}">
        <p14:creationId xmlns:p14="http://schemas.microsoft.com/office/powerpoint/2010/main" val="11392370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F00DC2C-F71E-4568-A8BF-BDADAE1B914E}"/>
              </a:ext>
            </a:extLst>
          </p:cNvPr>
          <p:cNvSpPr>
            <a:spLocks noGrp="1"/>
          </p:cNvSpPr>
          <p:nvPr>
            <p:ph type="title"/>
          </p:nvPr>
        </p:nvSpPr>
        <p:spPr/>
        <p:txBody>
          <a:bodyPr/>
          <a:lstStyle/>
          <a:p>
            <a:pPr>
              <a:defRPr/>
            </a:pPr>
            <a:r>
              <a:rPr lang="en-IN" dirty="0"/>
              <a:t>Column-Oriented Storage</a:t>
            </a:r>
          </a:p>
        </p:txBody>
      </p:sp>
      <p:sp>
        <p:nvSpPr>
          <p:cNvPr id="2" name="Content Placeholder 1">
            <a:extLst>
              <a:ext uri="{FF2B5EF4-FFF2-40B4-BE49-F238E27FC236}">
                <a16:creationId xmlns:a16="http://schemas.microsoft.com/office/drawing/2014/main" id="{01A81589-CC18-45D0-B88D-818E683EF480}"/>
              </a:ext>
            </a:extLst>
          </p:cNvPr>
          <p:cNvSpPr>
            <a:spLocks noGrp="1"/>
          </p:cNvSpPr>
          <p:nvPr>
            <p:ph idx="1"/>
          </p:nvPr>
        </p:nvSpPr>
        <p:spPr/>
        <p:txBody>
          <a:bodyPr/>
          <a:lstStyle/>
          <a:p>
            <a:r>
              <a:rPr lang="en-IN" dirty="0"/>
              <a:t>Also known as </a:t>
            </a:r>
            <a:r>
              <a:rPr lang="en-IN" b="1" dirty="0">
                <a:solidFill>
                  <a:srgbClr val="002060"/>
                </a:solidFill>
              </a:rPr>
              <a:t>columnar</a:t>
            </a:r>
            <a:r>
              <a:rPr lang="en-IN" b="1" dirty="0"/>
              <a:t> </a:t>
            </a:r>
            <a:r>
              <a:rPr lang="en-IN" b="1" dirty="0">
                <a:solidFill>
                  <a:srgbClr val="002060"/>
                </a:solidFill>
              </a:rPr>
              <a:t>representation</a:t>
            </a:r>
          </a:p>
          <a:p>
            <a:r>
              <a:rPr lang="en-IN" dirty="0"/>
              <a:t>Store each attribute of a relation </a:t>
            </a:r>
            <a:r>
              <a:rPr lang="en-IN" dirty="0" smtClean="0"/>
              <a:t>separately</a:t>
            </a:r>
          </a:p>
          <a:p>
            <a:r>
              <a:rPr lang="en-IN" dirty="0" smtClean="0"/>
              <a:t>Example</a:t>
            </a:r>
            <a:endParaRPr lang="en-IN" dirty="0"/>
          </a:p>
        </p:txBody>
      </p:sp>
      <p:pic>
        <p:nvPicPr>
          <p:cNvPr id="3" name="Picture 2"/>
          <p:cNvPicPr>
            <a:picLocks noChangeAspect="1"/>
          </p:cNvPicPr>
          <p:nvPr/>
        </p:nvPicPr>
        <p:blipFill>
          <a:blip r:embed="rId2"/>
          <a:stretch>
            <a:fillRect/>
          </a:stretch>
        </p:blipFill>
        <p:spPr>
          <a:xfrm>
            <a:off x="1628773" y="2216020"/>
            <a:ext cx="5720412" cy="2998922"/>
          </a:xfrm>
          <a:prstGeom prst="rect">
            <a:avLst/>
          </a:prstGeom>
        </p:spPr>
      </p:pic>
    </p:spTree>
    <p:extLst>
      <p:ext uri="{BB962C8B-B14F-4D97-AF65-F5344CB8AC3E}">
        <p14:creationId xmlns:p14="http://schemas.microsoft.com/office/powerpoint/2010/main" val="109128075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DADB3-35F6-4B68-B765-D70C1EF9A135}"/>
              </a:ext>
            </a:extLst>
          </p:cNvPr>
          <p:cNvSpPr>
            <a:spLocks noGrp="1"/>
          </p:cNvSpPr>
          <p:nvPr>
            <p:ph type="title"/>
          </p:nvPr>
        </p:nvSpPr>
        <p:spPr/>
        <p:txBody>
          <a:bodyPr/>
          <a:lstStyle/>
          <a:p>
            <a:r>
              <a:rPr lang="en-IN" dirty="0"/>
              <a:t>Columnar Representation</a:t>
            </a:r>
          </a:p>
        </p:txBody>
      </p:sp>
      <p:sp>
        <p:nvSpPr>
          <p:cNvPr id="3" name="Content Placeholder 2">
            <a:extLst>
              <a:ext uri="{FF2B5EF4-FFF2-40B4-BE49-F238E27FC236}">
                <a16:creationId xmlns:a16="http://schemas.microsoft.com/office/drawing/2014/main" id="{1D9BB982-1780-40AF-99CB-C24C58FDC91C}"/>
              </a:ext>
            </a:extLst>
          </p:cNvPr>
          <p:cNvSpPr>
            <a:spLocks noGrp="1"/>
          </p:cNvSpPr>
          <p:nvPr>
            <p:ph idx="1"/>
          </p:nvPr>
        </p:nvSpPr>
        <p:spPr>
          <a:xfrm>
            <a:off x="814388" y="1093788"/>
            <a:ext cx="8031162" cy="5006975"/>
          </a:xfrm>
        </p:spPr>
        <p:txBody>
          <a:bodyPr/>
          <a:lstStyle/>
          <a:p>
            <a:r>
              <a:rPr lang="en-IN" dirty="0"/>
              <a:t>Benefits:</a:t>
            </a:r>
          </a:p>
          <a:p>
            <a:pPr lvl="1"/>
            <a:r>
              <a:rPr lang="en-IN" dirty="0"/>
              <a:t>Reduced IO if only some attributes are accessed</a:t>
            </a:r>
          </a:p>
          <a:p>
            <a:pPr lvl="1"/>
            <a:r>
              <a:rPr lang="en-IN" dirty="0"/>
              <a:t>Improved CPU cache performance </a:t>
            </a:r>
          </a:p>
          <a:p>
            <a:pPr lvl="1"/>
            <a:r>
              <a:rPr lang="en-IN" dirty="0"/>
              <a:t>Improved compression</a:t>
            </a:r>
          </a:p>
          <a:p>
            <a:pPr lvl="1"/>
            <a:r>
              <a:rPr lang="en-IN" b="1" dirty="0">
                <a:solidFill>
                  <a:srgbClr val="002060"/>
                </a:solidFill>
              </a:rPr>
              <a:t>Vector processing </a:t>
            </a:r>
            <a:r>
              <a:rPr lang="en-IN" dirty="0"/>
              <a:t>on modern CPU architectures</a:t>
            </a:r>
          </a:p>
          <a:p>
            <a:r>
              <a:rPr lang="en-IN" dirty="0"/>
              <a:t>Drawbacks</a:t>
            </a:r>
          </a:p>
          <a:p>
            <a:pPr lvl="1"/>
            <a:r>
              <a:rPr lang="en-IN" dirty="0"/>
              <a:t>Cost of tuple reconstruction from columnar representation</a:t>
            </a:r>
          </a:p>
          <a:p>
            <a:pPr lvl="1"/>
            <a:r>
              <a:rPr lang="en-IN" dirty="0"/>
              <a:t>Cost of tuple deletion and update</a:t>
            </a:r>
          </a:p>
          <a:p>
            <a:pPr lvl="1"/>
            <a:r>
              <a:rPr lang="en-IN" dirty="0"/>
              <a:t>Cost of decompression</a:t>
            </a:r>
          </a:p>
          <a:p>
            <a:r>
              <a:rPr lang="en-IN" dirty="0"/>
              <a:t>Columnar representation found to be more efficient for decision support than row-oriented representation</a:t>
            </a:r>
          </a:p>
          <a:p>
            <a:r>
              <a:rPr lang="en-IN" dirty="0"/>
              <a:t>Traditional row-oriented representation preferable for transaction processing</a:t>
            </a:r>
          </a:p>
          <a:p>
            <a:r>
              <a:rPr lang="en-IN" dirty="0"/>
              <a:t>Some databases support both representations</a:t>
            </a:r>
          </a:p>
          <a:p>
            <a:pPr lvl="1"/>
            <a:r>
              <a:rPr lang="en-IN" dirty="0"/>
              <a:t>Called </a:t>
            </a:r>
            <a:r>
              <a:rPr lang="en-IN" b="1" dirty="0">
                <a:solidFill>
                  <a:srgbClr val="002060"/>
                </a:solidFill>
              </a:rPr>
              <a:t>hybrid row/column stores</a:t>
            </a:r>
          </a:p>
        </p:txBody>
      </p:sp>
    </p:spTree>
    <p:extLst>
      <p:ext uri="{BB962C8B-B14F-4D97-AF65-F5344CB8AC3E}">
        <p14:creationId xmlns:p14="http://schemas.microsoft.com/office/powerpoint/2010/main" val="50243195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E60B0322-7A57-4754-9928-37753E4313BD}"/>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4572000" y="852963"/>
            <a:ext cx="3743560" cy="5661817"/>
          </a:xfrm>
          <a:prstGeom prst="rect">
            <a:avLst/>
          </a:prstGeom>
        </p:spPr>
      </p:pic>
      <p:sp>
        <p:nvSpPr>
          <p:cNvPr id="4" name="Title 3">
            <a:extLst>
              <a:ext uri="{FF2B5EF4-FFF2-40B4-BE49-F238E27FC236}">
                <a16:creationId xmlns:a16="http://schemas.microsoft.com/office/drawing/2014/main" id="{3FDD51DF-BD16-4414-AF17-B95B25D95674}"/>
              </a:ext>
            </a:extLst>
          </p:cNvPr>
          <p:cNvSpPr>
            <a:spLocks noGrp="1"/>
          </p:cNvSpPr>
          <p:nvPr>
            <p:ph type="title"/>
          </p:nvPr>
        </p:nvSpPr>
        <p:spPr/>
        <p:txBody>
          <a:bodyPr/>
          <a:lstStyle/>
          <a:p>
            <a:r>
              <a:rPr lang="en-IN" dirty="0"/>
              <a:t>Columnar File Representation</a:t>
            </a:r>
          </a:p>
        </p:txBody>
      </p:sp>
      <p:sp>
        <p:nvSpPr>
          <p:cNvPr id="5" name="Content Placeholder 4">
            <a:extLst>
              <a:ext uri="{FF2B5EF4-FFF2-40B4-BE49-F238E27FC236}">
                <a16:creationId xmlns:a16="http://schemas.microsoft.com/office/drawing/2014/main" id="{70947E03-AE49-4DD7-B9F1-237C959C7158}"/>
              </a:ext>
            </a:extLst>
          </p:cNvPr>
          <p:cNvSpPr>
            <a:spLocks noGrp="1"/>
          </p:cNvSpPr>
          <p:nvPr>
            <p:ph idx="1"/>
          </p:nvPr>
        </p:nvSpPr>
        <p:spPr>
          <a:xfrm>
            <a:off x="814389" y="1093788"/>
            <a:ext cx="3170470" cy="4903787"/>
          </a:xfrm>
        </p:spPr>
        <p:txBody>
          <a:bodyPr/>
          <a:lstStyle/>
          <a:p>
            <a:r>
              <a:rPr lang="en-IN" dirty="0"/>
              <a:t>ORC and Parquet: file formats with columnar storage inside file</a:t>
            </a:r>
          </a:p>
          <a:p>
            <a:r>
              <a:rPr lang="en-IN" dirty="0"/>
              <a:t>Very popular for big-data applications</a:t>
            </a:r>
          </a:p>
          <a:p>
            <a:r>
              <a:rPr lang="en-IN" dirty="0"/>
              <a:t>Orc file format shown on right:</a:t>
            </a:r>
          </a:p>
        </p:txBody>
      </p:sp>
    </p:spTree>
    <p:extLst>
      <p:ext uri="{BB962C8B-B14F-4D97-AF65-F5344CB8AC3E}">
        <p14:creationId xmlns:p14="http://schemas.microsoft.com/office/powerpoint/2010/main" val="114745312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97EA2-3C95-4A58-AB93-7E3B52553A44}"/>
              </a:ext>
            </a:extLst>
          </p:cNvPr>
          <p:cNvSpPr>
            <a:spLocks noGrp="1"/>
          </p:cNvSpPr>
          <p:nvPr>
            <p:ph type="title"/>
          </p:nvPr>
        </p:nvSpPr>
        <p:spPr>
          <a:xfrm>
            <a:off x="882654" y="100003"/>
            <a:ext cx="8077200" cy="685796"/>
          </a:xfrm>
        </p:spPr>
        <p:txBody>
          <a:bodyPr/>
          <a:lstStyle/>
          <a:p>
            <a:r>
              <a:rPr lang="en-IN" sz="2600" dirty="0"/>
              <a:t>Storage Organization in </a:t>
            </a:r>
            <a:r>
              <a:rPr lang="en-IN" sz="2600" dirty="0" smtClean="0"/>
              <a:t>Main-Memory Databases</a:t>
            </a:r>
            <a:endParaRPr lang="en-IN" dirty="0"/>
          </a:p>
        </p:txBody>
      </p:sp>
      <p:sp>
        <p:nvSpPr>
          <p:cNvPr id="3" name="Content Placeholder 2">
            <a:extLst>
              <a:ext uri="{FF2B5EF4-FFF2-40B4-BE49-F238E27FC236}">
                <a16:creationId xmlns:a16="http://schemas.microsoft.com/office/drawing/2014/main" id="{0816F9F0-775D-4579-A597-103CBDD9A71F}"/>
              </a:ext>
            </a:extLst>
          </p:cNvPr>
          <p:cNvSpPr>
            <a:spLocks noGrp="1"/>
          </p:cNvSpPr>
          <p:nvPr>
            <p:ph idx="1"/>
          </p:nvPr>
        </p:nvSpPr>
        <p:spPr>
          <a:xfrm>
            <a:off x="768350" y="1233435"/>
            <a:ext cx="3803649" cy="4920791"/>
          </a:xfrm>
        </p:spPr>
        <p:txBody>
          <a:bodyPr/>
          <a:lstStyle/>
          <a:p>
            <a:r>
              <a:rPr lang="en-IN" dirty="0"/>
              <a:t>Can store records directly in memory without a buffer manager</a:t>
            </a:r>
          </a:p>
          <a:p>
            <a:r>
              <a:rPr lang="en-IN" dirty="0"/>
              <a:t>Column-oriented storage can be used in-memory for decision support applications</a:t>
            </a:r>
          </a:p>
          <a:p>
            <a:pPr lvl="1"/>
            <a:r>
              <a:rPr lang="en-IN" dirty="0"/>
              <a:t>Compression reduces memory requirement</a:t>
            </a:r>
          </a:p>
        </p:txBody>
      </p:sp>
      <p:pic>
        <p:nvPicPr>
          <p:cNvPr id="4" name="Graphic 3">
            <a:extLst>
              <a:ext uri="{FF2B5EF4-FFF2-40B4-BE49-F238E27FC236}">
                <a16:creationId xmlns:a16="http://schemas.microsoft.com/office/drawing/2014/main" id="{E8CA4233-73BE-4551-8FC7-EAE70BAF2BA7}"/>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5043487" y="1328735"/>
            <a:ext cx="3082597" cy="5027920"/>
          </a:xfrm>
          <a:prstGeom prst="rect">
            <a:avLst/>
          </a:prstGeom>
        </p:spPr>
      </p:pic>
    </p:spTree>
    <p:extLst>
      <p:ext uri="{BB962C8B-B14F-4D97-AF65-F5344CB8AC3E}">
        <p14:creationId xmlns:p14="http://schemas.microsoft.com/office/powerpoint/2010/main" val="192792019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956" name="Rectangle 4"/>
          <p:cNvSpPr>
            <a:spLocks noGrp="1" noChangeArrowheads="1"/>
          </p:cNvSpPr>
          <p:nvPr>
            <p:ph type="ctrTitle"/>
          </p:nvPr>
        </p:nvSpPr>
        <p:spPr/>
        <p:txBody>
          <a:bodyPr/>
          <a:lstStyle/>
          <a:p>
            <a:r>
              <a:rPr lang="en-US" altLang="en-US" dirty="0"/>
              <a:t>End of Chapter 13</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DB6</Template>
  <TotalTime>91454</TotalTime>
  <Words>4388</Words>
  <Application>Microsoft Office PowerPoint</Application>
  <PresentationFormat>On-screen Show (4:3)</PresentationFormat>
  <Paragraphs>594</Paragraphs>
  <Slides>51</Slides>
  <Notes>20</Notes>
  <HiddenSlides>0</HiddenSlides>
  <MMClips>0</MMClips>
  <ScaleCrop>false</ScaleCrop>
  <HeadingPairs>
    <vt:vector size="8" baseType="variant">
      <vt:variant>
        <vt:lpstr>Fonts Used</vt:lpstr>
      </vt:variant>
      <vt:variant>
        <vt:i4>12</vt:i4>
      </vt:variant>
      <vt:variant>
        <vt:lpstr>Theme</vt:lpstr>
      </vt:variant>
      <vt:variant>
        <vt:i4>1</vt:i4>
      </vt:variant>
      <vt:variant>
        <vt:lpstr>Slide Titles</vt:lpstr>
      </vt:variant>
      <vt:variant>
        <vt:i4>51</vt:i4>
      </vt:variant>
      <vt:variant>
        <vt:lpstr>Custom Shows</vt:lpstr>
      </vt:variant>
      <vt:variant>
        <vt:i4>1</vt:i4>
      </vt:variant>
    </vt:vector>
  </HeadingPairs>
  <TitlesOfParts>
    <vt:vector size="65" baseType="lpstr">
      <vt:lpstr>MS PGothic</vt:lpstr>
      <vt:lpstr>MS PGothic</vt:lpstr>
      <vt:lpstr>Arial</vt:lpstr>
      <vt:lpstr>Arial Unicode MS</vt:lpstr>
      <vt:lpstr>Greek Symbols</vt:lpstr>
      <vt:lpstr>Helvetica</vt:lpstr>
      <vt:lpstr>Monotype Sorts</vt:lpstr>
      <vt:lpstr>Symbol</vt:lpstr>
      <vt:lpstr>Times New Roman</vt:lpstr>
      <vt:lpstr>Vrinda</vt:lpstr>
      <vt:lpstr>Webdings</vt:lpstr>
      <vt:lpstr>Wingdings</vt:lpstr>
      <vt:lpstr>2_db-5-grey</vt:lpstr>
      <vt:lpstr>Chapter 13: Data Storage Structures</vt:lpstr>
      <vt:lpstr>File Organization</vt:lpstr>
      <vt:lpstr>PowerPoint Presentation</vt:lpstr>
      <vt:lpstr>File Organization</vt:lpstr>
      <vt:lpstr>PowerPoint Presentation</vt:lpstr>
      <vt:lpstr>PowerPoint Presentation</vt:lpstr>
      <vt:lpstr>Fixed-Length Records</vt:lpstr>
      <vt:lpstr>PowerPoint Presentation</vt:lpstr>
      <vt:lpstr>PowerPoint Presentation</vt:lpstr>
      <vt:lpstr>Fixed-Length Records</vt:lpstr>
      <vt:lpstr>PowerPoint Presentation</vt:lpstr>
      <vt:lpstr>Fixed-Length Records</vt:lpstr>
      <vt:lpstr>PowerPoint Presentation</vt:lpstr>
      <vt:lpstr>Fixed-Length Records</vt:lpstr>
      <vt:lpstr>PowerPoint Presentation</vt:lpstr>
      <vt:lpstr>Variable-Length Records</vt:lpstr>
      <vt:lpstr>Variable-Length Records</vt:lpstr>
      <vt:lpstr>PowerPoint Presentation</vt:lpstr>
      <vt:lpstr>Variable-Length Records: Slotted Page Structure</vt:lpstr>
      <vt:lpstr>PowerPoint Presentation</vt:lpstr>
      <vt:lpstr>Storing Large Objects</vt:lpstr>
      <vt:lpstr>Organization of Records in Files</vt:lpstr>
      <vt:lpstr>Heap File Organization</vt:lpstr>
      <vt:lpstr>PowerPoint Presentation</vt:lpstr>
      <vt:lpstr>PowerPoint Presentation</vt:lpstr>
      <vt:lpstr>Sequential File Organization</vt:lpstr>
      <vt:lpstr>Sequential File Organization (Cont.)</vt:lpstr>
      <vt:lpstr>PowerPoint Presentation</vt:lpstr>
      <vt:lpstr>PowerPoint Presentation</vt:lpstr>
      <vt:lpstr>Multitable Clustering File Organization</vt:lpstr>
      <vt:lpstr>Multitable Clustering File Organization (cont.)</vt:lpstr>
      <vt:lpstr>PowerPoint Presentation</vt:lpstr>
      <vt:lpstr>Partitioning</vt:lpstr>
      <vt:lpstr>Data Dictionary Storage</vt:lpstr>
      <vt:lpstr>Relational Representation of System Metadata</vt:lpstr>
      <vt:lpstr>Storage Access</vt:lpstr>
      <vt:lpstr>Buffer Manager</vt:lpstr>
      <vt:lpstr>Buffer Manager</vt:lpstr>
      <vt:lpstr>Buffer-Replacement Policies</vt:lpstr>
      <vt:lpstr>PowerPoint Presentation</vt:lpstr>
      <vt:lpstr>PowerPoint Presentation</vt:lpstr>
      <vt:lpstr>Buffer-Replacement Policies (Cont.)</vt:lpstr>
      <vt:lpstr>PowerPoint Presentation</vt:lpstr>
      <vt:lpstr>Optimization of Disk Block Access (Cont.)</vt:lpstr>
      <vt:lpstr>PowerPoint Presentation</vt:lpstr>
      <vt:lpstr>PowerPoint Presentation</vt:lpstr>
      <vt:lpstr>Column-Oriented Storage</vt:lpstr>
      <vt:lpstr>Columnar Representation</vt:lpstr>
      <vt:lpstr>Columnar File Representation</vt:lpstr>
      <vt:lpstr>Storage Organization in Main-Memory Databases</vt:lpstr>
      <vt:lpstr>End of Chapter 13</vt:lpstr>
      <vt:lpstr>Custom Show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Relational Database Design</dc:title>
  <dc:creator>Marilyn Turnamian</dc:creator>
  <cp:lastModifiedBy>hp</cp:lastModifiedBy>
  <cp:revision>451</cp:revision>
  <cp:lastPrinted>2019-06-25T14:52:50Z</cp:lastPrinted>
  <dcterms:created xsi:type="dcterms:W3CDTF">2009-12-21T15:40:22Z</dcterms:created>
  <dcterms:modified xsi:type="dcterms:W3CDTF">2026-01-02T13:26:52Z</dcterms:modified>
</cp:coreProperties>
</file>